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56" r:id="rId3"/>
    <p:sldId id="554" r:id="rId5"/>
    <p:sldId id="555" r:id="rId6"/>
    <p:sldId id="557" r:id="rId7"/>
    <p:sldId id="556" r:id="rId8"/>
    <p:sldId id="558" r:id="rId9"/>
    <p:sldId id="559" r:id="rId10"/>
    <p:sldId id="560" r:id="rId11"/>
    <p:sldId id="561" r:id="rId12"/>
    <p:sldId id="511" r:id="rId13"/>
    <p:sldId id="512" r:id="rId14"/>
    <p:sldId id="516" r:id="rId15"/>
    <p:sldId id="517" r:id="rId16"/>
    <p:sldId id="518" r:id="rId17"/>
    <p:sldId id="520" r:id="rId18"/>
    <p:sldId id="550" r:id="rId19"/>
    <p:sldId id="548" r:id="rId20"/>
    <p:sldId id="549" r:id="rId21"/>
    <p:sldId id="525" r:id="rId22"/>
    <p:sldId id="526" r:id="rId23"/>
    <p:sldId id="527" r:id="rId24"/>
    <p:sldId id="528" r:id="rId25"/>
    <p:sldId id="529" r:id="rId26"/>
    <p:sldId id="562" r:id="rId27"/>
    <p:sldId id="551" r:id="rId28"/>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rgbClr val="F60404"/>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968"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99"/>
    <a:srgbClr val="CC3300"/>
    <a:srgbClr val="FFFF00"/>
    <a:srgbClr val="00FFCC"/>
    <a:srgbClr val="66FF99"/>
    <a:srgbClr val="00FF99"/>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108"/>
    <p:restoredTop sz="95218"/>
  </p:normalViewPr>
  <p:slideViewPr>
    <p:cSldViewPr showGuides="1">
      <p:cViewPr varScale="1">
        <p:scale>
          <a:sx n="63" d="100"/>
          <a:sy n="63" d="100"/>
        </p:scale>
        <p:origin x="1172" y="48"/>
      </p:cViewPr>
      <p:guideLst>
        <p:guide orient="horz" pos="1968"/>
        <p:guide pos="288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155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5"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93F0F3D2-A7D5-49B2-A79D-9FD5243DCAD9}" type="datetime1">
              <a:rPr kumimoji="0" lang="zh-CN" altLang="en-US"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rPr>
            </a:fld>
            <a:endParaRPr kumimoji="0" lang="en-US" altLang="zh-CN"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6"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spcBef>
                <a:spcPct val="0"/>
              </a:spcBef>
              <a:defRPr sz="1200" b="1">
                <a:solidFill>
                  <a:srgbClr val="133984"/>
                </a:solidFill>
                <a:latin typeface="Book Antiqua" panose="02040602050305030304" pitchFamily="18" charset="0"/>
                <a:ea typeface="黑体" panose="02010609060101010101" pitchFamily="49"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133984"/>
              </a:solidFill>
              <a:effectLst/>
              <a:uLnTx/>
              <a:uFillTx/>
              <a:latin typeface="Book Antiqua" panose="02040602050305030304" pitchFamily="18" charset="0"/>
              <a:ea typeface="黑体" panose="02010609060101010101" pitchFamily="49" charset="-122"/>
              <a:cs typeface="+mn-cs"/>
            </a:endParaRPr>
          </a:p>
        </p:txBody>
      </p:sp>
      <p:sp>
        <p:nvSpPr>
          <p:cNvPr id="151557"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a:fld id="{9A0DB2DC-4C9A-4742-B13C-FB6460FD3503}" type="slidenum">
              <a:rPr lang="zh-CN" altLang="en-US" sz="1200" b="1" dirty="0">
                <a:solidFill>
                  <a:srgbClr val="133984"/>
                </a:solidFill>
                <a:latin typeface="Book Antiqua" panose="02040602050305030304" pitchFamily="18" charset="0"/>
                <a:ea typeface="黑体" panose="02010609060101010101" pitchFamily="49" charset="-122"/>
              </a:rPr>
            </a:fld>
            <a:endParaRPr lang="zh-CN" altLang="en-US" sz="1200" b="1" dirty="0">
              <a:solidFill>
                <a:srgbClr val="133984"/>
              </a:solidFill>
              <a:latin typeface="Book Antiqua" panose="02040602050305030304" pitchFamily="18" charset="0"/>
              <a:ea typeface="黑体" panose="02010609060101010101" pitchFamily="49"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9F9A2C-15CA-46AD-983E-417ECB19D4E8}"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316" name="Rectangle 4"/>
          <p:cNvSpPr>
            <a:spLocks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defRPr sz="120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zh-CN" altLang="en-US" sz="1200" dirty="0">
                <a:solidFill>
                  <a:schemeClr val="tx1"/>
                </a:solidFill>
              </a:rPr>
            </a:fld>
            <a:endParaRPr lang="zh-CN" altLang="en-US" sz="1200" dirty="0">
              <a:solidFill>
                <a:schemeClr val="tx1"/>
              </a:solidFill>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6386" name="Rectangle 2"/>
          <p:cNvSpPr>
            <a:spLocks noRot="1" noTextEdit="1"/>
          </p:cNvSpPr>
          <p:nvPr>
            <p:ph type="sldImg"/>
          </p:nvPr>
        </p:nvSpPr>
        <p:spPr>
          <a:ln/>
        </p:spPr>
      </p:sp>
      <p:sp>
        <p:nvSpPr>
          <p:cNvPr id="16387" name="Rectangle 3"/>
          <p:cNvSpPr>
            <a:spLocks noRot="1"/>
          </p:cNvSpPr>
          <p:nvPr>
            <p:ph type="body" idx="1"/>
          </p:nvPr>
        </p:nvSpPr>
        <p:spPr>
          <a:ln/>
        </p:spPr>
        <p:txBody>
          <a:bodyPr wrap="square" lIns="91440" tIns="45720" rIns="91440" bIns="45720" anchor="ctr" anchorCtr="0"/>
          <a:p>
            <a:pPr lvl="0" eaLnBrk="1" hangingPunct="1">
              <a:lnSpc>
                <a:spcPct val="140000"/>
              </a:lnSpc>
            </a:pP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solidFill>
                  <a:schemeClr val="tx1"/>
                </a:solidFill>
              </a:rPr>
            </a:fld>
            <a:endParaRPr lang="zh-CN" altLang="en-US" sz="1200" dirty="0">
              <a:solidFill>
                <a:schemeClr val="tx1"/>
              </a:solidFill>
            </a:endParaRPr>
          </a:p>
        </p:txBody>
      </p:sp>
      <p:sp>
        <p:nvSpPr>
          <p:cNvPr id="20483" name="Rectangle 2"/>
          <p:cNvSpPr>
            <a:spLocks noRot="1" noTextEdit="1"/>
          </p:cNvSpPr>
          <p:nvPr>
            <p:ph type="sldImg"/>
          </p:nvPr>
        </p:nvSpPr>
        <p:spPr>
          <a:ln/>
        </p:spPr>
      </p:sp>
      <p:sp>
        <p:nvSpPr>
          <p:cNvPr id="20484" name="Rectangle 3"/>
          <p:cNvSpPr/>
          <p:nvPr>
            <p:ph type="body" idx="1"/>
          </p:nvPr>
        </p:nvSpPr>
        <p:spPr>
          <a:ln/>
        </p:spPr>
        <p:txBody>
          <a:bodyPr wrap="square" lIns="91440" tIns="45720" rIns="91440" bIns="45720" anchor="ctr" anchorCtr="0"/>
          <a:p>
            <a:pPr lvl="0" eaLnBrk="1" hangingPunct="1"/>
            <a:r>
              <a:rPr lang="en-US" altLang="zh-CN" dirty="0"/>
              <a:t>The financial markets make possible the </a:t>
            </a:r>
            <a:r>
              <a:rPr lang="en-US" altLang="zh-CN" i="1" dirty="0"/>
              <a:t>exchange of current income for future income</a:t>
            </a:r>
            <a:r>
              <a:rPr lang="en-US" altLang="zh-CN" dirty="0"/>
              <a:t> and the </a:t>
            </a:r>
            <a:r>
              <a:rPr lang="en-US" altLang="zh-CN" i="1" dirty="0"/>
              <a:t>transformation of savings into investment</a:t>
            </a:r>
            <a:r>
              <a:rPr lang="en-US" altLang="zh-CN" dirty="0"/>
              <a:t> so that production, employment, and income can grow.</a:t>
            </a:r>
            <a:endParaRPr lang="en-US" altLang="zh-CN" dirty="0"/>
          </a:p>
          <a:p>
            <a:pPr lvl="0" eaLnBrk="1" hangingPunct="1"/>
            <a:r>
              <a:rPr lang="en-US" altLang="zh-CN" dirty="0"/>
              <a:t>The suppliers of funds to the financial system can expect not only to recover their original funds but also to earn additional income as a reward for waiting and for assuming risk.</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solidFill>
                  <a:schemeClr val="tx1"/>
                </a:solidFill>
              </a:rPr>
            </a:fld>
            <a:endParaRPr lang="zh-CN" altLang="en-US" sz="1200" dirty="0">
              <a:solidFill>
                <a:schemeClr val="tx1"/>
              </a:solidFill>
            </a:endParaRPr>
          </a:p>
        </p:txBody>
      </p:sp>
      <p:sp>
        <p:nvSpPr>
          <p:cNvPr id="22531" name="Rectangle 2"/>
          <p:cNvSpPr>
            <a:spLocks noRot="1" noTextEdit="1"/>
          </p:cNvSpPr>
          <p:nvPr>
            <p:ph type="sldImg"/>
          </p:nvPr>
        </p:nvSpPr>
        <p:spPr>
          <a:ln/>
        </p:spPr>
      </p:sp>
      <p:sp>
        <p:nvSpPr>
          <p:cNvPr id="22532" name="Rectangle 3"/>
          <p:cNvSpPr/>
          <p:nvPr>
            <p:ph type="body" idx="1"/>
          </p:nvPr>
        </p:nvSpPr>
        <p:spPr>
          <a:ln/>
        </p:spPr>
        <p:txBody>
          <a:bodyPr wrap="square" lIns="91440" tIns="45720" rIns="91440" bIns="45720" anchor="ctr" anchorCtr="0"/>
          <a:p>
            <a:pPr lvl="0" eaLnBrk="1" hangingPunct="1">
              <a:buSzPct val="80000"/>
              <a:buFont typeface="Wingdings" panose="05000000000000000000" pitchFamily="2" charset="2"/>
              <a:buChar char="•"/>
            </a:pPr>
            <a:r>
              <a:rPr lang="en-US" altLang="zh-CN" dirty="0"/>
              <a:t>The </a:t>
            </a:r>
            <a:r>
              <a:rPr lang="en-US" altLang="zh-CN" i="1" dirty="0">
                <a:solidFill>
                  <a:schemeClr val="folHlink"/>
                </a:solidFill>
              </a:rPr>
              <a:t>factor markets</a:t>
            </a:r>
            <a:r>
              <a:rPr lang="en-US" altLang="zh-CN" dirty="0"/>
              <a:t> allocate the factors of production to the owners of productive resources.</a:t>
            </a:r>
            <a:endParaRPr lang="en-US" altLang="zh-CN" dirty="0"/>
          </a:p>
          <a:p>
            <a:pPr lvl="0" eaLnBrk="1" hangingPunct="1">
              <a:buSzPct val="80000"/>
              <a:buFont typeface="Wingdings" panose="05000000000000000000" pitchFamily="2" charset="2"/>
              <a:buChar char="•"/>
            </a:pPr>
            <a:r>
              <a:rPr lang="en-US" altLang="zh-CN" dirty="0"/>
              <a:t>Consuming units use most of their income from factor markets to purchase goods and services in </a:t>
            </a:r>
            <a:r>
              <a:rPr lang="en-US" altLang="zh-CN" i="1" dirty="0">
                <a:solidFill>
                  <a:schemeClr val="folHlink"/>
                </a:solidFill>
              </a:rPr>
              <a:t>product markets</a:t>
            </a:r>
            <a:r>
              <a:rPr lang="en-US" altLang="zh-CN" dirty="0"/>
              <a:t>.</a:t>
            </a:r>
            <a:endParaRPr lang="en-US" altLang="zh-CN" dirty="0"/>
          </a:p>
          <a:p>
            <a:pPr lvl="0" eaLnBrk="1" hangingPunct="1">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7175" cy="6858000"/>
            <a:chOff x="0" y="0"/>
            <a:chExt cx="5762" cy="4320"/>
          </a:xfrm>
        </p:grpSpPr>
        <p:pic>
          <p:nvPicPr>
            <p:cNvPr id="2053" name="Picture 3" descr="图片5"/>
            <p:cNvPicPr>
              <a:picLocks noChangeAspect="1"/>
            </p:cNvPicPr>
            <p:nvPr userDrawn="1"/>
          </p:nvPicPr>
          <p:blipFill>
            <a:blip r:embed="rId2"/>
            <a:stretch>
              <a:fillRect/>
            </a:stretch>
          </p:blipFill>
          <p:spPr>
            <a:xfrm>
              <a:off x="0" y="0"/>
              <a:ext cx="5760" cy="4320"/>
            </a:xfrm>
            <a:prstGeom prst="rect">
              <a:avLst/>
            </a:prstGeom>
            <a:noFill/>
            <a:ln w="9525">
              <a:noFill/>
            </a:ln>
          </p:spPr>
        </p:pic>
        <p:grpSp>
          <p:nvGrpSpPr>
            <p:cNvPr id="2054" name="Group 4"/>
            <p:cNvGrpSpPr/>
            <p:nvPr userDrawn="1"/>
          </p:nvGrpSpPr>
          <p:grpSpPr>
            <a:xfrm>
              <a:off x="3853" y="142"/>
              <a:ext cx="1909" cy="363"/>
              <a:chOff x="0" y="0"/>
              <a:chExt cx="1909" cy="363"/>
            </a:xfrm>
          </p:grpSpPr>
          <p:sp>
            <p:nvSpPr>
              <p:cNvPr id="5" name="Text Box 5"/>
              <p:cNvSpPr txBox="1">
                <a:spLocks noChangeArrowheads="1"/>
              </p:cNvSpPr>
              <p:nvPr/>
            </p:nvSpPr>
            <p:spPr bwMode="auto">
              <a:xfrm>
                <a:off x="0" y="288"/>
                <a:ext cx="476" cy="68"/>
              </a:xfrm>
              <a:prstGeom prst="rect">
                <a:avLst/>
              </a:prstGeom>
              <a:solidFill>
                <a:srgbClr val="8F1120"/>
              </a:solidFill>
              <a:ln>
                <a:noFill/>
              </a:ln>
            </p:spPr>
            <p:txBody>
              <a:bodyPr lIns="0" tIns="0" rIns="0" bIns="0" anchor="ctr" anchorCtr="1"/>
              <a:lstStyle>
                <a:lvl1pPr>
                  <a:spcBef>
                    <a:spcPct val="50000"/>
                  </a:spcBef>
                  <a:defRPr>
                    <a:solidFill>
                      <a:srgbClr val="F60404"/>
                    </a:solidFill>
                    <a:latin typeface="Arial" panose="020B0604020202020204" pitchFamily="34" charset="0"/>
                    <a:ea typeface="宋体" panose="02010600030101010101" pitchFamily="2" charset="-122"/>
                  </a:defRPr>
                </a:lvl1pPr>
                <a:lvl2pPr marL="742950" indent="-285750">
                  <a:spcBef>
                    <a:spcPct val="50000"/>
                  </a:spcBef>
                  <a:defRPr>
                    <a:solidFill>
                      <a:srgbClr val="F60404"/>
                    </a:solidFill>
                    <a:latin typeface="Arial" panose="020B0604020202020204" pitchFamily="34" charset="0"/>
                    <a:ea typeface="宋体" panose="02010600030101010101" pitchFamily="2" charset="-122"/>
                  </a:defRPr>
                </a:lvl2pPr>
                <a:lvl3pPr marL="1143000" indent="-228600">
                  <a:spcBef>
                    <a:spcPct val="50000"/>
                  </a:spcBef>
                  <a:defRPr>
                    <a:solidFill>
                      <a:srgbClr val="F60404"/>
                    </a:solidFill>
                    <a:latin typeface="Arial" panose="020B0604020202020204" pitchFamily="34" charset="0"/>
                    <a:ea typeface="宋体" panose="02010600030101010101" pitchFamily="2" charset="-122"/>
                  </a:defRPr>
                </a:lvl3pPr>
                <a:lvl4pPr marL="1600200" indent="-228600">
                  <a:spcBef>
                    <a:spcPct val="50000"/>
                  </a:spcBef>
                  <a:defRPr>
                    <a:solidFill>
                      <a:srgbClr val="F60404"/>
                    </a:solidFill>
                    <a:latin typeface="Arial" panose="020B0604020202020204" pitchFamily="34" charset="0"/>
                    <a:ea typeface="宋体" panose="02010600030101010101" pitchFamily="2" charset="-122"/>
                  </a:defRPr>
                </a:lvl4pPr>
                <a:lvl5pPr marL="2057400" indent="-228600">
                  <a:spcBef>
                    <a:spcPct val="50000"/>
                  </a:spcBef>
                  <a:defRPr>
                    <a:solidFill>
                      <a:srgbClr val="F60404"/>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rPr>
                  <a:t>1896</a:t>
                </a:r>
                <a:endPar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6" name="Text Box 6"/>
              <p:cNvSpPr txBox="1">
                <a:spLocks noChangeArrowheads="1"/>
              </p:cNvSpPr>
              <p:nvPr/>
            </p:nvSpPr>
            <p:spPr bwMode="auto">
              <a:xfrm>
                <a:off x="481" y="288"/>
                <a:ext cx="476" cy="68"/>
              </a:xfrm>
              <a:prstGeom prst="rect">
                <a:avLst/>
              </a:prstGeom>
              <a:solidFill>
                <a:srgbClr val="8F1120"/>
              </a:solidFill>
              <a:ln>
                <a:noFill/>
              </a:ln>
            </p:spPr>
            <p:txBody>
              <a:bodyPr lIns="0" tIns="0" rIns="0" bIns="0" anchor="ctr" anchorCtr="1"/>
              <a:lstStyle>
                <a:lvl1pPr>
                  <a:spcBef>
                    <a:spcPct val="50000"/>
                  </a:spcBef>
                  <a:defRPr>
                    <a:solidFill>
                      <a:srgbClr val="F60404"/>
                    </a:solidFill>
                    <a:latin typeface="Arial" panose="020B0604020202020204" pitchFamily="34" charset="0"/>
                    <a:ea typeface="宋体" panose="02010600030101010101" pitchFamily="2" charset="-122"/>
                  </a:defRPr>
                </a:lvl1pPr>
                <a:lvl2pPr marL="742950" indent="-285750">
                  <a:spcBef>
                    <a:spcPct val="50000"/>
                  </a:spcBef>
                  <a:defRPr>
                    <a:solidFill>
                      <a:srgbClr val="F60404"/>
                    </a:solidFill>
                    <a:latin typeface="Arial" panose="020B0604020202020204" pitchFamily="34" charset="0"/>
                    <a:ea typeface="宋体" panose="02010600030101010101" pitchFamily="2" charset="-122"/>
                  </a:defRPr>
                </a:lvl2pPr>
                <a:lvl3pPr marL="1143000" indent="-228600">
                  <a:spcBef>
                    <a:spcPct val="50000"/>
                  </a:spcBef>
                  <a:defRPr>
                    <a:solidFill>
                      <a:srgbClr val="F60404"/>
                    </a:solidFill>
                    <a:latin typeface="Arial" panose="020B0604020202020204" pitchFamily="34" charset="0"/>
                    <a:ea typeface="宋体" panose="02010600030101010101" pitchFamily="2" charset="-122"/>
                  </a:defRPr>
                </a:lvl3pPr>
                <a:lvl4pPr marL="1600200" indent="-228600">
                  <a:spcBef>
                    <a:spcPct val="50000"/>
                  </a:spcBef>
                  <a:defRPr>
                    <a:solidFill>
                      <a:srgbClr val="F60404"/>
                    </a:solidFill>
                    <a:latin typeface="Arial" panose="020B0604020202020204" pitchFamily="34" charset="0"/>
                    <a:ea typeface="宋体" panose="02010600030101010101" pitchFamily="2" charset="-122"/>
                  </a:defRPr>
                </a:lvl4pPr>
                <a:lvl5pPr marL="2057400" indent="-228600">
                  <a:spcBef>
                    <a:spcPct val="50000"/>
                  </a:spcBef>
                  <a:defRPr>
                    <a:solidFill>
                      <a:srgbClr val="F60404"/>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rPr>
                  <a:t>1935</a:t>
                </a:r>
                <a:endPar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7" name="Text Box 7"/>
              <p:cNvSpPr txBox="1">
                <a:spLocks noChangeArrowheads="1"/>
              </p:cNvSpPr>
              <p:nvPr/>
            </p:nvSpPr>
            <p:spPr bwMode="auto">
              <a:xfrm>
                <a:off x="957" y="288"/>
                <a:ext cx="476" cy="68"/>
              </a:xfrm>
              <a:prstGeom prst="rect">
                <a:avLst/>
              </a:prstGeom>
              <a:solidFill>
                <a:srgbClr val="8F1120"/>
              </a:solidFill>
              <a:ln>
                <a:noFill/>
              </a:ln>
            </p:spPr>
            <p:txBody>
              <a:bodyPr lIns="0" tIns="0" rIns="0" bIns="0" anchor="ctr" anchorCtr="1"/>
              <a:lstStyle>
                <a:lvl1pPr>
                  <a:spcBef>
                    <a:spcPct val="50000"/>
                  </a:spcBef>
                  <a:defRPr>
                    <a:solidFill>
                      <a:srgbClr val="F60404"/>
                    </a:solidFill>
                    <a:latin typeface="Arial" panose="020B0604020202020204" pitchFamily="34" charset="0"/>
                    <a:ea typeface="宋体" panose="02010600030101010101" pitchFamily="2" charset="-122"/>
                  </a:defRPr>
                </a:lvl1pPr>
                <a:lvl2pPr marL="742950" indent="-285750">
                  <a:spcBef>
                    <a:spcPct val="50000"/>
                  </a:spcBef>
                  <a:defRPr>
                    <a:solidFill>
                      <a:srgbClr val="F60404"/>
                    </a:solidFill>
                    <a:latin typeface="Arial" panose="020B0604020202020204" pitchFamily="34" charset="0"/>
                    <a:ea typeface="宋体" panose="02010600030101010101" pitchFamily="2" charset="-122"/>
                  </a:defRPr>
                </a:lvl2pPr>
                <a:lvl3pPr marL="1143000" indent="-228600">
                  <a:spcBef>
                    <a:spcPct val="50000"/>
                  </a:spcBef>
                  <a:defRPr>
                    <a:solidFill>
                      <a:srgbClr val="F60404"/>
                    </a:solidFill>
                    <a:latin typeface="Arial" panose="020B0604020202020204" pitchFamily="34" charset="0"/>
                    <a:ea typeface="宋体" panose="02010600030101010101" pitchFamily="2" charset="-122"/>
                  </a:defRPr>
                </a:lvl3pPr>
                <a:lvl4pPr marL="1600200" indent="-228600">
                  <a:spcBef>
                    <a:spcPct val="50000"/>
                  </a:spcBef>
                  <a:defRPr>
                    <a:solidFill>
                      <a:srgbClr val="F60404"/>
                    </a:solidFill>
                    <a:latin typeface="Arial" panose="020B0604020202020204" pitchFamily="34" charset="0"/>
                    <a:ea typeface="宋体" panose="02010600030101010101" pitchFamily="2" charset="-122"/>
                  </a:defRPr>
                </a:lvl4pPr>
                <a:lvl5pPr marL="2057400" indent="-228600">
                  <a:spcBef>
                    <a:spcPct val="50000"/>
                  </a:spcBef>
                  <a:defRPr>
                    <a:solidFill>
                      <a:srgbClr val="F60404"/>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rPr>
                  <a:t>1987</a:t>
                </a:r>
                <a:endPar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8" name="Text Box 8"/>
              <p:cNvSpPr txBox="1">
                <a:spLocks noChangeArrowheads="1"/>
              </p:cNvSpPr>
              <p:nvPr/>
            </p:nvSpPr>
            <p:spPr bwMode="auto">
              <a:xfrm>
                <a:off x="1433" y="288"/>
                <a:ext cx="476" cy="68"/>
              </a:xfrm>
              <a:prstGeom prst="rect">
                <a:avLst/>
              </a:prstGeom>
              <a:solidFill>
                <a:srgbClr val="8F1120"/>
              </a:solidFill>
              <a:ln>
                <a:noFill/>
              </a:ln>
            </p:spPr>
            <p:txBody>
              <a:bodyPr lIns="0" tIns="0" rIns="0" bIns="0" anchor="ctr" anchorCtr="1"/>
              <a:lstStyle>
                <a:lvl1pPr>
                  <a:spcBef>
                    <a:spcPct val="50000"/>
                  </a:spcBef>
                  <a:defRPr>
                    <a:solidFill>
                      <a:srgbClr val="F60404"/>
                    </a:solidFill>
                    <a:latin typeface="Arial" panose="020B0604020202020204" pitchFamily="34" charset="0"/>
                    <a:ea typeface="宋体" panose="02010600030101010101" pitchFamily="2" charset="-122"/>
                  </a:defRPr>
                </a:lvl1pPr>
                <a:lvl2pPr marL="742950" indent="-285750">
                  <a:spcBef>
                    <a:spcPct val="50000"/>
                  </a:spcBef>
                  <a:defRPr>
                    <a:solidFill>
                      <a:srgbClr val="F60404"/>
                    </a:solidFill>
                    <a:latin typeface="Arial" panose="020B0604020202020204" pitchFamily="34" charset="0"/>
                    <a:ea typeface="宋体" panose="02010600030101010101" pitchFamily="2" charset="-122"/>
                  </a:defRPr>
                </a:lvl2pPr>
                <a:lvl3pPr marL="1143000" indent="-228600">
                  <a:spcBef>
                    <a:spcPct val="50000"/>
                  </a:spcBef>
                  <a:defRPr>
                    <a:solidFill>
                      <a:srgbClr val="F60404"/>
                    </a:solidFill>
                    <a:latin typeface="Arial" panose="020B0604020202020204" pitchFamily="34" charset="0"/>
                    <a:ea typeface="宋体" panose="02010600030101010101" pitchFamily="2" charset="-122"/>
                  </a:defRPr>
                </a:lvl3pPr>
                <a:lvl4pPr marL="1600200" indent="-228600">
                  <a:spcBef>
                    <a:spcPct val="50000"/>
                  </a:spcBef>
                  <a:defRPr>
                    <a:solidFill>
                      <a:srgbClr val="F60404"/>
                    </a:solidFill>
                    <a:latin typeface="Arial" panose="020B0604020202020204" pitchFamily="34" charset="0"/>
                    <a:ea typeface="宋体" panose="02010600030101010101" pitchFamily="2" charset="-122"/>
                  </a:defRPr>
                </a:lvl4pPr>
                <a:lvl5pPr marL="2057400" indent="-228600">
                  <a:spcBef>
                    <a:spcPct val="50000"/>
                  </a:spcBef>
                  <a:defRPr>
                    <a:solidFill>
                      <a:srgbClr val="F60404"/>
                    </a:solidFill>
                    <a:latin typeface="Arial" panose="020B0604020202020204" pitchFamily="34" charset="0"/>
                    <a:ea typeface="宋体" panose="02010600030101010101" pitchFamily="2" charset="-122"/>
                  </a:defRPr>
                </a:lvl5pPr>
                <a:lvl6pPr marL="25146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6pPr>
                <a:lvl7pPr marL="29718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7pPr>
                <a:lvl8pPr marL="34290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8pPr>
                <a:lvl9pPr marL="3886200" indent="-228600" eaLnBrk="0" fontAlgn="base" hangingPunct="0">
                  <a:spcBef>
                    <a:spcPct val="50000"/>
                  </a:spcBef>
                  <a:spcAft>
                    <a:spcPct val="0"/>
                  </a:spcAft>
                  <a:defRPr>
                    <a:solidFill>
                      <a:srgbClr val="F60404"/>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rPr>
                  <a:t>2006</a:t>
                </a:r>
                <a:endParaRPr kumimoji="0" lang="en-US" altLang="zh-CN" sz="900" b="1" i="0" u="none" strike="noStrike" kern="1200" cap="none" spc="0" normalizeH="0" baseline="0" noProof="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2059" name="Line 9"/>
              <p:cNvSpPr/>
              <p:nvPr userDrawn="1"/>
            </p:nvSpPr>
            <p:spPr>
              <a:xfrm flipV="1">
                <a:off x="0" y="0"/>
                <a:ext cx="0" cy="363"/>
              </a:xfrm>
              <a:prstGeom prst="line">
                <a:avLst/>
              </a:prstGeom>
              <a:ln w="12700" cap="flat" cmpd="sng">
                <a:solidFill>
                  <a:schemeClr val="bg1"/>
                </a:solidFill>
                <a:prstDash val="solid"/>
                <a:headEnd type="none" w="med" len="med"/>
                <a:tailEnd type="none" w="med" len="med"/>
              </a:ln>
            </p:spPr>
          </p:sp>
          <p:sp>
            <p:nvSpPr>
              <p:cNvPr id="2060" name="Line 10"/>
              <p:cNvSpPr/>
              <p:nvPr userDrawn="1"/>
            </p:nvSpPr>
            <p:spPr>
              <a:xfrm flipV="1">
                <a:off x="476" y="0"/>
                <a:ext cx="0" cy="363"/>
              </a:xfrm>
              <a:prstGeom prst="line">
                <a:avLst/>
              </a:prstGeom>
              <a:ln w="12700" cap="flat" cmpd="sng">
                <a:solidFill>
                  <a:schemeClr val="bg1"/>
                </a:solidFill>
                <a:prstDash val="solid"/>
                <a:headEnd type="none" w="med" len="med"/>
                <a:tailEnd type="none" w="med" len="med"/>
              </a:ln>
            </p:spPr>
          </p:sp>
          <p:sp>
            <p:nvSpPr>
              <p:cNvPr id="2" name="Line 11"/>
              <p:cNvSpPr/>
              <p:nvPr userDrawn="1"/>
            </p:nvSpPr>
            <p:spPr>
              <a:xfrm flipV="1">
                <a:off x="954" y="0"/>
                <a:ext cx="0" cy="363"/>
              </a:xfrm>
              <a:prstGeom prst="line">
                <a:avLst/>
              </a:prstGeom>
              <a:ln w="12700" cap="flat" cmpd="sng">
                <a:solidFill>
                  <a:schemeClr val="bg1"/>
                </a:solidFill>
                <a:prstDash val="solid"/>
                <a:headEnd type="none" w="med" len="med"/>
                <a:tailEnd type="none" w="med" len="med"/>
              </a:ln>
            </p:spPr>
          </p:sp>
          <p:sp>
            <p:nvSpPr>
              <p:cNvPr id="3" name="Line 12"/>
              <p:cNvSpPr/>
              <p:nvPr userDrawn="1"/>
            </p:nvSpPr>
            <p:spPr>
              <a:xfrm flipV="1">
                <a:off x="1429" y="0"/>
                <a:ext cx="0" cy="363"/>
              </a:xfrm>
              <a:prstGeom prst="line">
                <a:avLst/>
              </a:prstGeom>
              <a:ln w="12700" cap="flat" cmpd="sng">
                <a:solidFill>
                  <a:schemeClr val="bg1"/>
                </a:solidFill>
                <a:prstDash val="solid"/>
                <a:headEnd type="none" w="med" len="med"/>
                <a:tailEnd type="none" w="med" len="med"/>
              </a:ln>
            </p:spPr>
          </p:sp>
        </p:grpSp>
      </p:grpSp>
      <p:sp>
        <p:nvSpPr>
          <p:cNvPr id="2061" name="Rectangle 4"/>
          <p:cNvSpPr>
            <a:spLocks noGrp="1" noChangeArrowheads="1"/>
          </p:cNvSpPr>
          <p:nvPr>
            <p:ph type="ctrTitle"/>
          </p:nvPr>
        </p:nvSpPr>
        <p:spPr>
          <a:xfrm>
            <a:off x="685800" y="2130425"/>
            <a:ext cx="7772400" cy="1470025"/>
          </a:xfrm>
        </p:spPr>
        <p:txBody>
          <a:bodyPr anchor="ctr" anchorCtr="0"/>
          <a:lstStyle>
            <a:lvl1pPr>
              <a:defRPr sz="4400">
                <a:ea typeface="华文新魏" panose="02010800040101010101" pitchFamily="2" charset="-122"/>
              </a:defRPr>
            </a:lvl1pPr>
          </a:lstStyle>
          <a:p>
            <a:r>
              <a:rPr lang="zh-CN" altLang="en-US"/>
              <a:t>单击此处编辑母版标题样式</a:t>
            </a:r>
            <a:endParaRPr lang="zh-CN" altLang="en-US"/>
          </a:p>
        </p:txBody>
      </p:sp>
      <p:sp>
        <p:nvSpPr>
          <p:cNvPr id="2062" name="Rectangle 5"/>
          <p:cNvSpPr>
            <a:spLocks noGrp="1" noChangeArrowheads="1"/>
          </p:cNvSpPr>
          <p:nvPr>
            <p:ph type="subTitle" idx="1"/>
          </p:nvPr>
        </p:nvSpPr>
        <p:spPr>
          <a:xfrm>
            <a:off x="1371600" y="3886200"/>
            <a:ext cx="6400800" cy="1752600"/>
          </a:xfrm>
        </p:spPr>
        <p:txBody>
          <a:bodyPr anchor="ctr"/>
          <a:lstStyle>
            <a:lvl1pPr marL="0" indent="0" algn="ctr">
              <a:buFontTx/>
              <a:buNone/>
              <a:defRPr>
                <a:solidFill>
                  <a:srgbClr val="333333"/>
                </a:solidFill>
              </a:defRPr>
            </a:lvl1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125538"/>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9313" y="1125538"/>
            <a:ext cx="4038600" cy="5065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20000"/>
              </a:spcBef>
              <a:spcAft>
                <a:spcPct val="0"/>
              </a:spcAft>
              <a:buClrTx/>
              <a:buSzPct val="120000"/>
              <a:buFontTx/>
              <a:buNone/>
              <a:defRPr/>
            </a:pPr>
            <a:endParaRPr kumimoji="0" lang="zh-CN" altLang="en-US" sz="3200" b="1" i="0" u="none" strike="noStrike" kern="0" cap="none" spc="0" normalizeH="0" baseline="0" noProof="0">
              <a:ln>
                <a:noFill/>
              </a:ln>
              <a:solidFill>
                <a:srgbClr val="133984"/>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79388"/>
            <a:ext cx="2286000" cy="60118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179388"/>
            <a:ext cx="6705600" cy="601186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descr="图片6"/>
          <p:cNvPicPr>
            <a:picLocks noChangeAspect="1"/>
          </p:cNvPicPr>
          <p:nvPr userDrawn="1"/>
        </p:nvPicPr>
        <p:blipFill>
          <a:blip r:embed="rId12"/>
          <a:stretch>
            <a:fillRect/>
          </a:stretch>
        </p:blipFill>
        <p:spPr>
          <a:xfrm>
            <a:off x="0" y="0"/>
            <a:ext cx="9144000" cy="6858000"/>
          </a:xfrm>
          <a:prstGeom prst="rect">
            <a:avLst/>
          </a:prstGeom>
          <a:noFill/>
          <a:ln w="9525">
            <a:noFill/>
          </a:ln>
        </p:spPr>
      </p:pic>
      <p:sp>
        <p:nvSpPr>
          <p:cNvPr id="1027" name="Line 3"/>
          <p:cNvSpPr/>
          <p:nvPr userDrawn="1"/>
        </p:nvSpPr>
        <p:spPr>
          <a:xfrm>
            <a:off x="573088" y="941388"/>
            <a:ext cx="6478587" cy="0"/>
          </a:xfrm>
          <a:prstGeom prst="line">
            <a:avLst/>
          </a:prstGeom>
          <a:ln w="15875" cap="flat" cmpd="thinThick">
            <a:solidFill>
              <a:srgbClr val="8F1120"/>
            </a:solidFill>
            <a:prstDash val="solid"/>
            <a:headEnd type="none" w="med" len="med"/>
            <a:tailEnd type="none" w="med" len="med"/>
          </a:ln>
        </p:spPr>
      </p:sp>
      <p:sp>
        <p:nvSpPr>
          <p:cNvPr id="1028" name="Rectangle 4"/>
          <p:cNvSpPr>
            <a:spLocks noGrp="1"/>
          </p:cNvSpPr>
          <p:nvPr>
            <p:ph type="title"/>
          </p:nvPr>
        </p:nvSpPr>
        <p:spPr>
          <a:xfrm>
            <a:off x="0" y="179388"/>
            <a:ext cx="9144000" cy="688975"/>
          </a:xfrm>
          <a:prstGeom prst="rect">
            <a:avLst/>
          </a:prstGeom>
          <a:noFill/>
          <a:ln w="9525">
            <a:noFill/>
          </a:ln>
          <a:effectLst>
            <a:outerShdw dist="35921" dir="2699999" algn="ctr" rotWithShape="0">
              <a:schemeClr val="bg1"/>
            </a:outerShdw>
          </a:effectLst>
        </p:spPr>
        <p:txBody>
          <a:bodyPr tIns="36000" anchor="b" anchorCtr="1"/>
          <a:p>
            <a:pPr lvl="0"/>
            <a:r>
              <a:rPr lang="zh-CN" altLang="en-US" dirty="0"/>
              <a:t>单击此处编辑母版标题样式</a:t>
            </a:r>
            <a:endParaRPr lang="zh-CN" altLang="en-US" dirty="0"/>
          </a:p>
        </p:txBody>
      </p:sp>
      <p:sp>
        <p:nvSpPr>
          <p:cNvPr id="1029" name="Rectangle 5"/>
          <p:cNvSpPr/>
          <p:nvPr>
            <p:ph type="body" idx="1"/>
          </p:nvPr>
        </p:nvSpPr>
        <p:spPr>
          <a:xfrm>
            <a:off x="468313" y="1125538"/>
            <a:ext cx="8229600" cy="50657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000" b="1">
          <a:solidFill>
            <a:srgbClr val="133984"/>
          </a:solidFill>
          <a:latin typeface="+mj-lt"/>
          <a:ea typeface="+mj-ea"/>
          <a:cs typeface="+mj-cs"/>
        </a:defRPr>
      </a:lvl1pPr>
      <a:lvl2pPr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5pPr>
      <a:lvl6pPr marL="457200"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6pPr>
      <a:lvl7pPr marL="914400"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7pPr>
      <a:lvl8pPr marL="1371600"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8pPr>
      <a:lvl9pPr marL="1828800" algn="ctr" rtl="0" eaLnBrk="0" fontAlgn="base" hangingPunct="0">
        <a:spcBef>
          <a:spcPct val="0"/>
        </a:spcBef>
        <a:spcAft>
          <a:spcPct val="0"/>
        </a:spcAft>
        <a:defRPr sz="3000" b="1">
          <a:solidFill>
            <a:srgbClr val="133984"/>
          </a:solidFill>
          <a:latin typeface="Arial" panose="020B0604020202020204" pitchFamily="34" charset="0"/>
          <a:ea typeface="黑体" panose="02010609060101010101" pitchFamily="49" charset="-122"/>
        </a:defRPr>
      </a:lvl9pPr>
    </p:titleStyle>
    <p:bodyStyle>
      <a:lvl1pPr marL="449580" indent="-449580" algn="l" rtl="0" eaLnBrk="0" fontAlgn="base" hangingPunct="0">
        <a:lnSpc>
          <a:spcPct val="110000"/>
        </a:lnSpc>
        <a:spcBef>
          <a:spcPct val="20000"/>
        </a:spcBef>
        <a:spcAft>
          <a:spcPct val="0"/>
        </a:spcAft>
        <a:buSzPct val="120000"/>
        <a:buBlip>
          <a:blip r:embed="rId13"/>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958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30530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5102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9674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2" name="Rectangle 2"/>
          <p:cNvSpPr>
            <a:spLocks noGrp="1"/>
          </p:cNvSpPr>
          <p:nvPr>
            <p:ph type="ctrTitle"/>
          </p:nvPr>
        </p:nvSpPr>
        <p:spPr>
          <a:xfrm>
            <a:off x="152400" y="1066800"/>
            <a:ext cx="8686800" cy="1981200"/>
          </a:xfrm>
          <a:ln/>
          <a:effectLst>
            <a:outerShdw dist="35921" dir="2699999" algn="ctr" rotWithShape="0">
              <a:schemeClr val="bg1">
                <a:alpha val="50000"/>
              </a:schemeClr>
            </a:outerShdw>
          </a:effectLst>
        </p:spPr>
        <p:txBody>
          <a:bodyPr vert="horz" wrap="square" lIns="91440" tIns="36000" rIns="91440" bIns="45720" anchor="ctr" anchorCtr="0"/>
          <a:p>
            <a:pPr>
              <a:lnSpc>
                <a:spcPct val="140000"/>
              </a:lnSpc>
              <a:buClrTx/>
              <a:buSzTx/>
              <a:buFontTx/>
            </a:pPr>
            <a:r>
              <a:rPr lang="zh-CN" altLang="en-US" dirty="0">
                <a:solidFill>
                  <a:srgbClr val="CC0000"/>
                </a:solidFill>
                <a:latin typeface="+mj-lt"/>
                <a:ea typeface="+mj-ea"/>
                <a:cs typeface="+mj-cs"/>
              </a:rPr>
              <a:t>    </a:t>
            </a:r>
            <a:endParaRPr lang="zh-CN" altLang="en-US" dirty="0">
              <a:solidFill>
                <a:srgbClr val="CC0000"/>
              </a:solidFill>
              <a:latin typeface="+mj-lt"/>
              <a:ea typeface="+mj-ea"/>
              <a:cs typeface="+mj-cs"/>
            </a:endParaRPr>
          </a:p>
        </p:txBody>
      </p:sp>
      <p:sp>
        <p:nvSpPr>
          <p:cNvPr id="15363" name="Rectangle 3"/>
          <p:cNvSpPr>
            <a:spLocks noGrp="1"/>
          </p:cNvSpPr>
          <p:nvPr>
            <p:ph type="subTitle" idx="1"/>
          </p:nvPr>
        </p:nvSpPr>
        <p:spPr>
          <a:xfrm>
            <a:off x="762000" y="2514600"/>
            <a:ext cx="7772400" cy="1447800"/>
          </a:xfrm>
          <a:ln/>
        </p:spPr>
        <p:txBody>
          <a:bodyPr vert="horz" wrap="square" lIns="91440" tIns="45720" rIns="91440" bIns="45720" anchor="ctr" anchorCtr="0"/>
          <a:p>
            <a:pPr>
              <a:lnSpc>
                <a:spcPct val="90000"/>
              </a:lnSpc>
              <a:buClrTx/>
              <a:buSzPct val="120000"/>
              <a:buFontTx/>
              <a:buNone/>
            </a:pPr>
            <a:r>
              <a:rPr lang="zh-CN" altLang="en-US" sz="4800" dirty="0">
                <a:solidFill>
                  <a:srgbClr val="FF0000"/>
                </a:solidFill>
                <a:latin typeface="楷体" panose="02010609060101010101" pitchFamily="49" charset="-122"/>
                <a:ea typeface="楷体" panose="02010609060101010101" pitchFamily="49" charset="-122"/>
                <a:cs typeface="+mn-cs"/>
              </a:rPr>
              <a:t>第六讲 </a:t>
            </a:r>
            <a:endParaRPr lang="zh-CN" altLang="en-US" sz="4800" dirty="0">
              <a:solidFill>
                <a:srgbClr val="FF0000"/>
              </a:solidFill>
              <a:latin typeface="楷体" panose="02010609060101010101" pitchFamily="49" charset="-122"/>
              <a:ea typeface="楷体" panose="02010609060101010101" pitchFamily="49" charset="-122"/>
              <a:cs typeface="+mn-cs"/>
            </a:endParaRPr>
          </a:p>
          <a:p>
            <a:pPr>
              <a:lnSpc>
                <a:spcPct val="90000"/>
              </a:lnSpc>
              <a:buClrTx/>
              <a:buSzPct val="120000"/>
              <a:buFontTx/>
              <a:buNone/>
            </a:pPr>
            <a:endParaRPr lang="zh-CN" altLang="en-US" sz="3600" dirty="0">
              <a:solidFill>
                <a:srgbClr val="FF0000"/>
              </a:solidFill>
              <a:latin typeface="+mn-lt"/>
              <a:ea typeface="+mn-ea"/>
              <a:cs typeface="+mn-cs"/>
            </a:endParaRPr>
          </a:p>
          <a:p>
            <a:pPr>
              <a:lnSpc>
                <a:spcPct val="90000"/>
              </a:lnSpc>
              <a:buClrTx/>
              <a:buSzPct val="120000"/>
              <a:buFontTx/>
              <a:buNone/>
            </a:pPr>
            <a:r>
              <a:rPr lang="zh-CN" altLang="en-US" sz="7200" dirty="0">
                <a:solidFill>
                  <a:srgbClr val="FF0000"/>
                </a:solidFill>
                <a:latin typeface="楷体" panose="02010609060101010101" pitchFamily="49" charset="-122"/>
                <a:ea typeface="楷体" panose="02010609060101010101" pitchFamily="49" charset="-122"/>
                <a:cs typeface="+mn-cs"/>
              </a:rPr>
              <a:t>金融法律制度</a:t>
            </a:r>
            <a:endParaRPr lang="zh-CN" altLang="en-US" sz="7200" dirty="0">
              <a:solidFill>
                <a:srgbClr val="FF0000"/>
              </a:solidFill>
              <a:latin typeface="楷体" panose="02010609060101010101" pitchFamily="49" charset="-122"/>
              <a:ea typeface="楷体" panose="02010609060101010101" pitchFamily="49" charset="-122"/>
              <a:cs typeface="+mn-cs"/>
            </a:endParaRPr>
          </a:p>
        </p:txBody>
      </p:sp>
      <p:pic>
        <p:nvPicPr>
          <p:cNvPr id="15364" name="Picture 4" descr="C:\Users\y\Desktop\公众号二维码.jpg"/>
          <p:cNvPicPr>
            <a:picLocks noChangeAspect="1"/>
          </p:cNvPicPr>
          <p:nvPr/>
        </p:nvPicPr>
        <p:blipFill>
          <a:blip r:embed="rId1"/>
          <a:stretch>
            <a:fillRect/>
          </a:stretch>
        </p:blipFill>
        <p:spPr>
          <a:xfrm>
            <a:off x="7696200" y="0"/>
            <a:ext cx="1447800" cy="14478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2057400" y="304800"/>
            <a:ext cx="5410200" cy="688975"/>
          </a:xfrm>
          <a:ln/>
        </p:spPr>
        <p:txBody>
          <a:bodyPr vert="horz" wrap="square" lIns="91440" tIns="36000" rIns="91440" bIns="45720" anchor="b" anchorCtr="1"/>
          <a:p>
            <a:r>
              <a:rPr lang="zh-CN" altLang="en-US" dirty="0">
                <a:solidFill>
                  <a:schemeClr val="tx1"/>
                </a:solidFill>
              </a:rPr>
              <a:t>金融法及其特征</a:t>
            </a:r>
            <a:endParaRPr lang="zh-CN" altLang="en-US" dirty="0">
              <a:solidFill>
                <a:schemeClr val="tx1"/>
              </a:solidFill>
            </a:endParaRPr>
          </a:p>
        </p:txBody>
      </p:sp>
      <p:sp>
        <p:nvSpPr>
          <p:cNvPr id="17411"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2372" name="Text Box 4"/>
          <p:cNvSpPr txBox="1"/>
          <p:nvPr/>
        </p:nvSpPr>
        <p:spPr>
          <a:xfrm>
            <a:off x="762000" y="1524000"/>
            <a:ext cx="6781800" cy="371475"/>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00FF"/>
                </a:solidFill>
                <a:ea typeface="宋体" panose="02010600030101010101" pitchFamily="2" charset="-122"/>
              </a:rPr>
              <a:t>规制金融活动的法律制度总称</a:t>
            </a:r>
            <a:r>
              <a:rPr lang="zh-CN" altLang="en-US" sz="1800" b="0" dirty="0">
                <a:solidFill>
                  <a:srgbClr val="0000FF"/>
                </a:solidFill>
                <a:ea typeface="宋体" panose="02010600030101010101" pitchFamily="2" charset="-122"/>
              </a:rPr>
              <a:t> </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42373" name="Text Box 5"/>
          <p:cNvSpPr txBox="1"/>
          <p:nvPr/>
        </p:nvSpPr>
        <p:spPr>
          <a:xfrm>
            <a:off x="762000" y="2057400"/>
            <a:ext cx="6705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5050B"/>
                </a:solidFill>
                <a:ea typeface="宋体" panose="02010600030101010101" pitchFamily="2" charset="-122"/>
              </a:rPr>
              <a:t>金融法是一个独立的法律体系吗？</a:t>
            </a:r>
            <a:endParaRPr lang="zh-CN" altLang="en-US" sz="1800" dirty="0">
              <a:solidFill>
                <a:srgbClr val="F5050B"/>
              </a:solidFill>
              <a:ea typeface="宋体" panose="02010600030101010101" pitchFamily="2" charset="-122"/>
            </a:endParaRPr>
          </a:p>
        </p:txBody>
      </p:sp>
      <p:sp>
        <p:nvSpPr>
          <p:cNvPr id="442374" name="Text Box 6"/>
          <p:cNvSpPr txBox="1"/>
          <p:nvPr/>
        </p:nvSpPr>
        <p:spPr>
          <a:xfrm>
            <a:off x="762000" y="2590800"/>
            <a:ext cx="8610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金融法不是独立的法律体系，它必然建构在其他法律门类的基础之上</a:t>
            </a:r>
            <a:endParaRPr lang="zh-CN" altLang="en-US" sz="1800" dirty="0">
              <a:solidFill>
                <a:schemeClr val="tx1"/>
              </a:solidFill>
              <a:ea typeface="宋体" panose="02010600030101010101" pitchFamily="2" charset="-122"/>
            </a:endParaRPr>
          </a:p>
        </p:txBody>
      </p:sp>
      <p:sp>
        <p:nvSpPr>
          <p:cNvPr id="442375" name="Text Box 7"/>
          <p:cNvSpPr txBox="1"/>
          <p:nvPr/>
        </p:nvSpPr>
        <p:spPr>
          <a:xfrm>
            <a:off x="762000" y="3124200"/>
            <a:ext cx="8077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但是，金融法有其自身的规则特点，无法被其他单一的法律门类所全面覆盖</a:t>
            </a:r>
            <a:endParaRPr lang="zh-CN" altLang="en-US" sz="1800" dirty="0">
              <a:solidFill>
                <a:schemeClr val="tx1"/>
              </a:solidFill>
              <a:ea typeface="宋体" panose="02010600030101010101" pitchFamily="2" charset="-122"/>
            </a:endParaRPr>
          </a:p>
        </p:txBody>
      </p:sp>
      <p:sp>
        <p:nvSpPr>
          <p:cNvPr id="442376" name="Text Box 8"/>
          <p:cNvSpPr txBox="1"/>
          <p:nvPr/>
        </p:nvSpPr>
        <p:spPr>
          <a:xfrm>
            <a:off x="762000" y="3657600"/>
            <a:ext cx="3124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跨</a:t>
            </a:r>
            <a:r>
              <a:rPr lang="zh-CN" altLang="en-US" sz="1800" dirty="0">
                <a:solidFill>
                  <a:schemeClr val="tx1"/>
                </a:solidFill>
                <a:ea typeface="宋体" panose="02010600030101010101" pitchFamily="2" charset="-122"/>
              </a:rPr>
              <a:t>法律门类的特征</a:t>
            </a:r>
            <a:endParaRPr lang="zh-CN" altLang="en-US" sz="1800" dirty="0">
              <a:solidFill>
                <a:schemeClr val="tx1"/>
              </a:solidFill>
              <a:ea typeface="宋体" panose="02010600030101010101" pitchFamily="2" charset="-122"/>
            </a:endParaRPr>
          </a:p>
        </p:txBody>
      </p:sp>
      <p:sp>
        <p:nvSpPr>
          <p:cNvPr id="442377" name="Text Box 9"/>
          <p:cNvSpPr txBox="1"/>
          <p:nvPr/>
        </p:nvSpPr>
        <p:spPr>
          <a:xfrm>
            <a:off x="762000" y="42672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跨</a:t>
            </a:r>
            <a:r>
              <a:rPr lang="zh-CN" altLang="en-US" sz="1800" dirty="0">
                <a:solidFill>
                  <a:schemeClr val="tx1"/>
                </a:solidFill>
                <a:ea typeface="宋体" panose="02010600030101010101" pitchFamily="2" charset="-122"/>
              </a:rPr>
              <a:t>学科门类的特征</a:t>
            </a:r>
            <a:endParaRPr lang="zh-CN" altLang="en-US" sz="1800" dirty="0">
              <a:solidFill>
                <a:schemeClr val="tx1"/>
              </a:solidFill>
              <a:ea typeface="宋体" panose="02010600030101010101" pitchFamily="2" charset="-122"/>
            </a:endParaRPr>
          </a:p>
        </p:txBody>
      </p:sp>
      <p:sp>
        <p:nvSpPr>
          <p:cNvPr id="442378" name="Text Box 10"/>
          <p:cNvSpPr txBox="1"/>
          <p:nvPr/>
        </p:nvSpPr>
        <p:spPr>
          <a:xfrm>
            <a:off x="762000" y="4876800"/>
            <a:ext cx="4800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跨</a:t>
            </a:r>
            <a:r>
              <a:rPr lang="zh-CN" altLang="en-US" sz="1800" dirty="0">
                <a:solidFill>
                  <a:schemeClr val="tx1"/>
                </a:solidFill>
                <a:ea typeface="宋体" panose="02010600030101010101" pitchFamily="2" charset="-122"/>
              </a:rPr>
              <a:t>越国家的特征</a:t>
            </a:r>
            <a:endParaRPr lang="zh-CN" altLang="en-US" sz="1800" dirty="0">
              <a:solidFill>
                <a:schemeClr val="tx1"/>
              </a:solidFill>
              <a:ea typeface="宋体" panose="02010600030101010101" pitchFamily="2" charset="-122"/>
            </a:endParaRPr>
          </a:p>
        </p:txBody>
      </p:sp>
      <p:sp>
        <p:nvSpPr>
          <p:cNvPr id="442379" name="Text Box 11"/>
          <p:cNvSpPr txBox="1"/>
          <p:nvPr/>
        </p:nvSpPr>
        <p:spPr>
          <a:xfrm>
            <a:off x="762000" y="5410200"/>
            <a:ext cx="2819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跨</a:t>
            </a:r>
            <a:r>
              <a:rPr lang="zh-CN" altLang="en-US" sz="1800" dirty="0">
                <a:solidFill>
                  <a:schemeClr val="tx1"/>
                </a:solidFill>
                <a:ea typeface="宋体" panose="02010600030101010101" pitchFamily="2" charset="-122"/>
              </a:rPr>
              <a:t>理论与实务的特征</a:t>
            </a:r>
            <a:endParaRPr lang="zh-CN" altLang="en-US" sz="180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2372"/>
                                        </p:tgtEl>
                                        <p:attrNameLst>
                                          <p:attrName>style.visibility</p:attrName>
                                        </p:attrNameLst>
                                      </p:cBhvr>
                                      <p:to>
                                        <p:strVal val="visible"/>
                                      </p:to>
                                    </p:set>
                                    <p:animEffect transition="in" filter="box(in)">
                                      <p:cBhvr>
                                        <p:cTn id="7" dur="500"/>
                                        <p:tgtEl>
                                          <p:spTgt spid="4423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2373"/>
                                        </p:tgtEl>
                                        <p:attrNameLst>
                                          <p:attrName>style.visibility</p:attrName>
                                        </p:attrNameLst>
                                      </p:cBhvr>
                                      <p:to>
                                        <p:strVal val="visible"/>
                                      </p:to>
                                    </p:set>
                                    <p:animEffect transition="in" filter="box(in)">
                                      <p:cBhvr>
                                        <p:cTn id="12" dur="500"/>
                                        <p:tgtEl>
                                          <p:spTgt spid="44237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2374"/>
                                        </p:tgtEl>
                                        <p:attrNameLst>
                                          <p:attrName>style.visibility</p:attrName>
                                        </p:attrNameLst>
                                      </p:cBhvr>
                                      <p:to>
                                        <p:strVal val="visible"/>
                                      </p:to>
                                    </p:set>
                                    <p:animEffect transition="in" filter="box(in)">
                                      <p:cBhvr>
                                        <p:cTn id="17" dur="500"/>
                                        <p:tgtEl>
                                          <p:spTgt spid="44237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2375"/>
                                        </p:tgtEl>
                                        <p:attrNameLst>
                                          <p:attrName>style.visibility</p:attrName>
                                        </p:attrNameLst>
                                      </p:cBhvr>
                                      <p:to>
                                        <p:strVal val="visible"/>
                                      </p:to>
                                    </p:set>
                                    <p:animEffect transition="in" filter="box(in)">
                                      <p:cBhvr>
                                        <p:cTn id="22" dur="500"/>
                                        <p:tgtEl>
                                          <p:spTgt spid="44237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2376"/>
                                        </p:tgtEl>
                                        <p:attrNameLst>
                                          <p:attrName>style.visibility</p:attrName>
                                        </p:attrNameLst>
                                      </p:cBhvr>
                                      <p:to>
                                        <p:strVal val="visible"/>
                                      </p:to>
                                    </p:set>
                                    <p:animEffect transition="in" filter="box(in)">
                                      <p:cBhvr>
                                        <p:cTn id="27" dur="500"/>
                                        <p:tgtEl>
                                          <p:spTgt spid="44237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2377"/>
                                        </p:tgtEl>
                                        <p:attrNameLst>
                                          <p:attrName>style.visibility</p:attrName>
                                        </p:attrNameLst>
                                      </p:cBhvr>
                                      <p:to>
                                        <p:strVal val="visible"/>
                                      </p:to>
                                    </p:set>
                                    <p:animEffect transition="in" filter="box(in)">
                                      <p:cBhvr>
                                        <p:cTn id="32" dur="500"/>
                                        <p:tgtEl>
                                          <p:spTgt spid="44237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2378"/>
                                        </p:tgtEl>
                                        <p:attrNameLst>
                                          <p:attrName>style.visibility</p:attrName>
                                        </p:attrNameLst>
                                      </p:cBhvr>
                                      <p:to>
                                        <p:strVal val="visible"/>
                                      </p:to>
                                    </p:set>
                                    <p:animEffect transition="in" filter="box(in)">
                                      <p:cBhvr>
                                        <p:cTn id="37" dur="500"/>
                                        <p:tgtEl>
                                          <p:spTgt spid="44237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42379"/>
                                        </p:tgtEl>
                                        <p:attrNameLst>
                                          <p:attrName>style.visibility</p:attrName>
                                        </p:attrNameLst>
                                      </p:cBhvr>
                                      <p:to>
                                        <p:strVal val="visible"/>
                                      </p:to>
                                    </p:set>
                                    <p:animEffect transition="in" filter="box(in)">
                                      <p:cBhvr>
                                        <p:cTn id="42" dur="500"/>
                                        <p:tgtEl>
                                          <p:spTgt spid="442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p:bldP spid="442373" grpId="0"/>
      <p:bldP spid="442374" grpId="0"/>
      <p:bldP spid="442375" grpId="0"/>
      <p:bldP spid="442376" grpId="0"/>
      <p:bldP spid="442377" grpId="0"/>
      <p:bldP spid="442378" grpId="0"/>
      <p:bldP spid="44237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2057400" y="381000"/>
            <a:ext cx="5410200" cy="688975"/>
          </a:xfrm>
          <a:ln/>
        </p:spPr>
        <p:txBody>
          <a:bodyPr vert="horz" wrap="square" lIns="91440" tIns="36000" rIns="91440" bIns="45720" anchor="b" anchorCtr="1"/>
          <a:p>
            <a:r>
              <a:rPr lang="zh-CN" altLang="en-US" dirty="0">
                <a:solidFill>
                  <a:schemeClr val="tx1"/>
                </a:solidFill>
              </a:rPr>
              <a:t>金融法与其他法律门类</a:t>
            </a:r>
            <a:endParaRPr lang="zh-CN" altLang="en-US" dirty="0">
              <a:solidFill>
                <a:schemeClr val="tx1"/>
              </a:solidFill>
            </a:endParaRPr>
          </a:p>
        </p:txBody>
      </p:sp>
      <p:sp>
        <p:nvSpPr>
          <p:cNvPr id="18435"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3396" name="Text Box 4"/>
          <p:cNvSpPr txBox="1"/>
          <p:nvPr/>
        </p:nvSpPr>
        <p:spPr>
          <a:xfrm>
            <a:off x="762000" y="1524000"/>
            <a:ext cx="6629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民法</a:t>
            </a:r>
            <a:r>
              <a:rPr lang="zh-CN" altLang="en-US" sz="1800" dirty="0">
                <a:solidFill>
                  <a:schemeClr val="tx1"/>
                </a:solidFill>
                <a:ea typeface="宋体" panose="02010600030101010101" pitchFamily="2" charset="-122"/>
              </a:rPr>
              <a:t>规则：合同法律规则（借贷、担保、居间、保管</a:t>
            </a:r>
            <a:r>
              <a:rPr lang="en-US" altLang="zh-CN" sz="1800" dirty="0">
                <a:solidFill>
                  <a:schemeClr val="tx1"/>
                </a:solidFill>
                <a:ea typeface="宋体" panose="02010600030101010101" pitchFamily="2" charset="-122"/>
              </a:rPr>
              <a:t>……</a:t>
            </a:r>
            <a:r>
              <a:rPr lang="zh-CN" altLang="en-US" sz="1800" dirty="0">
                <a:solidFill>
                  <a:schemeClr val="tx1"/>
                </a:solidFill>
                <a:ea typeface="宋体" panose="02010600030101010101" pitchFamily="2" charset="-122"/>
              </a:rPr>
              <a:t>）</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43397" name="Text Box 5"/>
          <p:cNvSpPr txBox="1"/>
          <p:nvPr/>
        </p:nvSpPr>
        <p:spPr>
          <a:xfrm>
            <a:off x="762000" y="2057400"/>
            <a:ext cx="8763000" cy="371475"/>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商法</a:t>
            </a:r>
            <a:r>
              <a:rPr lang="zh-CN" altLang="en-US" sz="1800" dirty="0">
                <a:solidFill>
                  <a:schemeClr val="tx1"/>
                </a:solidFill>
                <a:ea typeface="宋体" panose="02010600030101010101" pitchFamily="2" charset="-122"/>
              </a:rPr>
              <a:t>规则：各种组织形式的金融机构的设立、运行、破产清算；金融票据；保险</a:t>
            </a:r>
            <a:r>
              <a:rPr lang="en-US" altLang="zh-CN" sz="1800" dirty="0">
                <a:solidFill>
                  <a:schemeClr val="tx1"/>
                </a:solidFill>
                <a:ea typeface="宋体" panose="02010600030101010101" pitchFamily="2" charset="-122"/>
              </a:rPr>
              <a:t>……</a:t>
            </a:r>
            <a:endParaRPr lang="en-US" altLang="zh-CN" sz="1800" dirty="0">
              <a:solidFill>
                <a:schemeClr val="tx1"/>
              </a:solidFill>
              <a:ea typeface="宋体" panose="02010600030101010101" pitchFamily="2" charset="-122"/>
            </a:endParaRPr>
          </a:p>
        </p:txBody>
      </p:sp>
      <p:sp>
        <p:nvSpPr>
          <p:cNvPr id="443398" name="Text Box 6"/>
          <p:cNvSpPr txBox="1"/>
          <p:nvPr/>
        </p:nvSpPr>
        <p:spPr>
          <a:xfrm>
            <a:off x="762000" y="2590800"/>
            <a:ext cx="6553200" cy="371475"/>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宪法</a:t>
            </a:r>
            <a:r>
              <a:rPr lang="zh-CN" altLang="en-US" sz="1800" dirty="0">
                <a:solidFill>
                  <a:schemeClr val="tx1"/>
                </a:solidFill>
                <a:ea typeface="宋体" panose="02010600030101010101" pitchFamily="2" charset="-122"/>
              </a:rPr>
              <a:t>规则：货币发行权、金融机构牌照的发放</a:t>
            </a:r>
            <a:endParaRPr lang="zh-CN" altLang="en-US" sz="1800" dirty="0">
              <a:solidFill>
                <a:schemeClr val="tx1"/>
              </a:solidFill>
              <a:ea typeface="宋体" panose="02010600030101010101" pitchFamily="2" charset="-122"/>
            </a:endParaRPr>
          </a:p>
        </p:txBody>
      </p:sp>
      <p:sp>
        <p:nvSpPr>
          <p:cNvPr id="443399" name="Text Box 7"/>
          <p:cNvSpPr txBox="1"/>
          <p:nvPr/>
        </p:nvSpPr>
        <p:spPr>
          <a:xfrm>
            <a:off x="762000" y="3124200"/>
            <a:ext cx="8686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行政法</a:t>
            </a:r>
            <a:r>
              <a:rPr lang="zh-CN" altLang="en-US" sz="1800" dirty="0">
                <a:solidFill>
                  <a:schemeClr val="tx1"/>
                </a:solidFill>
                <a:ea typeface="宋体" panose="02010600030101010101" pitchFamily="2" charset="-122"/>
              </a:rPr>
              <a:t>规则：金融监管法律制度（市场准入、日常运营、市场退出）</a:t>
            </a:r>
            <a:endParaRPr lang="zh-CN" altLang="en-US" sz="1800" dirty="0">
              <a:solidFill>
                <a:schemeClr val="tx1"/>
              </a:solidFill>
              <a:ea typeface="宋体" panose="02010600030101010101" pitchFamily="2" charset="-122"/>
            </a:endParaRPr>
          </a:p>
        </p:txBody>
      </p:sp>
      <p:sp>
        <p:nvSpPr>
          <p:cNvPr id="443400" name="Text Box 8"/>
          <p:cNvSpPr txBox="1"/>
          <p:nvPr/>
        </p:nvSpPr>
        <p:spPr>
          <a:xfrm>
            <a:off x="762000" y="3657600"/>
            <a:ext cx="7086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税法</a:t>
            </a:r>
            <a:r>
              <a:rPr lang="zh-CN" altLang="en-US" sz="1800" dirty="0">
                <a:solidFill>
                  <a:schemeClr val="tx1"/>
                </a:solidFill>
                <a:ea typeface="宋体" panose="02010600030101010101" pitchFamily="2" charset="-122"/>
              </a:rPr>
              <a:t>规则：金融交易的税收法律制度</a:t>
            </a:r>
            <a:endParaRPr lang="zh-CN" altLang="en-US" sz="1800" dirty="0">
              <a:solidFill>
                <a:schemeClr val="tx1"/>
              </a:solidFill>
              <a:ea typeface="宋体" panose="02010600030101010101" pitchFamily="2" charset="-122"/>
            </a:endParaRPr>
          </a:p>
        </p:txBody>
      </p:sp>
      <p:sp>
        <p:nvSpPr>
          <p:cNvPr id="443401" name="Text Box 9"/>
          <p:cNvSpPr txBox="1"/>
          <p:nvPr/>
        </p:nvSpPr>
        <p:spPr>
          <a:xfrm>
            <a:off x="762000" y="4267200"/>
            <a:ext cx="4267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刑法</a:t>
            </a:r>
            <a:r>
              <a:rPr lang="zh-CN" altLang="en-US" sz="1800" dirty="0">
                <a:solidFill>
                  <a:schemeClr val="tx1"/>
                </a:solidFill>
                <a:ea typeface="宋体" panose="02010600030101010101" pitchFamily="2" charset="-122"/>
              </a:rPr>
              <a:t>规则：金融犯罪法律制度</a:t>
            </a:r>
            <a:endParaRPr lang="zh-CN" altLang="en-US" sz="1800" dirty="0">
              <a:solidFill>
                <a:schemeClr val="tx1"/>
              </a:solidFill>
              <a:ea typeface="宋体" panose="02010600030101010101" pitchFamily="2" charset="-122"/>
            </a:endParaRPr>
          </a:p>
        </p:txBody>
      </p:sp>
      <p:sp>
        <p:nvSpPr>
          <p:cNvPr id="443402" name="Text Box 10"/>
          <p:cNvSpPr txBox="1"/>
          <p:nvPr/>
        </p:nvSpPr>
        <p:spPr>
          <a:xfrm>
            <a:off x="762000" y="4800600"/>
            <a:ext cx="8077200" cy="64135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涉外法律</a:t>
            </a:r>
            <a:r>
              <a:rPr lang="zh-CN" altLang="en-US" sz="1800" dirty="0">
                <a:solidFill>
                  <a:schemeClr val="tx1"/>
                </a:solidFill>
                <a:ea typeface="宋体" panose="02010600030101010101" pitchFamily="2" charset="-122"/>
              </a:rPr>
              <a:t>规则：涉外金融交易的实体法、程序法和冲突法规则；各国政府间金融关系的协调；国际金融组织</a:t>
            </a:r>
            <a:endParaRPr lang="zh-CN" altLang="en-US" sz="180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3396"/>
                                        </p:tgtEl>
                                        <p:attrNameLst>
                                          <p:attrName>style.visibility</p:attrName>
                                        </p:attrNameLst>
                                      </p:cBhvr>
                                      <p:to>
                                        <p:strVal val="visible"/>
                                      </p:to>
                                    </p:set>
                                    <p:animEffect transition="in" filter="box(in)">
                                      <p:cBhvr>
                                        <p:cTn id="7" dur="500"/>
                                        <p:tgtEl>
                                          <p:spTgt spid="44339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3397"/>
                                        </p:tgtEl>
                                        <p:attrNameLst>
                                          <p:attrName>style.visibility</p:attrName>
                                        </p:attrNameLst>
                                      </p:cBhvr>
                                      <p:to>
                                        <p:strVal val="visible"/>
                                      </p:to>
                                    </p:set>
                                    <p:animEffect transition="in" filter="box(in)">
                                      <p:cBhvr>
                                        <p:cTn id="12" dur="500"/>
                                        <p:tgtEl>
                                          <p:spTgt spid="44339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3398"/>
                                        </p:tgtEl>
                                        <p:attrNameLst>
                                          <p:attrName>style.visibility</p:attrName>
                                        </p:attrNameLst>
                                      </p:cBhvr>
                                      <p:to>
                                        <p:strVal val="visible"/>
                                      </p:to>
                                    </p:set>
                                    <p:animEffect transition="in" filter="box(in)">
                                      <p:cBhvr>
                                        <p:cTn id="17" dur="500"/>
                                        <p:tgtEl>
                                          <p:spTgt spid="44339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3399"/>
                                        </p:tgtEl>
                                        <p:attrNameLst>
                                          <p:attrName>style.visibility</p:attrName>
                                        </p:attrNameLst>
                                      </p:cBhvr>
                                      <p:to>
                                        <p:strVal val="visible"/>
                                      </p:to>
                                    </p:set>
                                    <p:animEffect transition="in" filter="box(in)">
                                      <p:cBhvr>
                                        <p:cTn id="22" dur="500"/>
                                        <p:tgtEl>
                                          <p:spTgt spid="44339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3400"/>
                                        </p:tgtEl>
                                        <p:attrNameLst>
                                          <p:attrName>style.visibility</p:attrName>
                                        </p:attrNameLst>
                                      </p:cBhvr>
                                      <p:to>
                                        <p:strVal val="visible"/>
                                      </p:to>
                                    </p:set>
                                    <p:animEffect transition="in" filter="box(in)">
                                      <p:cBhvr>
                                        <p:cTn id="27" dur="500"/>
                                        <p:tgtEl>
                                          <p:spTgt spid="44340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3401"/>
                                        </p:tgtEl>
                                        <p:attrNameLst>
                                          <p:attrName>style.visibility</p:attrName>
                                        </p:attrNameLst>
                                      </p:cBhvr>
                                      <p:to>
                                        <p:strVal val="visible"/>
                                      </p:to>
                                    </p:set>
                                    <p:animEffect transition="in" filter="box(in)">
                                      <p:cBhvr>
                                        <p:cTn id="32" dur="500"/>
                                        <p:tgtEl>
                                          <p:spTgt spid="44340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3402"/>
                                        </p:tgtEl>
                                        <p:attrNameLst>
                                          <p:attrName>style.visibility</p:attrName>
                                        </p:attrNameLst>
                                      </p:cBhvr>
                                      <p:to>
                                        <p:strVal val="visible"/>
                                      </p:to>
                                    </p:set>
                                    <p:animEffect transition="in" filter="box(in)">
                                      <p:cBhvr>
                                        <p:cTn id="37" dur="500"/>
                                        <p:tgtEl>
                                          <p:spTgt spid="443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6" grpId="0"/>
      <p:bldP spid="443397" grpId="0"/>
      <p:bldP spid="443398" grpId="0"/>
      <p:bldP spid="443399" grpId="0"/>
      <p:bldP spid="443400" grpId="0"/>
      <p:bldP spid="443401" grpId="0"/>
      <p:bldP spid="4434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p:nvPr>
            <p:ph idx="1"/>
          </p:nvPr>
        </p:nvSpPr>
        <p:spPr>
          <a:xfrm>
            <a:off x="609600" y="1143000"/>
            <a:ext cx="8229600" cy="1828800"/>
          </a:xfrm>
          <a:ln/>
        </p:spPr>
        <p:txBody>
          <a:bodyPr vert="horz" wrap="square" lIns="91440" tIns="45720" rIns="91440" bIns="45720" anchor="t" anchorCtr="0"/>
          <a:p>
            <a:pPr>
              <a:buNone/>
            </a:pPr>
            <a:r>
              <a:rPr lang="en-US" altLang="zh-CN" dirty="0"/>
              <a:t>     </a:t>
            </a:r>
            <a:r>
              <a:rPr lang="en-US" altLang="zh-CN" dirty="0">
                <a:solidFill>
                  <a:srgbClr val="F5050B"/>
                </a:solidFill>
              </a:rPr>
              <a:t>The purpose of financial markets is to efficiently allocate savings to ultimate users.</a:t>
            </a:r>
            <a:endParaRPr lang="en-US" altLang="zh-CN" dirty="0">
              <a:solidFill>
                <a:srgbClr val="F5050B"/>
              </a:solidFill>
            </a:endParaRPr>
          </a:p>
          <a:p>
            <a:pPr>
              <a:buSzPct val="80000"/>
              <a:buFont typeface="Wingdings" panose="05000000000000000000" pitchFamily="2" charset="2"/>
              <a:buNone/>
            </a:pPr>
            <a:endParaRPr lang="zh-CN" altLang="en-US" dirty="0">
              <a:solidFill>
                <a:srgbClr val="F5050B"/>
              </a:solidFill>
            </a:endParaRPr>
          </a:p>
        </p:txBody>
      </p:sp>
      <p:grpSp>
        <p:nvGrpSpPr>
          <p:cNvPr id="2" name="Group 3"/>
          <p:cNvGrpSpPr/>
          <p:nvPr/>
        </p:nvGrpSpPr>
        <p:grpSpPr>
          <a:xfrm>
            <a:off x="762000" y="2819400"/>
            <a:ext cx="7620000" cy="2339975"/>
            <a:chOff x="480" y="1584"/>
            <a:chExt cx="4800" cy="1474"/>
          </a:xfrm>
        </p:grpSpPr>
        <p:sp>
          <p:nvSpPr>
            <p:cNvPr id="19460" name="Rectangle 4"/>
            <p:cNvSpPr/>
            <p:nvPr/>
          </p:nvSpPr>
          <p:spPr>
            <a:xfrm>
              <a:off x="480" y="1584"/>
              <a:ext cx="1248" cy="1344"/>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19461" name="Text Box 5"/>
            <p:cNvSpPr txBox="1"/>
            <p:nvPr/>
          </p:nvSpPr>
          <p:spPr>
            <a:xfrm>
              <a:off x="480" y="1632"/>
              <a:ext cx="1248" cy="1234"/>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5000"/>
                </a:lnSpc>
                <a:spcBef>
                  <a:spcPct val="0"/>
                </a:spcBef>
                <a:spcAft>
                  <a:spcPct val="30000"/>
                </a:spcAft>
                <a:buSzTx/>
                <a:buNone/>
              </a:pPr>
              <a:r>
                <a:rPr lang="en-US" altLang="zh-CN" dirty="0">
                  <a:solidFill>
                    <a:schemeClr val="tx1"/>
                  </a:solidFill>
                  <a:latin typeface="Times New Roman" panose="02020603050405020304" pitchFamily="18" charset="0"/>
                  <a:ea typeface="宋体" panose="02010600030101010101" pitchFamily="2" charset="-122"/>
                </a:rPr>
                <a:t>Demanders of funds (mainly business firms and governments)</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9462" name="Text Box 6"/>
            <p:cNvSpPr txBox="1"/>
            <p:nvPr/>
          </p:nvSpPr>
          <p:spPr>
            <a:xfrm>
              <a:off x="1776" y="1632"/>
              <a:ext cx="2208" cy="426"/>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buSzTx/>
                <a:buNone/>
              </a:pPr>
              <a:r>
                <a:rPr lang="en-US" altLang="zh-CN" dirty="0">
                  <a:solidFill>
                    <a:schemeClr val="tx1"/>
                  </a:solidFill>
                  <a:latin typeface="Times New Roman" panose="02020603050405020304" pitchFamily="18" charset="0"/>
                  <a:ea typeface="宋体" panose="02010600030101010101" pitchFamily="2" charset="-122"/>
                </a:rPr>
                <a:t>Flow of loanable funds (savings)</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9463" name="Line 7"/>
            <p:cNvSpPr/>
            <p:nvPr/>
          </p:nvSpPr>
          <p:spPr>
            <a:xfrm>
              <a:off x="1728" y="2064"/>
              <a:ext cx="2304" cy="0"/>
            </a:xfrm>
            <a:prstGeom prst="line">
              <a:avLst/>
            </a:prstGeom>
            <a:ln w="38100" cap="flat" cmpd="sng">
              <a:solidFill>
                <a:srgbClr val="317B81"/>
              </a:solidFill>
              <a:prstDash val="solid"/>
              <a:headEnd type="none" w="med" len="med"/>
              <a:tailEnd type="triangle" w="med" len="med"/>
            </a:ln>
          </p:spPr>
        </p:sp>
        <p:sp>
          <p:nvSpPr>
            <p:cNvPr id="19464" name="Text Box 8"/>
            <p:cNvSpPr txBox="1"/>
            <p:nvPr/>
          </p:nvSpPr>
          <p:spPr>
            <a:xfrm>
              <a:off x="1776" y="2448"/>
              <a:ext cx="2208" cy="610"/>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buSzTx/>
                <a:buNone/>
              </a:pPr>
              <a:r>
                <a:rPr lang="en-US" altLang="zh-CN" dirty="0">
                  <a:solidFill>
                    <a:schemeClr val="tx1"/>
                  </a:solidFill>
                  <a:latin typeface="Times New Roman" panose="02020603050405020304" pitchFamily="18" charset="0"/>
                  <a:ea typeface="宋体" panose="02010600030101010101" pitchFamily="2" charset="-122"/>
                </a:rPr>
                <a:t>Flow of financial services, incomes, and financial claims</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9465" name="Line 9"/>
            <p:cNvSpPr/>
            <p:nvPr/>
          </p:nvSpPr>
          <p:spPr>
            <a:xfrm flipH="1">
              <a:off x="1728" y="2448"/>
              <a:ext cx="2304" cy="0"/>
            </a:xfrm>
            <a:prstGeom prst="line">
              <a:avLst/>
            </a:prstGeom>
            <a:ln w="38100" cap="flat" cmpd="sng">
              <a:solidFill>
                <a:srgbClr val="317B81"/>
              </a:solidFill>
              <a:prstDash val="solid"/>
              <a:headEnd type="none" w="med" len="med"/>
              <a:tailEnd type="triangle" w="med" len="med"/>
            </a:ln>
          </p:spPr>
        </p:sp>
        <p:sp>
          <p:nvSpPr>
            <p:cNvPr id="19466" name="Rectangle 10"/>
            <p:cNvSpPr/>
            <p:nvPr/>
          </p:nvSpPr>
          <p:spPr>
            <a:xfrm>
              <a:off x="4032" y="1584"/>
              <a:ext cx="1248" cy="1344"/>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19467" name="Text Box 11"/>
            <p:cNvSpPr txBox="1"/>
            <p:nvPr/>
          </p:nvSpPr>
          <p:spPr>
            <a:xfrm>
              <a:off x="4032" y="1872"/>
              <a:ext cx="1248" cy="842"/>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5000"/>
                </a:lnSpc>
                <a:spcBef>
                  <a:spcPct val="0"/>
                </a:spcBef>
                <a:spcAft>
                  <a:spcPct val="30000"/>
                </a:spcAft>
                <a:buSzTx/>
                <a:buNone/>
              </a:pPr>
              <a:r>
                <a:rPr lang="en-US" altLang="zh-CN" dirty="0">
                  <a:solidFill>
                    <a:schemeClr val="tx1"/>
                  </a:solidFill>
                  <a:latin typeface="Times New Roman" panose="02020603050405020304" pitchFamily="18" charset="0"/>
                  <a:ea typeface="宋体" panose="02010600030101010101" pitchFamily="2" charset="-122"/>
                </a:rPr>
                <a:t>Suppliers of funds (mainly households)</a:t>
              </a:r>
              <a:endParaRPr lang="en-US" altLang="zh-CN"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57200" y="381000"/>
            <a:ext cx="8229600" cy="533400"/>
          </a:xfrm>
          <a:ln/>
        </p:spPr>
        <p:txBody>
          <a:bodyPr vert="horz" wrap="square" lIns="91440" tIns="36000" rIns="91440" bIns="45720" anchor="b" anchorCtr="1"/>
          <a:p>
            <a:r>
              <a:rPr lang="zh-CN" altLang="en-US" sz="3800" dirty="0">
                <a:solidFill>
                  <a:srgbClr val="F5050B"/>
                </a:solidFill>
              </a:rPr>
              <a:t>金融市场简介</a:t>
            </a:r>
            <a:endParaRPr lang="en-US" altLang="zh-CN" sz="3800" dirty="0">
              <a:solidFill>
                <a:srgbClr val="F5050B"/>
              </a:solidFill>
            </a:endParaRPr>
          </a:p>
        </p:txBody>
      </p:sp>
      <p:sp>
        <p:nvSpPr>
          <p:cNvPr id="21507" name="Rectangle 3"/>
          <p:cNvSpPr/>
          <p:nvPr/>
        </p:nvSpPr>
        <p:spPr>
          <a:xfrm>
            <a:off x="304800" y="3505200"/>
            <a:ext cx="2514600" cy="1219200"/>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21508" name="Text Box 4"/>
          <p:cNvSpPr txBox="1"/>
          <p:nvPr/>
        </p:nvSpPr>
        <p:spPr>
          <a:xfrm>
            <a:off x="304800" y="3581400"/>
            <a:ext cx="2514600" cy="1069975"/>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spcAft>
                <a:spcPct val="30000"/>
              </a:spcAft>
              <a:buSzTx/>
              <a:buNone/>
            </a:pPr>
            <a:r>
              <a:rPr lang="en-US" altLang="zh-CN" sz="2000" dirty="0">
                <a:solidFill>
                  <a:schemeClr val="tx1"/>
                </a:solidFill>
                <a:latin typeface="Times New Roman" panose="02020603050405020304" pitchFamily="18" charset="0"/>
                <a:ea typeface="宋体" panose="02010600030101010101" pitchFamily="2" charset="-122"/>
              </a:rPr>
              <a:t>Producing units (mainly business firms and governments)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09" name="Text Box 5"/>
          <p:cNvSpPr txBox="1"/>
          <p:nvPr/>
        </p:nvSpPr>
        <p:spPr>
          <a:xfrm rot="-2110421">
            <a:off x="981075" y="2581275"/>
            <a:ext cx="2257425"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Flow of production</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10" name="Text Box 6"/>
          <p:cNvSpPr txBox="1"/>
          <p:nvPr/>
        </p:nvSpPr>
        <p:spPr>
          <a:xfrm rot="-2101763">
            <a:off x="847725" y="2257425"/>
            <a:ext cx="2101850"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Flow of payments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11" name="Rectangle 7"/>
          <p:cNvSpPr/>
          <p:nvPr/>
        </p:nvSpPr>
        <p:spPr>
          <a:xfrm>
            <a:off x="6324600" y="3505200"/>
            <a:ext cx="2514600" cy="1219200"/>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21512" name="Text Box 8"/>
          <p:cNvSpPr txBox="1"/>
          <p:nvPr/>
        </p:nvSpPr>
        <p:spPr>
          <a:xfrm>
            <a:off x="6324600" y="3810000"/>
            <a:ext cx="2514600" cy="581025"/>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spcAft>
                <a:spcPct val="30000"/>
              </a:spcAft>
              <a:buSzTx/>
              <a:buNone/>
            </a:pPr>
            <a:r>
              <a:rPr lang="en-US" altLang="zh-CN" sz="2000" dirty="0">
                <a:solidFill>
                  <a:schemeClr val="tx1"/>
                </a:solidFill>
                <a:latin typeface="Times New Roman" panose="02020603050405020304" pitchFamily="18" charset="0"/>
                <a:ea typeface="宋体" panose="02010600030101010101" pitchFamily="2" charset="-122"/>
              </a:rPr>
              <a:t>Consuming units (mainly households)</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21513" name="Rectangle 9"/>
          <p:cNvSpPr/>
          <p:nvPr/>
        </p:nvSpPr>
        <p:spPr>
          <a:xfrm>
            <a:off x="3276600" y="3352800"/>
            <a:ext cx="2590800" cy="1524000"/>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21514" name="Rectangle 10"/>
          <p:cNvSpPr/>
          <p:nvPr/>
        </p:nvSpPr>
        <p:spPr>
          <a:xfrm>
            <a:off x="3200400" y="1676400"/>
            <a:ext cx="2590800" cy="685800"/>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grpSp>
        <p:nvGrpSpPr>
          <p:cNvPr id="2" name="Group 11"/>
          <p:cNvGrpSpPr/>
          <p:nvPr/>
        </p:nvGrpSpPr>
        <p:grpSpPr>
          <a:xfrm>
            <a:off x="2819400" y="2971800"/>
            <a:ext cx="3505200" cy="1863725"/>
            <a:chOff x="1776" y="1872"/>
            <a:chExt cx="2208" cy="1174"/>
          </a:xfrm>
        </p:grpSpPr>
        <p:grpSp>
          <p:nvGrpSpPr>
            <p:cNvPr id="21533" name="Group 12"/>
            <p:cNvGrpSpPr/>
            <p:nvPr/>
          </p:nvGrpSpPr>
          <p:grpSpPr>
            <a:xfrm>
              <a:off x="1776" y="2160"/>
              <a:ext cx="2208" cy="886"/>
              <a:chOff x="1776" y="2160"/>
              <a:chExt cx="2208" cy="886"/>
            </a:xfrm>
          </p:grpSpPr>
          <p:sp>
            <p:nvSpPr>
              <p:cNvPr id="21535" name="Line 13"/>
              <p:cNvSpPr/>
              <p:nvPr/>
            </p:nvSpPr>
            <p:spPr>
              <a:xfrm>
                <a:off x="1776" y="2736"/>
                <a:ext cx="288" cy="0"/>
              </a:xfrm>
              <a:prstGeom prst="line">
                <a:avLst/>
              </a:prstGeom>
              <a:ln w="38100" cap="flat" cmpd="sng">
                <a:solidFill>
                  <a:srgbClr val="317B81"/>
                </a:solidFill>
                <a:prstDash val="solid"/>
                <a:headEnd type="none" w="med" len="med"/>
                <a:tailEnd type="triangle" w="med" len="med"/>
              </a:ln>
            </p:spPr>
          </p:sp>
          <p:sp>
            <p:nvSpPr>
              <p:cNvPr id="21536" name="Line 14"/>
              <p:cNvSpPr/>
              <p:nvPr/>
            </p:nvSpPr>
            <p:spPr>
              <a:xfrm flipH="1">
                <a:off x="1776" y="2448"/>
                <a:ext cx="288" cy="0"/>
              </a:xfrm>
              <a:prstGeom prst="line">
                <a:avLst/>
              </a:prstGeom>
              <a:ln w="38100" cap="flat" cmpd="sng">
                <a:solidFill>
                  <a:srgbClr val="317B81"/>
                </a:solidFill>
                <a:prstDash val="solid"/>
                <a:headEnd type="none" w="med" len="med"/>
                <a:tailEnd type="triangle" w="med" len="med"/>
              </a:ln>
            </p:spPr>
          </p:sp>
          <p:sp>
            <p:nvSpPr>
              <p:cNvPr id="21537" name="Text Box 15"/>
              <p:cNvSpPr txBox="1"/>
              <p:nvPr/>
            </p:nvSpPr>
            <p:spPr>
              <a:xfrm>
                <a:off x="2064" y="2160"/>
                <a:ext cx="1632" cy="886"/>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spcAft>
                    <a:spcPct val="30000"/>
                  </a:spcAft>
                  <a:buSzTx/>
                  <a:buNone/>
                </a:pPr>
                <a:r>
                  <a:rPr lang="en-US" altLang="zh-CN" sz="2000" dirty="0">
                    <a:solidFill>
                      <a:schemeClr val="tx1"/>
                    </a:solidFill>
                    <a:latin typeface="Times New Roman" panose="02020603050405020304" pitchFamily="18" charset="0"/>
                    <a:ea typeface="宋体" panose="02010600030101010101" pitchFamily="2" charset="-122"/>
                  </a:rPr>
                  <a:t>Flow of funds (savings)</a:t>
                </a:r>
                <a:endParaRPr lang="en-US" altLang="zh-CN" sz="2000" dirty="0">
                  <a:solidFill>
                    <a:schemeClr val="tx1"/>
                  </a:solidFill>
                  <a:latin typeface="Times New Roman" panose="02020603050405020304" pitchFamily="18" charset="0"/>
                  <a:ea typeface="宋体" panose="02010600030101010101" pitchFamily="2" charset="-122"/>
                </a:endParaRPr>
              </a:p>
              <a:p>
                <a:pPr marL="0" lvl="0" indent="0" algn="ctr">
                  <a:lnSpc>
                    <a:spcPct val="80000"/>
                  </a:lnSpc>
                  <a:spcBef>
                    <a:spcPct val="0"/>
                  </a:spcBef>
                  <a:spcAft>
                    <a:spcPct val="30000"/>
                  </a:spcAft>
                  <a:buSzTx/>
                  <a:buNone/>
                </a:pPr>
                <a:r>
                  <a:rPr lang="en-US" altLang="zh-CN" sz="2000" dirty="0">
                    <a:solidFill>
                      <a:schemeClr val="tx1"/>
                    </a:solidFill>
                    <a:latin typeface="Times New Roman" panose="02020603050405020304" pitchFamily="18" charset="0"/>
                    <a:ea typeface="宋体" panose="02010600030101010101" pitchFamily="2" charset="-122"/>
                  </a:rPr>
                  <a:t>Flow of financial services, income, and financial claims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38" name="Line 16"/>
              <p:cNvSpPr/>
              <p:nvPr/>
            </p:nvSpPr>
            <p:spPr>
              <a:xfrm>
                <a:off x="3696" y="2736"/>
                <a:ext cx="288" cy="0"/>
              </a:xfrm>
              <a:prstGeom prst="line">
                <a:avLst/>
              </a:prstGeom>
              <a:ln w="38100" cap="flat" cmpd="sng">
                <a:solidFill>
                  <a:srgbClr val="317B81"/>
                </a:solidFill>
                <a:prstDash val="solid"/>
                <a:headEnd type="none" w="med" len="med"/>
                <a:tailEnd type="triangle" w="med" len="med"/>
              </a:ln>
            </p:spPr>
          </p:sp>
          <p:sp>
            <p:nvSpPr>
              <p:cNvPr id="21539" name="Line 17"/>
              <p:cNvSpPr/>
              <p:nvPr/>
            </p:nvSpPr>
            <p:spPr>
              <a:xfrm flipH="1">
                <a:off x="3696" y="2448"/>
                <a:ext cx="288" cy="0"/>
              </a:xfrm>
              <a:prstGeom prst="line">
                <a:avLst/>
              </a:prstGeom>
              <a:ln w="38100" cap="flat" cmpd="sng">
                <a:solidFill>
                  <a:srgbClr val="317B81"/>
                </a:solidFill>
                <a:prstDash val="solid"/>
                <a:headEnd type="none" w="med" len="med"/>
                <a:tailEnd type="triangle" w="med" len="med"/>
              </a:ln>
            </p:spPr>
          </p:sp>
        </p:grpSp>
        <p:sp>
          <p:nvSpPr>
            <p:cNvPr id="21534" name="Text Box 18"/>
            <p:cNvSpPr txBox="1"/>
            <p:nvPr/>
          </p:nvSpPr>
          <p:spPr>
            <a:xfrm>
              <a:off x="2064" y="1872"/>
              <a:ext cx="1632" cy="250"/>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Financial markets</a:t>
              </a:r>
              <a:endParaRPr lang="en-US" altLang="zh-CN" sz="2000" dirty="0">
                <a:solidFill>
                  <a:schemeClr val="tx1"/>
                </a:solidFill>
                <a:latin typeface="Times New Roman" panose="02020603050405020304" pitchFamily="18" charset="0"/>
                <a:ea typeface="宋体" panose="02010600030101010101" pitchFamily="2" charset="-122"/>
              </a:endParaRPr>
            </a:p>
          </p:txBody>
        </p:sp>
      </p:grpSp>
      <p:sp>
        <p:nvSpPr>
          <p:cNvPr id="482323" name="Text Box 19"/>
          <p:cNvSpPr txBox="1"/>
          <p:nvPr/>
        </p:nvSpPr>
        <p:spPr>
          <a:xfrm>
            <a:off x="3200400" y="1295400"/>
            <a:ext cx="2590800" cy="396875"/>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Product markets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17" name="Rectangle 20"/>
          <p:cNvSpPr/>
          <p:nvPr/>
        </p:nvSpPr>
        <p:spPr>
          <a:xfrm>
            <a:off x="3276600" y="5867400"/>
            <a:ext cx="2590800" cy="685800"/>
          </a:xfrm>
          <a:prstGeom prst="rect">
            <a:avLst/>
          </a:prstGeom>
          <a:solidFill>
            <a:srgbClr val="D5EDEF"/>
          </a:solidFill>
          <a:ln w="38100" cap="flat" cmpd="sng">
            <a:solidFill>
              <a:srgbClr val="317B8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zh-CN" altLang="en-US" sz="1800" b="0" dirty="0">
              <a:solidFill>
                <a:srgbClr val="F60404"/>
              </a:solidFill>
              <a:ea typeface="宋体" panose="02010600030101010101" pitchFamily="2" charset="-122"/>
            </a:endParaRPr>
          </a:p>
        </p:txBody>
      </p:sp>
      <p:sp>
        <p:nvSpPr>
          <p:cNvPr id="482325" name="Text Box 21"/>
          <p:cNvSpPr txBox="1"/>
          <p:nvPr/>
        </p:nvSpPr>
        <p:spPr>
          <a:xfrm>
            <a:off x="3276600" y="5486400"/>
            <a:ext cx="2590800" cy="396875"/>
          </a:xfrm>
          <a:prstGeom prst="rect">
            <a:avLst/>
          </a:prstGeom>
          <a:noFill/>
          <a:ln w="9525">
            <a:noFill/>
          </a:ln>
        </p:spPr>
        <p:txBody>
          <a:bodyPr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Factor markets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19" name="Line 22"/>
          <p:cNvSpPr/>
          <p:nvPr/>
        </p:nvSpPr>
        <p:spPr>
          <a:xfrm flipV="1">
            <a:off x="1371600" y="2209800"/>
            <a:ext cx="1828800" cy="1295400"/>
          </a:xfrm>
          <a:prstGeom prst="line">
            <a:avLst/>
          </a:prstGeom>
          <a:ln w="38100" cap="flat" cmpd="sng">
            <a:solidFill>
              <a:srgbClr val="317B81"/>
            </a:solidFill>
            <a:prstDash val="solid"/>
            <a:headEnd type="none" w="med" len="med"/>
            <a:tailEnd type="triangle" w="med" len="med"/>
          </a:ln>
        </p:spPr>
      </p:sp>
      <p:sp>
        <p:nvSpPr>
          <p:cNvPr id="21520" name="Line 23"/>
          <p:cNvSpPr/>
          <p:nvPr/>
        </p:nvSpPr>
        <p:spPr>
          <a:xfrm flipH="1">
            <a:off x="685800" y="1752600"/>
            <a:ext cx="2514600" cy="1752600"/>
          </a:xfrm>
          <a:prstGeom prst="line">
            <a:avLst/>
          </a:prstGeom>
          <a:ln w="38100" cap="flat" cmpd="sng">
            <a:solidFill>
              <a:srgbClr val="317B81"/>
            </a:solidFill>
            <a:prstDash val="solid"/>
            <a:headEnd type="none" w="med" len="med"/>
            <a:tailEnd type="triangle" w="med" len="med"/>
          </a:ln>
        </p:spPr>
      </p:sp>
      <p:sp>
        <p:nvSpPr>
          <p:cNvPr id="21521" name="Text Box 24"/>
          <p:cNvSpPr txBox="1"/>
          <p:nvPr/>
        </p:nvSpPr>
        <p:spPr>
          <a:xfrm rot="-2110421">
            <a:off x="5649913" y="5103813"/>
            <a:ext cx="1931987"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Flow of incomes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22" name="Text Box 25"/>
          <p:cNvSpPr txBox="1"/>
          <p:nvPr/>
        </p:nvSpPr>
        <p:spPr>
          <a:xfrm rot="-2101763">
            <a:off x="5848350" y="5314950"/>
            <a:ext cx="2276475"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Productive services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23" name="Line 26"/>
          <p:cNvSpPr/>
          <p:nvPr/>
        </p:nvSpPr>
        <p:spPr>
          <a:xfrm flipV="1">
            <a:off x="5867400" y="4724400"/>
            <a:ext cx="1828800" cy="1295400"/>
          </a:xfrm>
          <a:prstGeom prst="line">
            <a:avLst/>
          </a:prstGeom>
          <a:ln w="38100" cap="flat" cmpd="sng">
            <a:solidFill>
              <a:srgbClr val="317B81"/>
            </a:solidFill>
            <a:prstDash val="solid"/>
            <a:headEnd type="none" w="med" len="med"/>
            <a:tailEnd type="triangle" w="med" len="med"/>
          </a:ln>
        </p:spPr>
      </p:sp>
      <p:sp>
        <p:nvSpPr>
          <p:cNvPr id="21524" name="Line 27"/>
          <p:cNvSpPr/>
          <p:nvPr/>
        </p:nvSpPr>
        <p:spPr>
          <a:xfrm flipH="1">
            <a:off x="5867400" y="4724400"/>
            <a:ext cx="2514600" cy="1752600"/>
          </a:xfrm>
          <a:prstGeom prst="line">
            <a:avLst/>
          </a:prstGeom>
          <a:ln w="38100" cap="flat" cmpd="sng">
            <a:solidFill>
              <a:srgbClr val="317B81"/>
            </a:solidFill>
            <a:prstDash val="solid"/>
            <a:headEnd type="none" w="med" len="med"/>
            <a:tailEnd type="triangle" w="med" len="med"/>
          </a:ln>
        </p:spPr>
      </p:sp>
      <p:sp>
        <p:nvSpPr>
          <p:cNvPr id="21525" name="Text Box 28"/>
          <p:cNvSpPr txBox="1"/>
          <p:nvPr/>
        </p:nvSpPr>
        <p:spPr>
          <a:xfrm rot="2110421" flipH="1">
            <a:off x="5715000" y="2590800"/>
            <a:ext cx="2287588"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zh-CN" altLang="en-US" sz="1000" dirty="0">
                <a:solidFill>
                  <a:schemeClr val="tx1"/>
                </a:solidFill>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Goods and services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26" name="Text Box 29"/>
          <p:cNvSpPr txBox="1"/>
          <p:nvPr/>
        </p:nvSpPr>
        <p:spPr>
          <a:xfrm rot="2101763" flipH="1">
            <a:off x="5791200" y="2057400"/>
            <a:ext cx="2665413" cy="58102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8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Flow of payments for</a:t>
            </a:r>
            <a:endParaRPr lang="en-US" altLang="zh-CN" sz="2000" dirty="0">
              <a:solidFill>
                <a:schemeClr val="tx1"/>
              </a:solidFill>
              <a:latin typeface="Times New Roman" panose="02020603050405020304" pitchFamily="18" charset="0"/>
              <a:ea typeface="宋体" panose="02010600030101010101" pitchFamily="2" charset="-122"/>
            </a:endParaRPr>
          </a:p>
          <a:p>
            <a:pPr marL="0" lvl="0" indent="0" algn="ctr">
              <a:lnSpc>
                <a:spcPct val="8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consumption and taxes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27" name="Line 30"/>
          <p:cNvSpPr/>
          <p:nvPr/>
        </p:nvSpPr>
        <p:spPr>
          <a:xfrm flipH="1" flipV="1">
            <a:off x="5791200" y="2209800"/>
            <a:ext cx="1828800" cy="1295400"/>
          </a:xfrm>
          <a:prstGeom prst="line">
            <a:avLst/>
          </a:prstGeom>
          <a:ln w="38100" cap="flat" cmpd="sng">
            <a:solidFill>
              <a:srgbClr val="317B81"/>
            </a:solidFill>
            <a:prstDash val="solid"/>
            <a:headEnd type="triangle" w="med" len="med"/>
            <a:tailEnd type="none" w="med" len="med"/>
          </a:ln>
        </p:spPr>
      </p:sp>
      <p:sp>
        <p:nvSpPr>
          <p:cNvPr id="21528" name="Line 31"/>
          <p:cNvSpPr/>
          <p:nvPr/>
        </p:nvSpPr>
        <p:spPr>
          <a:xfrm>
            <a:off x="5791200" y="1752600"/>
            <a:ext cx="2514600" cy="1752600"/>
          </a:xfrm>
          <a:prstGeom prst="line">
            <a:avLst/>
          </a:prstGeom>
          <a:ln w="38100" cap="flat" cmpd="sng">
            <a:solidFill>
              <a:srgbClr val="317B81"/>
            </a:solidFill>
            <a:prstDash val="solid"/>
            <a:headEnd type="triangle" w="med" len="med"/>
            <a:tailEnd type="none" w="med" len="med"/>
          </a:ln>
        </p:spPr>
      </p:sp>
      <p:sp>
        <p:nvSpPr>
          <p:cNvPr id="21529" name="Text Box 32"/>
          <p:cNvSpPr txBox="1"/>
          <p:nvPr/>
        </p:nvSpPr>
        <p:spPr>
          <a:xfrm rot="2110421" flipH="1">
            <a:off x="1562100" y="5103813"/>
            <a:ext cx="1931988"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Flow of incomes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30" name="Text Box 33"/>
          <p:cNvSpPr txBox="1"/>
          <p:nvPr/>
        </p:nvSpPr>
        <p:spPr>
          <a:xfrm rot="2101763" flipH="1">
            <a:off x="1019175" y="5314950"/>
            <a:ext cx="2276475" cy="396875"/>
          </a:xfrm>
          <a:prstGeom prst="rect">
            <a:avLst/>
          </a:prstGeom>
          <a:noFill/>
          <a:ln w="9525">
            <a:noFill/>
          </a:ln>
        </p:spPr>
        <p:txBody>
          <a:bodyPr wrap="none" lIns="91408" tIns="45704" rIns="91408" bIns="45704">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100000"/>
              </a:lnSpc>
              <a:spcBef>
                <a:spcPct val="0"/>
              </a:spcBef>
              <a:buSzTx/>
              <a:buNone/>
            </a:pPr>
            <a:r>
              <a:rPr lang="en-US" altLang="zh-CN" sz="2000" dirty="0">
                <a:solidFill>
                  <a:schemeClr val="tx1"/>
                </a:solidFill>
                <a:latin typeface="Times New Roman" panose="02020603050405020304" pitchFamily="18" charset="0"/>
                <a:ea typeface="宋体" panose="02010600030101010101" pitchFamily="2" charset="-122"/>
              </a:rPr>
              <a:t>Productive services</a:t>
            </a:r>
            <a:endParaRPr lang="en-US" altLang="zh-CN" sz="2000" dirty="0">
              <a:solidFill>
                <a:schemeClr val="tx1"/>
              </a:solidFill>
              <a:latin typeface="Times New Roman" panose="02020603050405020304" pitchFamily="18" charset="0"/>
              <a:ea typeface="宋体" panose="02010600030101010101" pitchFamily="2" charset="-122"/>
            </a:endParaRPr>
          </a:p>
        </p:txBody>
      </p:sp>
      <p:sp>
        <p:nvSpPr>
          <p:cNvPr id="21531" name="Line 34"/>
          <p:cNvSpPr/>
          <p:nvPr/>
        </p:nvSpPr>
        <p:spPr>
          <a:xfrm flipH="1" flipV="1">
            <a:off x="1447800" y="4724400"/>
            <a:ext cx="1828800" cy="1295400"/>
          </a:xfrm>
          <a:prstGeom prst="line">
            <a:avLst/>
          </a:prstGeom>
          <a:ln w="38100" cap="flat" cmpd="sng">
            <a:solidFill>
              <a:srgbClr val="317B81"/>
            </a:solidFill>
            <a:prstDash val="solid"/>
            <a:headEnd type="triangle" w="med" len="med"/>
            <a:tailEnd type="none" w="med" len="med"/>
          </a:ln>
        </p:spPr>
      </p:sp>
      <p:sp>
        <p:nvSpPr>
          <p:cNvPr id="21532" name="Line 35"/>
          <p:cNvSpPr/>
          <p:nvPr/>
        </p:nvSpPr>
        <p:spPr>
          <a:xfrm>
            <a:off x="762000" y="4724400"/>
            <a:ext cx="2514600" cy="1752600"/>
          </a:xfrm>
          <a:prstGeom prst="line">
            <a:avLst/>
          </a:prstGeom>
          <a:ln w="38100" cap="flat" cmpd="sng">
            <a:solidFill>
              <a:srgbClr val="317B81"/>
            </a:solidFill>
            <a:prstDash val="solid"/>
            <a:headEnd type="triangl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482323"/>
                                        </p:tgtEl>
                                        <p:attrNameLst>
                                          <p:attrName>style.visibility</p:attrName>
                                        </p:attrNameLst>
                                      </p:cBhvr>
                                      <p:to>
                                        <p:strVal val="visible"/>
                                      </p:to>
                                    </p:set>
                                    <p:anim calcmode="lin" valueType="num">
                                      <p:cBhvr>
                                        <p:cTn id="7" dur="500" fill="hold"/>
                                        <p:tgtEl>
                                          <p:spTgt spid="482323"/>
                                        </p:tgtEl>
                                        <p:attrNameLst>
                                          <p:attrName>ppt_w</p:attrName>
                                        </p:attrNameLst>
                                      </p:cBhvr>
                                      <p:tavLst>
                                        <p:tav tm="0">
                                          <p:val>
                                            <p:strVal val="#ppt_w*0.05"/>
                                          </p:val>
                                        </p:tav>
                                        <p:tav tm="100000">
                                          <p:val>
                                            <p:strVal val="#ppt_w"/>
                                          </p:val>
                                        </p:tav>
                                      </p:tavLst>
                                    </p:anim>
                                    <p:anim calcmode="lin" valueType="num">
                                      <p:cBhvr>
                                        <p:cTn id="8" dur="500" fill="hold"/>
                                        <p:tgtEl>
                                          <p:spTgt spid="482323"/>
                                        </p:tgtEl>
                                        <p:attrNameLst>
                                          <p:attrName>ppt_h</p:attrName>
                                        </p:attrNameLst>
                                      </p:cBhvr>
                                      <p:tavLst>
                                        <p:tav tm="0">
                                          <p:val>
                                            <p:strVal val="#ppt_h"/>
                                          </p:val>
                                        </p:tav>
                                        <p:tav tm="100000">
                                          <p:val>
                                            <p:strVal val="#ppt_h"/>
                                          </p:val>
                                        </p:tav>
                                      </p:tavLst>
                                    </p:anim>
                                    <p:anim calcmode="lin" valueType="num">
                                      <p:cBhvr>
                                        <p:cTn id="9" dur="500" fill="hold"/>
                                        <p:tgtEl>
                                          <p:spTgt spid="482323"/>
                                        </p:tgtEl>
                                        <p:attrNameLst>
                                          <p:attrName>ppt_x</p:attrName>
                                        </p:attrNameLst>
                                      </p:cBhvr>
                                      <p:tavLst>
                                        <p:tav tm="0">
                                          <p:val>
                                            <p:strVal val="#ppt_x-.2"/>
                                          </p:val>
                                        </p:tav>
                                        <p:tav tm="100000">
                                          <p:val>
                                            <p:strVal val="#ppt_x"/>
                                          </p:val>
                                        </p:tav>
                                      </p:tavLst>
                                    </p:anim>
                                    <p:anim calcmode="lin" valueType="num">
                                      <p:cBhvr>
                                        <p:cTn id="10" dur="500" fill="hold"/>
                                        <p:tgtEl>
                                          <p:spTgt spid="482323"/>
                                        </p:tgtEl>
                                        <p:attrNameLst>
                                          <p:attrName>ppt_y</p:attrName>
                                        </p:attrNameLst>
                                      </p:cBhvr>
                                      <p:tavLst>
                                        <p:tav tm="0">
                                          <p:val>
                                            <p:strVal val="#ppt_y"/>
                                          </p:val>
                                        </p:tav>
                                        <p:tav tm="100000">
                                          <p:val>
                                            <p:strVal val="#ppt_y"/>
                                          </p:val>
                                        </p:tav>
                                      </p:tavLst>
                                    </p:anim>
                                    <p:animEffect transition="in" filter="fade">
                                      <p:cBhvr>
                                        <p:cTn id="11" dur="500"/>
                                        <p:tgtEl>
                                          <p:spTgt spid="482323"/>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482325"/>
                                        </p:tgtEl>
                                        <p:attrNameLst>
                                          <p:attrName>style.visibility</p:attrName>
                                        </p:attrNameLst>
                                      </p:cBhvr>
                                      <p:to>
                                        <p:strVal val="visible"/>
                                      </p:to>
                                    </p:set>
                                    <p:anim calcmode="lin" valueType="num">
                                      <p:cBhvr>
                                        <p:cTn id="16" dur="500" fill="hold"/>
                                        <p:tgtEl>
                                          <p:spTgt spid="482325"/>
                                        </p:tgtEl>
                                        <p:attrNameLst>
                                          <p:attrName>ppt_w</p:attrName>
                                        </p:attrNameLst>
                                      </p:cBhvr>
                                      <p:tavLst>
                                        <p:tav tm="0">
                                          <p:val>
                                            <p:strVal val="#ppt_w*0.05"/>
                                          </p:val>
                                        </p:tav>
                                        <p:tav tm="100000">
                                          <p:val>
                                            <p:strVal val="#ppt_w"/>
                                          </p:val>
                                        </p:tav>
                                      </p:tavLst>
                                    </p:anim>
                                    <p:anim calcmode="lin" valueType="num">
                                      <p:cBhvr>
                                        <p:cTn id="17" dur="500" fill="hold"/>
                                        <p:tgtEl>
                                          <p:spTgt spid="482325"/>
                                        </p:tgtEl>
                                        <p:attrNameLst>
                                          <p:attrName>ppt_h</p:attrName>
                                        </p:attrNameLst>
                                      </p:cBhvr>
                                      <p:tavLst>
                                        <p:tav tm="0">
                                          <p:val>
                                            <p:strVal val="#ppt_h"/>
                                          </p:val>
                                        </p:tav>
                                        <p:tav tm="100000">
                                          <p:val>
                                            <p:strVal val="#ppt_h"/>
                                          </p:val>
                                        </p:tav>
                                      </p:tavLst>
                                    </p:anim>
                                    <p:anim calcmode="lin" valueType="num">
                                      <p:cBhvr>
                                        <p:cTn id="18" dur="500" fill="hold"/>
                                        <p:tgtEl>
                                          <p:spTgt spid="482325"/>
                                        </p:tgtEl>
                                        <p:attrNameLst>
                                          <p:attrName>ppt_x</p:attrName>
                                        </p:attrNameLst>
                                      </p:cBhvr>
                                      <p:tavLst>
                                        <p:tav tm="0">
                                          <p:val>
                                            <p:strVal val="#ppt_x-.2"/>
                                          </p:val>
                                        </p:tav>
                                        <p:tav tm="100000">
                                          <p:val>
                                            <p:strVal val="#ppt_x"/>
                                          </p:val>
                                        </p:tav>
                                      </p:tavLst>
                                    </p:anim>
                                    <p:anim calcmode="lin" valueType="num">
                                      <p:cBhvr>
                                        <p:cTn id="19" dur="500" fill="hold"/>
                                        <p:tgtEl>
                                          <p:spTgt spid="482325"/>
                                        </p:tgtEl>
                                        <p:attrNameLst>
                                          <p:attrName>ppt_y</p:attrName>
                                        </p:attrNameLst>
                                      </p:cBhvr>
                                      <p:tavLst>
                                        <p:tav tm="0">
                                          <p:val>
                                            <p:strVal val="#ppt_y"/>
                                          </p:val>
                                        </p:tav>
                                        <p:tav tm="100000">
                                          <p:val>
                                            <p:strVal val="#ppt_y"/>
                                          </p:val>
                                        </p:tav>
                                      </p:tavLst>
                                    </p:anim>
                                    <p:animEffect transition="in" filter="fade">
                                      <p:cBhvr>
                                        <p:cTn id="20" dur="500"/>
                                        <p:tgtEl>
                                          <p:spTgt spid="482325"/>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500" fill="hold"/>
                                        <p:tgtEl>
                                          <p:spTgt spid="2"/>
                                        </p:tgtEl>
                                        <p:attrNameLst>
                                          <p:attrName>ppt_w</p:attrName>
                                        </p:attrNameLst>
                                      </p:cBhvr>
                                      <p:tavLst>
                                        <p:tav tm="0">
                                          <p:val>
                                            <p:strVal val="#ppt_w*0.05"/>
                                          </p:val>
                                        </p:tav>
                                        <p:tav tm="100000">
                                          <p:val>
                                            <p:strVal val="#ppt_w"/>
                                          </p:val>
                                        </p:tav>
                                      </p:tavLst>
                                    </p:anim>
                                    <p:anim calcmode="lin" valueType="num">
                                      <p:cBhvr>
                                        <p:cTn id="26" dur="500" fill="hold"/>
                                        <p:tgtEl>
                                          <p:spTgt spid="2"/>
                                        </p:tgtEl>
                                        <p:attrNameLst>
                                          <p:attrName>ppt_h</p:attrName>
                                        </p:attrNameLst>
                                      </p:cBhvr>
                                      <p:tavLst>
                                        <p:tav tm="0">
                                          <p:val>
                                            <p:strVal val="#ppt_h"/>
                                          </p:val>
                                        </p:tav>
                                        <p:tav tm="100000">
                                          <p:val>
                                            <p:strVal val="#ppt_h"/>
                                          </p:val>
                                        </p:tav>
                                      </p:tavLst>
                                    </p:anim>
                                    <p:anim calcmode="lin" valueType="num">
                                      <p:cBhvr>
                                        <p:cTn id="27" dur="500" fill="hold"/>
                                        <p:tgtEl>
                                          <p:spTgt spid="2"/>
                                        </p:tgtEl>
                                        <p:attrNameLst>
                                          <p:attrName>ppt_x</p:attrName>
                                        </p:attrNameLst>
                                      </p:cBhvr>
                                      <p:tavLst>
                                        <p:tav tm="0">
                                          <p:val>
                                            <p:strVal val="#ppt_x-.2"/>
                                          </p:val>
                                        </p:tav>
                                        <p:tav tm="100000">
                                          <p:val>
                                            <p:strVal val="#ppt_x"/>
                                          </p:val>
                                        </p:tav>
                                      </p:tavLst>
                                    </p:anim>
                                    <p:anim calcmode="lin" valueType="num">
                                      <p:cBhvr>
                                        <p:cTn id="28" dur="500" fill="hold"/>
                                        <p:tgtEl>
                                          <p:spTgt spid="2"/>
                                        </p:tgtEl>
                                        <p:attrNameLst>
                                          <p:attrName>ppt_y</p:attrName>
                                        </p:attrNameLst>
                                      </p:cBhvr>
                                      <p:tavLst>
                                        <p:tav tm="0">
                                          <p:val>
                                            <p:strVal val="#ppt_y"/>
                                          </p:val>
                                        </p:tav>
                                        <p:tav tm="100000">
                                          <p:val>
                                            <p:strVal val="#ppt_y"/>
                                          </p:val>
                                        </p:tav>
                                      </p:tavLst>
                                    </p:anim>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23" grpId="0"/>
      <p:bldP spid="4823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AutoShape 2"/>
          <p:cNvSpPr/>
          <p:nvPr/>
        </p:nvSpPr>
        <p:spPr>
          <a:xfrm>
            <a:off x="228600" y="533400"/>
            <a:ext cx="8458200" cy="1981200"/>
          </a:xfrm>
          <a:prstGeom prst="bevel">
            <a:avLst>
              <a:gd name="adj" fmla="val 7185"/>
            </a:avLst>
          </a:prstGeom>
          <a:solidFill>
            <a:srgbClr val="00628A"/>
          </a:solidFill>
          <a:ln w="9525" cap="flat" cmpd="sng">
            <a:solidFill>
              <a:schemeClr val="tx1"/>
            </a:solidFill>
            <a:prstDash val="solid"/>
            <a:miter/>
            <a:headEnd type="none" w="med" len="med"/>
            <a:tailEnd type="none" w="med" len="med"/>
          </a:ln>
        </p:spPr>
        <p:txBody>
          <a:bodyPr wrap="none" lIns="91408" tIns="45704" rIns="91408" bIns="45704"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lnSpc>
                <a:spcPct val="100000"/>
              </a:lnSpc>
              <a:spcBef>
                <a:spcPct val="0"/>
              </a:spcBef>
              <a:buSzTx/>
              <a:buNone/>
            </a:pPr>
            <a:endParaRPr lang="zh-CN" altLang="en-US" sz="3200" b="0" dirty="0">
              <a:solidFill>
                <a:schemeClr val="bg1"/>
              </a:solidFill>
              <a:latin typeface="Times New Roman" panose="02020603050405020304" pitchFamily="18" charset="0"/>
              <a:ea typeface="宋体" panose="02010600030101010101" pitchFamily="2" charset="-122"/>
            </a:endParaRPr>
          </a:p>
          <a:p>
            <a:pPr marL="0" lvl="0" indent="0" algn="ctr">
              <a:lnSpc>
                <a:spcPct val="100000"/>
              </a:lnSpc>
              <a:spcBef>
                <a:spcPct val="0"/>
              </a:spcBef>
              <a:buSzTx/>
              <a:buNone/>
            </a:pPr>
            <a:r>
              <a:rPr lang="en-US" altLang="zh-CN" sz="3200" dirty="0">
                <a:solidFill>
                  <a:schemeClr val="bg1"/>
                </a:solidFill>
                <a:latin typeface="Times New Roman" panose="02020603050405020304" pitchFamily="18" charset="0"/>
                <a:ea typeface="宋体" panose="02010600030101010101" pitchFamily="2" charset="-122"/>
              </a:rPr>
              <a:t>Financial Market: a market in which financial</a:t>
            </a:r>
            <a:endParaRPr lang="en-US" altLang="zh-CN" sz="3200" dirty="0">
              <a:solidFill>
                <a:schemeClr val="bg1"/>
              </a:solidFill>
              <a:latin typeface="Times New Roman" panose="02020603050405020304" pitchFamily="18" charset="0"/>
              <a:ea typeface="宋体" panose="02010600030101010101" pitchFamily="2" charset="-122"/>
            </a:endParaRPr>
          </a:p>
          <a:p>
            <a:pPr marL="0" lvl="0" indent="0" algn="ctr">
              <a:lnSpc>
                <a:spcPct val="100000"/>
              </a:lnSpc>
              <a:spcBef>
                <a:spcPct val="0"/>
              </a:spcBef>
              <a:buSzTx/>
              <a:buNone/>
            </a:pPr>
            <a:r>
              <a:rPr lang="en-US" altLang="zh-CN" sz="3200" dirty="0">
                <a:solidFill>
                  <a:schemeClr val="bg1"/>
                </a:solidFill>
                <a:latin typeface="Times New Roman" panose="02020603050405020304" pitchFamily="18" charset="0"/>
                <a:ea typeface="宋体" panose="02010600030101010101" pitchFamily="2" charset="-122"/>
              </a:rPr>
              <a:t> assets (securities) such as stocks and bonds </a:t>
            </a:r>
            <a:endParaRPr lang="en-US" altLang="zh-CN" sz="3200" dirty="0">
              <a:solidFill>
                <a:schemeClr val="bg1"/>
              </a:solidFill>
              <a:latin typeface="Times New Roman" panose="02020603050405020304" pitchFamily="18" charset="0"/>
              <a:ea typeface="宋体" panose="02010600030101010101" pitchFamily="2" charset="-122"/>
            </a:endParaRPr>
          </a:p>
          <a:p>
            <a:pPr marL="0" lvl="0" indent="0" algn="ctr">
              <a:lnSpc>
                <a:spcPct val="100000"/>
              </a:lnSpc>
              <a:spcBef>
                <a:spcPct val="0"/>
              </a:spcBef>
              <a:buSzTx/>
              <a:buNone/>
            </a:pPr>
            <a:r>
              <a:rPr lang="en-US" altLang="zh-CN" sz="3200" dirty="0">
                <a:solidFill>
                  <a:schemeClr val="bg1"/>
                </a:solidFill>
                <a:latin typeface="Times New Roman" panose="02020603050405020304" pitchFamily="18" charset="0"/>
                <a:ea typeface="宋体" panose="02010600030101010101" pitchFamily="2" charset="-122"/>
              </a:rPr>
              <a:t>can be purchased or sold</a:t>
            </a:r>
            <a:endParaRPr lang="en-US" altLang="zh-CN" sz="3200" dirty="0">
              <a:solidFill>
                <a:schemeClr val="bg1"/>
              </a:solidFill>
              <a:latin typeface="Times New Roman" panose="02020603050405020304" pitchFamily="18" charset="0"/>
              <a:ea typeface="宋体" panose="02010600030101010101" pitchFamily="2" charset="-122"/>
            </a:endParaRPr>
          </a:p>
          <a:p>
            <a:pPr marL="0" lvl="0" indent="0" algn="ctr">
              <a:lnSpc>
                <a:spcPct val="100000"/>
              </a:lnSpc>
              <a:spcBef>
                <a:spcPct val="0"/>
              </a:spcBef>
              <a:buSzTx/>
              <a:buNone/>
            </a:pPr>
            <a:endParaRPr lang="zh-CN" altLang="en-US" sz="3200" dirty="0">
              <a:solidFill>
                <a:schemeClr val="bg1"/>
              </a:solidFill>
              <a:latin typeface="Times New Roman" panose="02020603050405020304" pitchFamily="18" charset="0"/>
              <a:ea typeface="宋体" panose="02010600030101010101" pitchFamily="2" charset="-122"/>
            </a:endParaRPr>
          </a:p>
        </p:txBody>
      </p:sp>
      <p:sp>
        <p:nvSpPr>
          <p:cNvPr id="486403" name="Rectangle 3"/>
          <p:cNvSpPr>
            <a:spLocks noGrp="1" noChangeArrowheads="1"/>
          </p:cNvSpPr>
          <p:nvPr>
            <p:ph idx="1"/>
          </p:nvPr>
        </p:nvSpPr>
        <p:spPr>
          <a:xfrm>
            <a:off x="228600" y="2971800"/>
            <a:ext cx="8686800" cy="3048000"/>
          </a:xfrm>
        </p:spPr>
        <p:txBody>
          <a:bodyPr vert="horz" wrap="square" lIns="91440" tIns="45720" rIns="91440" bIns="45720" numCol="1" anchor="t" anchorCtr="0" compatLnSpc="1"/>
          <a:lstStyle/>
          <a:p>
            <a:pPr marL="449580" marR="0" lvl="0" indent="-449580" algn="l" defTabSz="914400" rtl="0" eaLnBrk="0" fontAlgn="base" latinLnBrk="0" hangingPunct="0">
              <a:lnSpc>
                <a:spcPct val="110000"/>
              </a:lnSpc>
              <a:spcBef>
                <a:spcPct val="20000"/>
              </a:spcBef>
              <a:spcAft>
                <a:spcPct val="0"/>
              </a:spcAft>
              <a:buClrTx/>
              <a:buSzPct val="120000"/>
              <a:buFontTx/>
              <a:buNone/>
              <a:defRPr/>
            </a:pP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cs typeface="+mn-cs"/>
              </a:rPr>
              <a:t>     </a:t>
            </a:r>
            <a:r>
              <a:rPr kumimoji="0" lang="zh-CN" altLang="en-US" sz="2000" b="0" i="0" u="none" strike="noStrike" kern="0" cap="none" spc="0" normalizeH="0" baseline="0" noProof="0">
                <a:ln>
                  <a:noFill/>
                </a:ln>
                <a:solidFill>
                  <a:srgbClr val="F5050B"/>
                </a:solidFill>
                <a:effectLst>
                  <a:outerShdw blurRad="38100" dist="38100" dir="2700000" algn="tl">
                    <a:srgbClr val="C0C0C0"/>
                  </a:outerShdw>
                </a:effectLst>
                <a:uLnTx/>
                <a:uFillTx/>
                <a:latin typeface="+mn-lt"/>
                <a:ea typeface="+mn-ea"/>
                <a:cs typeface="+mn-cs"/>
              </a:rPr>
              <a:t>金融市场是指以金融资产为交易对象而形成的供求关系及其机制的总和</a:t>
            </a:r>
            <a:endParaRPr kumimoji="0" lang="zh-CN" altLang="en-US" sz="2000" b="0" i="0" u="none" strike="noStrike" kern="0" cap="none" spc="0" normalizeH="0" baseline="0" noProof="0">
              <a:ln>
                <a:noFill/>
              </a:ln>
              <a:solidFill>
                <a:srgbClr val="F5050B"/>
              </a:solidFill>
              <a:effectLst>
                <a:outerShdw blurRad="38100" dist="38100" dir="2700000" algn="tl">
                  <a:srgbClr val="C0C0C0"/>
                </a:outerShdw>
              </a:effectLst>
              <a:uLnTx/>
              <a:uFillTx/>
              <a:latin typeface="+mn-lt"/>
              <a:ea typeface="+mn-ea"/>
              <a:cs typeface="+mn-cs"/>
            </a:endParaRPr>
          </a:p>
          <a:p>
            <a:pPr marL="914400" marR="0" lvl="1" indent="-285750" algn="l" defTabSz="914400" rtl="0" eaLnBrk="0" fontAlgn="base" latinLnBrk="0" hangingPunct="0">
              <a:lnSpc>
                <a:spcPct val="110000"/>
              </a:lnSpc>
              <a:spcBef>
                <a:spcPct val="20000"/>
              </a:spcBef>
              <a:spcAft>
                <a:spcPct val="0"/>
              </a:spcAft>
              <a:buClr>
                <a:srgbClr val="A50021"/>
              </a:buClr>
              <a:buSzTx/>
              <a:buFont typeface="Arial" panose="020B0604020202020204" pitchFamily="34" charset="0"/>
              <a:buChar char="—"/>
              <a:defRPr/>
            </a:pP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是金融资产进行交易的一个</a:t>
            </a:r>
            <a:r>
              <a:rPr kumimoji="0" lang="zh-CN" altLang="en-US" sz="2000" b="0" i="0" u="sng"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有形和无形</a:t>
            </a: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的场所；</a:t>
            </a:r>
            <a:endPar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endParaRPr>
          </a:p>
          <a:p>
            <a:pPr marL="914400" marR="0" lvl="1" indent="-285750" algn="l" defTabSz="914400" rtl="0" eaLnBrk="0" fontAlgn="base" latinLnBrk="0" hangingPunct="0">
              <a:lnSpc>
                <a:spcPct val="110000"/>
              </a:lnSpc>
              <a:spcBef>
                <a:spcPct val="20000"/>
              </a:spcBef>
              <a:spcAft>
                <a:spcPct val="0"/>
              </a:spcAft>
              <a:buClr>
                <a:srgbClr val="A50021"/>
              </a:buClr>
              <a:buSzTx/>
              <a:buFont typeface="Arial" panose="020B0604020202020204" pitchFamily="34" charset="0"/>
              <a:buChar char="—"/>
              <a:defRPr/>
            </a:pP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反映了金融资产的</a:t>
            </a:r>
            <a:r>
              <a:rPr kumimoji="0" lang="zh-CN" altLang="en-US" sz="2000" b="0" i="0" u="sng"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供应者和需求者</a:t>
            </a: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之间所形成的供求关系；</a:t>
            </a:r>
            <a:endPar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endParaRPr>
          </a:p>
          <a:p>
            <a:pPr marL="914400" marR="0" lvl="1" indent="-285750" algn="l" defTabSz="914400" rtl="0" eaLnBrk="0" fontAlgn="base" latinLnBrk="0" hangingPunct="0">
              <a:lnSpc>
                <a:spcPct val="110000"/>
              </a:lnSpc>
              <a:spcBef>
                <a:spcPct val="20000"/>
              </a:spcBef>
              <a:spcAft>
                <a:spcPct val="0"/>
              </a:spcAft>
              <a:buClr>
                <a:srgbClr val="A50021"/>
              </a:buClr>
              <a:buSzTx/>
              <a:buFont typeface="Arial" panose="020B0604020202020204" pitchFamily="34" charset="0"/>
              <a:buChar char="—"/>
              <a:defRPr/>
            </a:pP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包含了金融资产交易过程中所产生的</a:t>
            </a:r>
            <a:r>
              <a:rPr kumimoji="0" lang="zh-CN" altLang="en-US" sz="2000" b="0" i="0" u="sng"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运行机制</a:t>
            </a:r>
            <a:r>
              <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rPr>
              <a:t>，其中最主要的是价格（包括利率、汇率及各种证券的价格）机制。</a:t>
            </a:r>
            <a:endParaRPr kumimoji="0" lang="zh-CN" altLang="en-US" sz="2000" b="0" i="0" u="none" strike="noStrike" kern="0" cap="none" spc="0" normalizeH="0" baseline="0" noProof="0">
              <a:ln>
                <a:noFill/>
              </a:ln>
              <a:solidFill>
                <a:srgbClr val="133984"/>
              </a:solidFill>
              <a:effectLst>
                <a:outerShdw blurRad="38100" dist="38100" dir="2700000" algn="tl">
                  <a:srgbClr val="C0C0C0"/>
                </a:outerShdw>
              </a:effectLst>
              <a:uLnTx/>
              <a:uFillTx/>
              <a:latin typeface="+mn-lt"/>
              <a:ea typeface="+mn-ea"/>
            </a:endParaRPr>
          </a:p>
          <a:p>
            <a:pPr marL="449580" marR="0" lvl="0" indent="-449580" algn="l" defTabSz="914400" rtl="0" eaLnBrk="0" fontAlgn="base" latinLnBrk="0" hangingPunct="0">
              <a:lnSpc>
                <a:spcPct val="110000"/>
              </a:lnSpc>
              <a:spcBef>
                <a:spcPct val="20000"/>
              </a:spcBef>
              <a:spcAft>
                <a:spcPct val="0"/>
              </a:spcAft>
              <a:buClrTx/>
              <a:buSzPct val="120000"/>
              <a:buFontTx/>
              <a:buNone/>
              <a:defRPr/>
            </a:pPr>
            <a:endParaRPr kumimoji="0" lang="zh-CN" altLang="en-US" sz="2000" b="1" i="0" u="none" strike="noStrike" kern="0" cap="none" spc="0" normalizeH="0" baseline="0" noProof="0">
              <a:ln>
                <a:noFill/>
              </a:ln>
              <a:solidFill>
                <a:srgbClr val="133984"/>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外部融资的两种模式</a:t>
            </a:r>
            <a:endParaRPr lang="zh-CN" altLang="en-US" dirty="0">
              <a:solidFill>
                <a:schemeClr val="tx1"/>
              </a:solidFill>
            </a:endParaRPr>
          </a:p>
        </p:txBody>
      </p:sp>
      <p:sp>
        <p:nvSpPr>
          <p:cNvPr id="24579"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68996" name="Text Box 4"/>
          <p:cNvSpPr txBox="1"/>
          <p:nvPr/>
        </p:nvSpPr>
        <p:spPr>
          <a:xfrm>
            <a:off x="762000" y="1752600"/>
            <a:ext cx="7239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5050B"/>
                </a:solidFill>
                <a:ea typeface="宋体" panose="02010600030101010101" pitchFamily="2" charset="-122"/>
              </a:rPr>
              <a:t>直接融资</a:t>
            </a:r>
            <a:r>
              <a:rPr lang="zh-CN" altLang="en-US" sz="1800" dirty="0">
                <a:solidFill>
                  <a:schemeClr val="tx1"/>
                </a:solidFill>
                <a:ea typeface="宋体" panose="02010600030101010101" pitchFamily="2" charset="-122"/>
              </a:rPr>
              <a:t>：资金的供给者与资金的需求者之间直接形成债权债务关系</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68997" name="Text Box 5"/>
          <p:cNvSpPr txBox="1"/>
          <p:nvPr/>
        </p:nvSpPr>
        <p:spPr>
          <a:xfrm>
            <a:off x="762000" y="3352800"/>
            <a:ext cx="7848600" cy="64135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5050B"/>
                </a:solidFill>
                <a:ea typeface="宋体" panose="02010600030101010101" pitchFamily="2" charset="-122"/>
              </a:rPr>
              <a:t>间接融资</a:t>
            </a:r>
            <a:r>
              <a:rPr lang="zh-CN" altLang="en-US" sz="1800" dirty="0">
                <a:solidFill>
                  <a:schemeClr val="tx1"/>
                </a:solidFill>
                <a:ea typeface="宋体" panose="02010600030101010101" pitchFamily="2" charset="-122"/>
              </a:rPr>
              <a:t>：资金的供给者与资金的需求者之间不直接形成债权债务关系，他们之间有一个重要的金融中介：吸收存款的金融机构（如银行）</a:t>
            </a:r>
            <a:r>
              <a:rPr lang="zh-CN" altLang="en-US" sz="1800" b="0" dirty="0">
                <a:solidFill>
                  <a:srgbClr val="F60404"/>
                </a:solidFill>
                <a:ea typeface="宋体" panose="02010600030101010101" pitchFamily="2" charset="-122"/>
              </a:rPr>
              <a:t> </a:t>
            </a:r>
            <a:endParaRPr lang="zh-CN" altLang="en-US" sz="1800" b="0" dirty="0">
              <a:solidFill>
                <a:srgbClr val="F60404"/>
              </a:solidFill>
              <a:ea typeface="宋体" panose="02010600030101010101" pitchFamily="2" charset="-122"/>
            </a:endParaRPr>
          </a:p>
        </p:txBody>
      </p:sp>
      <p:sp>
        <p:nvSpPr>
          <p:cNvPr id="469035" name="Text Box 43"/>
          <p:cNvSpPr txBox="1"/>
          <p:nvPr/>
        </p:nvSpPr>
        <p:spPr>
          <a:xfrm>
            <a:off x="762000" y="2514600"/>
            <a:ext cx="7239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金融产品：各类证券，包括：股票、债券、基金</a:t>
            </a:r>
            <a:r>
              <a:rPr lang="en-US" altLang="zh-CN" sz="1800" dirty="0">
                <a:solidFill>
                  <a:schemeClr val="tx1"/>
                </a:solidFill>
                <a:ea typeface="宋体" panose="02010600030101010101" pitchFamily="2" charset="-122"/>
              </a:rPr>
              <a:t>……</a:t>
            </a:r>
            <a:r>
              <a:rPr lang="en-US" altLang="zh-CN" sz="1800" b="0" dirty="0">
                <a:solidFill>
                  <a:schemeClr val="tx1"/>
                </a:solidFill>
                <a:ea typeface="宋体" panose="02010600030101010101" pitchFamily="2" charset="-122"/>
              </a:rPr>
              <a:t> </a:t>
            </a:r>
            <a:endParaRPr lang="en-US" altLang="zh-CN" sz="1800" b="0" dirty="0">
              <a:solidFill>
                <a:schemeClr val="tx1"/>
              </a:solidFill>
              <a:ea typeface="宋体" panose="02010600030101010101" pitchFamily="2" charset="-122"/>
            </a:endParaRPr>
          </a:p>
        </p:txBody>
      </p:sp>
      <p:sp>
        <p:nvSpPr>
          <p:cNvPr id="469036" name="Text Box 44"/>
          <p:cNvSpPr txBox="1"/>
          <p:nvPr/>
        </p:nvSpPr>
        <p:spPr>
          <a:xfrm>
            <a:off x="762000" y="4419600"/>
            <a:ext cx="7239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金融产品：存款、贷款</a:t>
            </a:r>
            <a:r>
              <a:rPr lang="en-US" altLang="zh-CN" sz="1800" b="0" dirty="0">
                <a:solidFill>
                  <a:schemeClr val="tx1"/>
                </a:solidFill>
                <a:ea typeface="宋体" panose="02010600030101010101" pitchFamily="2" charset="-122"/>
              </a:rPr>
              <a:t> </a:t>
            </a:r>
            <a:endParaRPr lang="en-US" altLang="zh-CN" sz="1800" b="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68996"/>
                                        </p:tgtEl>
                                        <p:attrNameLst>
                                          <p:attrName>style.visibility</p:attrName>
                                        </p:attrNameLst>
                                      </p:cBhvr>
                                      <p:to>
                                        <p:strVal val="visible"/>
                                      </p:to>
                                    </p:set>
                                    <p:animEffect transition="in" filter="box(in)">
                                      <p:cBhvr>
                                        <p:cTn id="7" dur="500"/>
                                        <p:tgtEl>
                                          <p:spTgt spid="46899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iterate type="lt">
                                    <p:tmPct val="0"/>
                                  </p:iterate>
                                  <p:childTnLst>
                                    <p:set>
                                      <p:cBhvr>
                                        <p:cTn id="11" dur="1" fill="hold">
                                          <p:stCondLst>
                                            <p:cond delay="0"/>
                                          </p:stCondLst>
                                        </p:cTn>
                                        <p:tgtEl>
                                          <p:spTgt spid="469035"/>
                                        </p:tgtEl>
                                        <p:attrNameLst>
                                          <p:attrName>style.visibility</p:attrName>
                                        </p:attrNameLst>
                                      </p:cBhvr>
                                      <p:to>
                                        <p:strVal val="visible"/>
                                      </p:to>
                                    </p:set>
                                    <p:animEffect transition="in" filter="box(in)">
                                      <p:cBhvr>
                                        <p:cTn id="12" dur="500"/>
                                        <p:tgtEl>
                                          <p:spTgt spid="46903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68997"/>
                                        </p:tgtEl>
                                        <p:attrNameLst>
                                          <p:attrName>style.visibility</p:attrName>
                                        </p:attrNameLst>
                                      </p:cBhvr>
                                      <p:to>
                                        <p:strVal val="visible"/>
                                      </p:to>
                                    </p:set>
                                    <p:animEffect transition="in" filter="box(in)">
                                      <p:cBhvr>
                                        <p:cTn id="17" dur="500"/>
                                        <p:tgtEl>
                                          <p:spTgt spid="46899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iterate type="lt">
                                    <p:tmPct val="0"/>
                                  </p:iterate>
                                  <p:childTnLst>
                                    <p:set>
                                      <p:cBhvr>
                                        <p:cTn id="21" dur="1" fill="hold">
                                          <p:stCondLst>
                                            <p:cond delay="0"/>
                                          </p:stCondLst>
                                        </p:cTn>
                                        <p:tgtEl>
                                          <p:spTgt spid="469036"/>
                                        </p:tgtEl>
                                        <p:attrNameLst>
                                          <p:attrName>style.visibility</p:attrName>
                                        </p:attrNameLst>
                                      </p:cBhvr>
                                      <p:to>
                                        <p:strVal val="visible"/>
                                      </p:to>
                                    </p:set>
                                    <p:animEffect transition="in" filter="box(in)">
                                      <p:cBhvr>
                                        <p:cTn id="22" dur="500"/>
                                        <p:tgtEl>
                                          <p:spTgt spid="469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6" grpId="0"/>
      <p:bldP spid="468997" grpId="0"/>
      <p:bldP spid="469035" grpId="0"/>
      <p:bldP spid="4690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0" y="152400"/>
            <a:ext cx="9144000" cy="688975"/>
          </a:xfrm>
          <a:ln/>
        </p:spPr>
        <p:txBody>
          <a:bodyPr vert="horz" wrap="square" lIns="91440" tIns="36000" rIns="91440" bIns="45720" anchor="b" anchorCtr="1"/>
          <a:p>
            <a:r>
              <a:rPr lang="zh-CN" altLang="en-US" dirty="0">
                <a:solidFill>
                  <a:srgbClr val="F5050B"/>
                </a:solidFill>
              </a:rPr>
              <a:t>图示</a:t>
            </a:r>
            <a:endParaRPr lang="zh-CN" altLang="en-US" dirty="0">
              <a:solidFill>
                <a:srgbClr val="F5050B"/>
              </a:solidFill>
            </a:endParaRPr>
          </a:p>
        </p:txBody>
      </p:sp>
      <p:sp>
        <p:nvSpPr>
          <p:cNvPr id="25603" name="Rectangle 3"/>
          <p:cNvSpPr/>
          <p:nvPr>
            <p:ph idx="1"/>
          </p:nvPr>
        </p:nvSpPr>
        <p:spPr>
          <a:xfrm>
            <a:off x="304800" y="1371600"/>
            <a:ext cx="76200" cy="76200"/>
          </a:xfrm>
          <a:ln/>
        </p:spPr>
        <p:txBody>
          <a:bodyPr vert="horz" wrap="square" lIns="91440" tIns="45720" rIns="91440" bIns="45720" anchor="t" anchorCtr="0"/>
          <a:p>
            <a:pPr>
              <a:lnSpc>
                <a:spcPct val="90000"/>
              </a:lnSpc>
            </a:pPr>
            <a:endParaRPr lang="zh-CN" altLang="en-US" sz="800" dirty="0"/>
          </a:p>
        </p:txBody>
      </p:sp>
      <p:grpSp>
        <p:nvGrpSpPr>
          <p:cNvPr id="25604" name="Group 4"/>
          <p:cNvGrpSpPr/>
          <p:nvPr/>
        </p:nvGrpSpPr>
        <p:grpSpPr>
          <a:xfrm>
            <a:off x="0" y="1295400"/>
            <a:ext cx="9144000" cy="4679950"/>
            <a:chOff x="0" y="527"/>
            <a:chExt cx="5760" cy="2948"/>
          </a:xfrm>
        </p:grpSpPr>
        <p:sp>
          <p:nvSpPr>
            <p:cNvPr id="25605" name="Rectangle 5"/>
            <p:cNvSpPr/>
            <p:nvPr/>
          </p:nvSpPr>
          <p:spPr>
            <a:xfrm>
              <a:off x="2336" y="1752"/>
              <a:ext cx="907" cy="544"/>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800" dirty="0">
                  <a:solidFill>
                    <a:schemeClr val="tx1"/>
                  </a:solidFill>
                  <a:latin typeface="Comic Sans MS" panose="030F0702030302020204" pitchFamily="66" charset="0"/>
                  <a:ea typeface="华文行楷" panose="02010800040101010101" pitchFamily="2" charset="-122"/>
                </a:rPr>
                <a:t>银行</a:t>
              </a:r>
              <a:endParaRPr lang="zh-CN" altLang="en-US" sz="2800" dirty="0">
                <a:solidFill>
                  <a:schemeClr val="tx1"/>
                </a:solidFill>
                <a:latin typeface="Comic Sans MS" panose="030F0702030302020204" pitchFamily="66" charset="0"/>
                <a:ea typeface="华文行楷" panose="02010800040101010101" pitchFamily="2" charset="-122"/>
              </a:endParaRPr>
            </a:p>
          </p:txBody>
        </p:sp>
        <p:sp>
          <p:nvSpPr>
            <p:cNvPr id="25606" name="Line 6"/>
            <p:cNvSpPr/>
            <p:nvPr/>
          </p:nvSpPr>
          <p:spPr>
            <a:xfrm>
              <a:off x="1292" y="2024"/>
              <a:ext cx="1044" cy="0"/>
            </a:xfrm>
            <a:prstGeom prst="line">
              <a:avLst/>
            </a:prstGeom>
            <a:ln w="38100" cap="flat" cmpd="sng">
              <a:solidFill>
                <a:schemeClr val="bg2"/>
              </a:solidFill>
              <a:prstDash val="solid"/>
              <a:headEnd type="none" w="med" len="med"/>
              <a:tailEnd type="triangle" w="med" len="med"/>
            </a:ln>
          </p:spPr>
        </p:sp>
        <p:sp>
          <p:nvSpPr>
            <p:cNvPr id="25607" name="Line 7"/>
            <p:cNvSpPr/>
            <p:nvPr/>
          </p:nvSpPr>
          <p:spPr>
            <a:xfrm>
              <a:off x="3243" y="2024"/>
              <a:ext cx="998" cy="0"/>
            </a:xfrm>
            <a:prstGeom prst="line">
              <a:avLst/>
            </a:prstGeom>
            <a:ln w="38100" cap="flat" cmpd="sng">
              <a:solidFill>
                <a:schemeClr val="bg2"/>
              </a:solidFill>
              <a:prstDash val="solid"/>
              <a:headEnd type="none" w="med" len="med"/>
              <a:tailEnd type="triangle" w="med" len="med"/>
            </a:ln>
          </p:spPr>
        </p:sp>
        <p:sp>
          <p:nvSpPr>
            <p:cNvPr id="25608" name="Line 8"/>
            <p:cNvSpPr/>
            <p:nvPr/>
          </p:nvSpPr>
          <p:spPr>
            <a:xfrm flipV="1">
              <a:off x="612" y="935"/>
              <a:ext cx="0" cy="681"/>
            </a:xfrm>
            <a:prstGeom prst="line">
              <a:avLst/>
            </a:prstGeom>
            <a:ln w="38100" cap="flat" cmpd="sng">
              <a:solidFill>
                <a:schemeClr val="bg2"/>
              </a:solidFill>
              <a:prstDash val="solid"/>
              <a:headEnd type="none" w="med" len="med"/>
              <a:tailEnd type="triangle" w="med" len="med"/>
            </a:ln>
          </p:spPr>
        </p:sp>
        <p:sp>
          <p:nvSpPr>
            <p:cNvPr id="25609" name="Line 9"/>
            <p:cNvSpPr/>
            <p:nvPr/>
          </p:nvSpPr>
          <p:spPr>
            <a:xfrm>
              <a:off x="612" y="935"/>
              <a:ext cx="4355" cy="0"/>
            </a:xfrm>
            <a:prstGeom prst="line">
              <a:avLst/>
            </a:prstGeom>
            <a:ln w="38100" cap="flat" cmpd="sng">
              <a:solidFill>
                <a:schemeClr val="bg2"/>
              </a:solidFill>
              <a:prstDash val="solid"/>
              <a:headEnd type="none" w="med" len="med"/>
              <a:tailEnd type="triangle" w="med" len="med"/>
            </a:ln>
          </p:spPr>
        </p:sp>
        <p:sp>
          <p:nvSpPr>
            <p:cNvPr id="25610" name="Line 10"/>
            <p:cNvSpPr/>
            <p:nvPr/>
          </p:nvSpPr>
          <p:spPr>
            <a:xfrm>
              <a:off x="4967" y="935"/>
              <a:ext cx="0" cy="771"/>
            </a:xfrm>
            <a:prstGeom prst="line">
              <a:avLst/>
            </a:prstGeom>
            <a:ln w="38100" cap="flat" cmpd="sng">
              <a:solidFill>
                <a:schemeClr val="bg2"/>
              </a:solidFill>
              <a:prstDash val="solid"/>
              <a:headEnd type="none" w="med" len="med"/>
              <a:tailEnd type="triangle" w="med" len="med"/>
            </a:ln>
          </p:spPr>
        </p:sp>
        <p:sp>
          <p:nvSpPr>
            <p:cNvPr id="25611" name="Line 11"/>
            <p:cNvSpPr/>
            <p:nvPr/>
          </p:nvSpPr>
          <p:spPr>
            <a:xfrm>
              <a:off x="612" y="2296"/>
              <a:ext cx="0" cy="771"/>
            </a:xfrm>
            <a:prstGeom prst="line">
              <a:avLst/>
            </a:prstGeom>
            <a:ln w="38100" cap="flat" cmpd="sng">
              <a:solidFill>
                <a:schemeClr val="bg2"/>
              </a:solidFill>
              <a:prstDash val="solid"/>
              <a:headEnd type="none" w="med" len="med"/>
              <a:tailEnd type="triangle" w="med" len="med"/>
            </a:ln>
          </p:spPr>
        </p:sp>
        <p:sp>
          <p:nvSpPr>
            <p:cNvPr id="25612" name="Line 12"/>
            <p:cNvSpPr/>
            <p:nvPr/>
          </p:nvSpPr>
          <p:spPr>
            <a:xfrm>
              <a:off x="612" y="3067"/>
              <a:ext cx="4400" cy="0"/>
            </a:xfrm>
            <a:prstGeom prst="line">
              <a:avLst/>
            </a:prstGeom>
            <a:ln w="38100" cap="flat" cmpd="sng">
              <a:solidFill>
                <a:schemeClr val="bg2"/>
              </a:solidFill>
              <a:prstDash val="solid"/>
              <a:headEnd type="none" w="med" len="med"/>
              <a:tailEnd type="triangle" w="med" len="med"/>
            </a:ln>
          </p:spPr>
        </p:sp>
        <p:sp>
          <p:nvSpPr>
            <p:cNvPr id="25613" name="Line 13"/>
            <p:cNvSpPr/>
            <p:nvPr/>
          </p:nvSpPr>
          <p:spPr>
            <a:xfrm flipV="1">
              <a:off x="5012" y="2296"/>
              <a:ext cx="0" cy="771"/>
            </a:xfrm>
            <a:prstGeom prst="line">
              <a:avLst/>
            </a:prstGeom>
            <a:ln w="38100" cap="flat" cmpd="sng">
              <a:solidFill>
                <a:schemeClr val="bg2"/>
              </a:solidFill>
              <a:prstDash val="solid"/>
              <a:headEnd type="none" w="med" len="med"/>
              <a:tailEnd type="triangle" w="med" len="med"/>
            </a:ln>
          </p:spPr>
        </p:sp>
        <p:sp>
          <p:nvSpPr>
            <p:cNvPr id="25614" name="Rectangle 14"/>
            <p:cNvSpPr/>
            <p:nvPr/>
          </p:nvSpPr>
          <p:spPr>
            <a:xfrm>
              <a:off x="1429" y="1570"/>
              <a:ext cx="681" cy="440"/>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bg1"/>
                  </a:solidFill>
                  <a:latin typeface="Comic Sans MS" panose="030F0702030302020204" pitchFamily="66" charset="0"/>
                  <a:ea typeface="华文行楷" panose="02010800040101010101" pitchFamily="2" charset="-122"/>
                </a:rPr>
                <a:t>间接融资</a:t>
              </a:r>
              <a:endParaRPr lang="zh-CN" altLang="en-US" sz="2000" dirty="0">
                <a:solidFill>
                  <a:schemeClr val="bg1"/>
                </a:solidFill>
                <a:latin typeface="Comic Sans MS" panose="030F0702030302020204" pitchFamily="66" charset="0"/>
                <a:ea typeface="华文行楷" panose="02010800040101010101" pitchFamily="2" charset="-122"/>
              </a:endParaRPr>
            </a:p>
          </p:txBody>
        </p:sp>
        <p:sp>
          <p:nvSpPr>
            <p:cNvPr id="25615" name="Rectangle 15"/>
            <p:cNvSpPr/>
            <p:nvPr/>
          </p:nvSpPr>
          <p:spPr>
            <a:xfrm>
              <a:off x="2426" y="527"/>
              <a:ext cx="726" cy="395"/>
            </a:xfrm>
            <a:prstGeom prst="rect">
              <a:avLst/>
            </a:prstGeom>
            <a:solidFill>
              <a:srgbClr val="66FF33"/>
            </a:solidFill>
            <a:ln w="9525" cap="flat" cmpd="sng">
              <a:solidFill>
                <a:schemeClr val="folHlink"/>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bg1"/>
                  </a:solidFill>
                  <a:latin typeface="Comic Sans MS" panose="030F0702030302020204" pitchFamily="66" charset="0"/>
                  <a:ea typeface="华文行楷" panose="02010800040101010101" pitchFamily="2" charset="-122"/>
                </a:rPr>
                <a:t>直接融资</a:t>
              </a:r>
              <a:endParaRPr lang="zh-CN" altLang="en-US" sz="2000" dirty="0">
                <a:solidFill>
                  <a:schemeClr val="bg1"/>
                </a:solidFill>
                <a:latin typeface="Comic Sans MS" panose="030F0702030302020204" pitchFamily="66" charset="0"/>
                <a:ea typeface="华文行楷" panose="02010800040101010101" pitchFamily="2" charset="-122"/>
              </a:endParaRPr>
            </a:p>
          </p:txBody>
        </p:sp>
        <p:sp>
          <p:nvSpPr>
            <p:cNvPr id="25616" name="Rectangle 16"/>
            <p:cNvSpPr/>
            <p:nvPr/>
          </p:nvSpPr>
          <p:spPr>
            <a:xfrm>
              <a:off x="2472" y="3067"/>
              <a:ext cx="680" cy="408"/>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bg1"/>
                  </a:solidFill>
                  <a:latin typeface="Comic Sans MS" panose="030F0702030302020204" pitchFamily="66" charset="0"/>
                  <a:ea typeface="华文行楷" panose="02010800040101010101" pitchFamily="2" charset="-122"/>
                </a:rPr>
                <a:t>直接融资</a:t>
              </a:r>
              <a:endParaRPr lang="zh-CN" altLang="en-US" sz="2000" dirty="0">
                <a:solidFill>
                  <a:schemeClr val="bg1"/>
                </a:solidFill>
                <a:latin typeface="Comic Sans MS" panose="030F0702030302020204" pitchFamily="66" charset="0"/>
                <a:ea typeface="华文行楷" panose="02010800040101010101" pitchFamily="2" charset="-122"/>
              </a:endParaRPr>
            </a:p>
          </p:txBody>
        </p:sp>
        <p:sp>
          <p:nvSpPr>
            <p:cNvPr id="25617" name="Rectangle 17"/>
            <p:cNvSpPr/>
            <p:nvPr/>
          </p:nvSpPr>
          <p:spPr>
            <a:xfrm>
              <a:off x="1474" y="2024"/>
              <a:ext cx="576" cy="317"/>
            </a:xfrm>
            <a:prstGeom prst="rect">
              <a:avLst/>
            </a:prstGeom>
            <a:solidFill>
              <a:srgbClr val="0083CC"/>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存款</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18" name="Rectangle 18"/>
            <p:cNvSpPr/>
            <p:nvPr/>
          </p:nvSpPr>
          <p:spPr>
            <a:xfrm>
              <a:off x="3456" y="2016"/>
              <a:ext cx="576" cy="317"/>
            </a:xfrm>
            <a:prstGeom prst="rect">
              <a:avLst/>
            </a:prstGeom>
            <a:solidFill>
              <a:srgbClr val="0083CC"/>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贷款</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19" name="Line 19"/>
            <p:cNvSpPr/>
            <p:nvPr/>
          </p:nvSpPr>
          <p:spPr>
            <a:xfrm flipH="1" flipV="1">
              <a:off x="5193" y="799"/>
              <a:ext cx="0" cy="862"/>
            </a:xfrm>
            <a:prstGeom prst="line">
              <a:avLst/>
            </a:prstGeom>
            <a:ln w="9525" cap="flat" cmpd="sng">
              <a:solidFill>
                <a:schemeClr val="folHlink"/>
              </a:solidFill>
              <a:prstDash val="solid"/>
              <a:headEnd type="none" w="med" len="med"/>
              <a:tailEnd type="triangle" w="med" len="med"/>
            </a:ln>
          </p:spPr>
        </p:sp>
        <p:sp>
          <p:nvSpPr>
            <p:cNvPr id="25620" name="Line 20"/>
            <p:cNvSpPr/>
            <p:nvPr/>
          </p:nvSpPr>
          <p:spPr>
            <a:xfrm flipH="1">
              <a:off x="431" y="754"/>
              <a:ext cx="1995" cy="0"/>
            </a:xfrm>
            <a:prstGeom prst="line">
              <a:avLst/>
            </a:prstGeom>
            <a:ln w="9525" cap="flat" cmpd="sng">
              <a:solidFill>
                <a:schemeClr val="folHlink"/>
              </a:solidFill>
              <a:prstDash val="solid"/>
              <a:headEnd type="none" w="med" len="med"/>
              <a:tailEnd type="triangle" w="med" len="med"/>
            </a:ln>
          </p:spPr>
        </p:sp>
        <p:sp>
          <p:nvSpPr>
            <p:cNvPr id="25621" name="Line 21"/>
            <p:cNvSpPr/>
            <p:nvPr/>
          </p:nvSpPr>
          <p:spPr>
            <a:xfrm flipH="1">
              <a:off x="3152" y="3249"/>
              <a:ext cx="2087" cy="0"/>
            </a:xfrm>
            <a:prstGeom prst="line">
              <a:avLst/>
            </a:prstGeom>
            <a:ln w="9525" cap="flat" cmpd="sng">
              <a:solidFill>
                <a:schemeClr val="folHlink"/>
              </a:solidFill>
              <a:prstDash val="solid"/>
              <a:headEnd type="none" w="med" len="med"/>
              <a:tailEnd type="triangle" w="med" len="med"/>
            </a:ln>
          </p:spPr>
        </p:sp>
        <p:sp>
          <p:nvSpPr>
            <p:cNvPr id="25622" name="Line 22"/>
            <p:cNvSpPr/>
            <p:nvPr/>
          </p:nvSpPr>
          <p:spPr>
            <a:xfrm flipH="1">
              <a:off x="385" y="3294"/>
              <a:ext cx="1996" cy="0"/>
            </a:xfrm>
            <a:prstGeom prst="line">
              <a:avLst/>
            </a:prstGeom>
            <a:ln w="9525" cap="flat" cmpd="sng">
              <a:solidFill>
                <a:schemeClr val="folHlink"/>
              </a:solidFill>
              <a:prstDash val="solid"/>
              <a:headEnd type="none" w="med" len="med"/>
              <a:tailEnd type="triangle" w="med" len="med"/>
            </a:ln>
          </p:spPr>
        </p:sp>
        <p:sp>
          <p:nvSpPr>
            <p:cNvPr id="25623" name="Line 23"/>
            <p:cNvSpPr/>
            <p:nvPr/>
          </p:nvSpPr>
          <p:spPr>
            <a:xfrm flipV="1">
              <a:off x="385" y="2296"/>
              <a:ext cx="0" cy="998"/>
            </a:xfrm>
            <a:prstGeom prst="line">
              <a:avLst/>
            </a:prstGeom>
            <a:ln w="9525" cap="flat" cmpd="sng">
              <a:solidFill>
                <a:schemeClr val="folHlink"/>
              </a:solidFill>
              <a:prstDash val="solid"/>
              <a:headEnd type="none" w="med" len="med"/>
              <a:tailEnd type="triangle" w="med" len="med"/>
            </a:ln>
          </p:spPr>
        </p:sp>
        <p:sp>
          <p:nvSpPr>
            <p:cNvPr id="25624" name="Line 24"/>
            <p:cNvSpPr/>
            <p:nvPr/>
          </p:nvSpPr>
          <p:spPr>
            <a:xfrm>
              <a:off x="385" y="754"/>
              <a:ext cx="0" cy="907"/>
            </a:xfrm>
            <a:prstGeom prst="line">
              <a:avLst/>
            </a:prstGeom>
            <a:ln w="9525" cap="flat" cmpd="sng">
              <a:solidFill>
                <a:schemeClr val="folHlink"/>
              </a:solidFill>
              <a:prstDash val="solid"/>
              <a:headEnd type="none" w="med" len="med"/>
              <a:tailEnd type="triangle" w="med" len="med"/>
            </a:ln>
          </p:spPr>
        </p:sp>
        <p:sp>
          <p:nvSpPr>
            <p:cNvPr id="25625" name="Line 25"/>
            <p:cNvSpPr/>
            <p:nvPr/>
          </p:nvSpPr>
          <p:spPr>
            <a:xfrm flipH="1">
              <a:off x="3152" y="754"/>
              <a:ext cx="2041" cy="0"/>
            </a:xfrm>
            <a:prstGeom prst="line">
              <a:avLst/>
            </a:prstGeom>
            <a:ln w="9525" cap="flat" cmpd="sng">
              <a:solidFill>
                <a:schemeClr val="folHlink"/>
              </a:solidFill>
              <a:prstDash val="solid"/>
              <a:headEnd type="none" w="med" len="med"/>
              <a:tailEnd type="triangle" w="med" len="med"/>
            </a:ln>
          </p:spPr>
        </p:sp>
        <p:sp>
          <p:nvSpPr>
            <p:cNvPr id="25626" name="Oval 26"/>
            <p:cNvSpPr/>
            <p:nvPr/>
          </p:nvSpPr>
          <p:spPr>
            <a:xfrm>
              <a:off x="612" y="1026"/>
              <a:ext cx="454" cy="576"/>
            </a:xfrm>
            <a:prstGeom prst="ellipse">
              <a:avLst/>
            </a:prstGeom>
            <a:solidFill>
              <a:srgbClr val="0083CC"/>
            </a:solidFill>
            <a:ln w="9525" cap="flat" cmpd="sng">
              <a:solidFill>
                <a:schemeClr val="tx1"/>
              </a:solidFill>
              <a:prstDash val="solid"/>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资金</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27" name="Oval 27"/>
            <p:cNvSpPr/>
            <p:nvPr/>
          </p:nvSpPr>
          <p:spPr>
            <a:xfrm>
              <a:off x="5184" y="1071"/>
              <a:ext cx="418" cy="576"/>
            </a:xfrm>
            <a:prstGeom prst="ellipse">
              <a:avLst/>
            </a:prstGeom>
            <a:solidFill>
              <a:srgbClr val="0083CC"/>
            </a:solidFill>
            <a:ln w="9525" cap="flat" cmpd="sng">
              <a:solidFill>
                <a:schemeClr val="tx1"/>
              </a:solidFill>
              <a:prstDash val="solid"/>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股票</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28" name="Oval 28"/>
            <p:cNvSpPr/>
            <p:nvPr/>
          </p:nvSpPr>
          <p:spPr>
            <a:xfrm>
              <a:off x="612" y="2432"/>
              <a:ext cx="454" cy="576"/>
            </a:xfrm>
            <a:prstGeom prst="ellipse">
              <a:avLst/>
            </a:prstGeom>
            <a:solidFill>
              <a:srgbClr val="0083CC"/>
            </a:solidFill>
            <a:ln w="9525" cap="flat" cmpd="sng">
              <a:solidFill>
                <a:schemeClr val="tx1"/>
              </a:solidFill>
              <a:prstDash val="solid"/>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资金</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29" name="Oval 29"/>
            <p:cNvSpPr/>
            <p:nvPr/>
          </p:nvSpPr>
          <p:spPr>
            <a:xfrm>
              <a:off x="5193" y="2387"/>
              <a:ext cx="418" cy="576"/>
            </a:xfrm>
            <a:prstGeom prst="ellipse">
              <a:avLst/>
            </a:prstGeom>
            <a:solidFill>
              <a:srgbClr val="0083CC"/>
            </a:solidFill>
            <a:ln w="9525" cap="flat" cmpd="sng">
              <a:solidFill>
                <a:schemeClr val="tx1"/>
              </a:solidFill>
              <a:prstDash val="solid"/>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tx1"/>
                  </a:solidFill>
                  <a:latin typeface="Comic Sans MS" panose="030F0702030302020204" pitchFamily="66" charset="0"/>
                  <a:ea typeface="华文行楷" panose="02010800040101010101" pitchFamily="2" charset="-122"/>
                </a:rPr>
                <a:t>债券</a:t>
              </a:r>
              <a:endParaRPr lang="zh-CN" altLang="en-US" sz="2000" dirty="0">
                <a:solidFill>
                  <a:schemeClr val="tx1"/>
                </a:solidFill>
                <a:latin typeface="Comic Sans MS" panose="030F0702030302020204" pitchFamily="66" charset="0"/>
                <a:ea typeface="华文行楷" panose="02010800040101010101" pitchFamily="2" charset="-122"/>
              </a:endParaRPr>
            </a:p>
          </p:txBody>
        </p:sp>
        <p:sp>
          <p:nvSpPr>
            <p:cNvPr id="25630" name="Rectangle 30"/>
            <p:cNvSpPr/>
            <p:nvPr/>
          </p:nvSpPr>
          <p:spPr>
            <a:xfrm>
              <a:off x="3379" y="1570"/>
              <a:ext cx="681" cy="440"/>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000" dirty="0">
                  <a:solidFill>
                    <a:schemeClr val="bg1"/>
                  </a:solidFill>
                  <a:latin typeface="Comic Sans MS" panose="030F0702030302020204" pitchFamily="66" charset="0"/>
                  <a:ea typeface="华文行楷" panose="02010800040101010101" pitchFamily="2" charset="-122"/>
                </a:rPr>
                <a:t>间接融资</a:t>
              </a:r>
              <a:endParaRPr lang="zh-CN" altLang="en-US" sz="2000" dirty="0">
                <a:solidFill>
                  <a:schemeClr val="bg1"/>
                </a:solidFill>
                <a:latin typeface="Comic Sans MS" panose="030F0702030302020204" pitchFamily="66" charset="0"/>
                <a:ea typeface="华文行楷" panose="02010800040101010101" pitchFamily="2" charset="-122"/>
              </a:endParaRPr>
            </a:p>
          </p:txBody>
        </p:sp>
        <p:sp>
          <p:nvSpPr>
            <p:cNvPr id="25631" name="Rectangle 31"/>
            <p:cNvSpPr/>
            <p:nvPr/>
          </p:nvSpPr>
          <p:spPr>
            <a:xfrm>
              <a:off x="0" y="1706"/>
              <a:ext cx="1292" cy="5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800" dirty="0">
                  <a:solidFill>
                    <a:schemeClr val="tx1"/>
                  </a:solidFill>
                  <a:latin typeface="Comic Sans MS" panose="030F0702030302020204" pitchFamily="66" charset="0"/>
                  <a:ea typeface="华文行楷" panose="02010800040101010101" pitchFamily="2" charset="-122"/>
                </a:rPr>
                <a:t>资金供给者</a:t>
              </a:r>
              <a:endParaRPr lang="zh-CN" altLang="en-US" sz="2800" dirty="0">
                <a:solidFill>
                  <a:schemeClr val="tx1"/>
                </a:solidFill>
                <a:latin typeface="Comic Sans MS" panose="030F0702030302020204" pitchFamily="66" charset="0"/>
                <a:ea typeface="华文行楷" panose="02010800040101010101" pitchFamily="2" charset="-122"/>
              </a:endParaRPr>
            </a:p>
          </p:txBody>
        </p:sp>
        <p:sp>
          <p:nvSpPr>
            <p:cNvPr id="25632" name="Rectangle 32"/>
            <p:cNvSpPr/>
            <p:nvPr/>
          </p:nvSpPr>
          <p:spPr>
            <a:xfrm>
              <a:off x="4241" y="1706"/>
              <a:ext cx="1519" cy="5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lnSpc>
                  <a:spcPct val="100000"/>
                </a:lnSpc>
                <a:spcBef>
                  <a:spcPct val="0"/>
                </a:spcBef>
                <a:buSzTx/>
                <a:buNone/>
              </a:pPr>
              <a:r>
                <a:rPr lang="zh-CN" altLang="en-US" sz="2800" dirty="0">
                  <a:solidFill>
                    <a:schemeClr val="tx1"/>
                  </a:solidFill>
                  <a:latin typeface="Comic Sans MS" panose="030F0702030302020204" pitchFamily="66" charset="0"/>
                  <a:ea typeface="华文行楷" panose="02010800040101010101" pitchFamily="2" charset="-122"/>
                </a:rPr>
                <a:t>资金需求者</a:t>
              </a:r>
              <a:endParaRPr lang="zh-CN" altLang="en-US" sz="2800" dirty="0">
                <a:solidFill>
                  <a:schemeClr val="tx1"/>
                </a:solidFill>
                <a:latin typeface="Comic Sans MS" panose="030F0702030302020204" pitchFamily="66" charset="0"/>
                <a:ea typeface="华文行楷" panose="02010800040101010101" pitchFamily="2"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6" name="Picture 2" descr="E:\交大201709\备课\浙大\经济法（法学院本科）\Map_of_the_Legal_systems_of_the_world_(en).png"/>
          <p:cNvPicPr>
            <a:picLocks noChangeAspect="1"/>
          </p:cNvPicPr>
          <p:nvPr/>
        </p:nvPicPr>
        <p:blipFill>
          <a:blip r:embed="rId1"/>
          <a:stretch>
            <a:fillRect/>
          </a:stretch>
        </p:blipFill>
        <p:spPr>
          <a:xfrm>
            <a:off x="0" y="690563"/>
            <a:ext cx="9144000" cy="4795837"/>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650"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银行（</a:t>
            </a:r>
            <a:r>
              <a:rPr lang="en-US" altLang="zh-CN" dirty="0">
                <a:solidFill>
                  <a:schemeClr val="tx1"/>
                </a:solidFill>
              </a:rPr>
              <a:t>Bank</a:t>
            </a:r>
            <a:r>
              <a:rPr lang="zh-CN" altLang="en-US" dirty="0">
                <a:solidFill>
                  <a:schemeClr val="tx1"/>
                </a:solidFill>
              </a:rPr>
              <a:t>）的起源</a:t>
            </a:r>
            <a:endParaRPr lang="zh-CN" altLang="en-US" dirty="0">
              <a:solidFill>
                <a:schemeClr val="tx1"/>
              </a:solidFill>
            </a:endParaRPr>
          </a:p>
        </p:txBody>
      </p:sp>
      <p:sp>
        <p:nvSpPr>
          <p:cNvPr id="27651"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27652" name="Text Box 5"/>
          <p:cNvSpPr txBox="1"/>
          <p:nvPr/>
        </p:nvSpPr>
        <p:spPr>
          <a:xfrm>
            <a:off x="762000" y="1524000"/>
            <a:ext cx="2286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b="0" dirty="0">
                <a:solidFill>
                  <a:schemeClr val="tx1"/>
                </a:solidFill>
                <a:ea typeface="宋体" panose="02010600030101010101" pitchFamily="2" charset="-122"/>
              </a:rPr>
              <a:t>  </a:t>
            </a:r>
            <a:endParaRPr lang="en-US" altLang="zh-CN" sz="1800" b="0" dirty="0">
              <a:solidFill>
                <a:schemeClr val="tx1"/>
              </a:solidFill>
              <a:ea typeface="宋体" panose="02010600030101010101" pitchFamily="2" charset="-122"/>
            </a:endParaRPr>
          </a:p>
        </p:txBody>
      </p:sp>
      <p:pic>
        <p:nvPicPr>
          <p:cNvPr id="223246" name="Picture 14" descr="15世纪，两名意大利佛罗伦萨放债人在铺着刺绣桌布的柜台上进行交易。这种柜台被叫做工作台，意大利语称为“banchi”，“银行”一词由此得来"/>
          <p:cNvPicPr>
            <a:picLocks noChangeAspect="1"/>
          </p:cNvPicPr>
          <p:nvPr/>
        </p:nvPicPr>
        <p:blipFill>
          <a:blip r:embed="rId2"/>
          <a:stretch>
            <a:fillRect/>
          </a:stretch>
        </p:blipFill>
        <p:spPr>
          <a:xfrm>
            <a:off x="533400" y="1600200"/>
            <a:ext cx="4419600" cy="3871913"/>
          </a:xfrm>
          <a:prstGeom prst="rect">
            <a:avLst/>
          </a:prstGeom>
          <a:noFill/>
          <a:ln w="9525">
            <a:noFill/>
          </a:ln>
        </p:spPr>
      </p:pic>
      <p:pic>
        <p:nvPicPr>
          <p:cNvPr id="223247" name="Picture 15" descr="Banco"/>
          <p:cNvPicPr>
            <a:picLocks noChangeAspect="1"/>
          </p:cNvPicPr>
          <p:nvPr/>
        </p:nvPicPr>
        <p:blipFill>
          <a:blip r:embed="rId3"/>
          <a:stretch>
            <a:fillRect/>
          </a:stretch>
        </p:blipFill>
        <p:spPr>
          <a:xfrm>
            <a:off x="4800600" y="1219200"/>
            <a:ext cx="3429000" cy="4572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3246"/>
                                        </p:tgtEl>
                                        <p:attrNameLst>
                                          <p:attrName>style.visibility</p:attrName>
                                        </p:attrNameLst>
                                      </p:cBhvr>
                                      <p:to>
                                        <p:strVal val="visible"/>
                                      </p:to>
                                    </p:set>
                                    <p:animEffect transition="in" filter="blinds(horizontal)">
                                      <p:cBhvr>
                                        <p:cTn id="7" dur="500"/>
                                        <p:tgtEl>
                                          <p:spTgt spid="22324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23247"/>
                                        </p:tgtEl>
                                        <p:attrNameLst>
                                          <p:attrName>style.visibility</p:attrName>
                                        </p:attrNameLst>
                                      </p:cBhvr>
                                      <p:to>
                                        <p:strVal val="visible"/>
                                      </p:to>
                                    </p:set>
                                    <p:animEffect transition="in" filter="box(in)">
                                      <p:cBhvr>
                                        <p:cTn id="12" dur="500"/>
                                        <p:tgtEl>
                                          <p:spTgt spid="223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674"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银行的起源</a:t>
            </a:r>
            <a:endParaRPr lang="zh-CN" altLang="en-US" dirty="0">
              <a:solidFill>
                <a:schemeClr val="tx1"/>
              </a:solidFill>
            </a:endParaRPr>
          </a:p>
        </p:txBody>
      </p:sp>
      <p:sp>
        <p:nvSpPr>
          <p:cNvPr id="28675"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38276" name="Text Box 4"/>
          <p:cNvSpPr txBox="1"/>
          <p:nvPr/>
        </p:nvSpPr>
        <p:spPr>
          <a:xfrm>
            <a:off x="2362200" y="1524000"/>
            <a:ext cx="5486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第一家股份制银行：英格兰银行（</a:t>
            </a:r>
            <a:r>
              <a:rPr lang="en-US" altLang="zh-CN" sz="1800" dirty="0">
                <a:solidFill>
                  <a:schemeClr val="tx1"/>
                </a:solidFill>
                <a:ea typeface="宋体" panose="02010600030101010101" pitchFamily="2" charset="-122"/>
              </a:rPr>
              <a:t>1694</a:t>
            </a:r>
            <a:r>
              <a:rPr lang="zh-CN" altLang="en-US" sz="1800" dirty="0">
                <a:solidFill>
                  <a:schemeClr val="tx1"/>
                </a:solidFill>
                <a:ea typeface="宋体" panose="02010600030101010101" pitchFamily="2" charset="-122"/>
              </a:rPr>
              <a:t>年）</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pic>
        <p:nvPicPr>
          <p:cNvPr id="438284" name="Picture 12" descr="英格兰银行"/>
          <p:cNvPicPr>
            <a:picLocks noChangeAspect="1"/>
          </p:cNvPicPr>
          <p:nvPr/>
        </p:nvPicPr>
        <p:blipFill>
          <a:blip r:embed="rId2"/>
          <a:stretch>
            <a:fillRect/>
          </a:stretch>
        </p:blipFill>
        <p:spPr>
          <a:xfrm>
            <a:off x="457200" y="2057400"/>
            <a:ext cx="5029200" cy="3659188"/>
          </a:xfrm>
          <a:prstGeom prst="rect">
            <a:avLst/>
          </a:prstGeom>
          <a:noFill/>
          <a:ln w="9525">
            <a:noFill/>
          </a:ln>
        </p:spPr>
      </p:pic>
      <p:pic>
        <p:nvPicPr>
          <p:cNvPr id="438286" name="Picture 14" descr="1765年25英镑"/>
          <p:cNvPicPr>
            <a:picLocks noChangeAspect="1"/>
          </p:cNvPicPr>
          <p:nvPr/>
        </p:nvPicPr>
        <p:blipFill>
          <a:blip r:embed="rId3"/>
          <a:stretch>
            <a:fillRect/>
          </a:stretch>
        </p:blipFill>
        <p:spPr>
          <a:xfrm>
            <a:off x="3276600" y="2316163"/>
            <a:ext cx="5638800" cy="3400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38276"/>
                                        </p:tgtEl>
                                        <p:attrNameLst>
                                          <p:attrName>style.visibility</p:attrName>
                                        </p:attrNameLst>
                                      </p:cBhvr>
                                      <p:to>
                                        <p:strVal val="visible"/>
                                      </p:to>
                                    </p:set>
                                    <p:animEffect transition="in" filter="box(in)">
                                      <p:cBhvr>
                                        <p:cTn id="7" dur="500"/>
                                        <p:tgtEl>
                                          <p:spTgt spid="43827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38284"/>
                                        </p:tgtEl>
                                        <p:attrNameLst>
                                          <p:attrName>style.visibility</p:attrName>
                                        </p:attrNameLst>
                                      </p:cBhvr>
                                      <p:to>
                                        <p:strVal val="visible"/>
                                      </p:to>
                                    </p:set>
                                    <p:animEffect transition="in" filter="box(in)">
                                      <p:cBhvr>
                                        <p:cTn id="12" dur="500"/>
                                        <p:tgtEl>
                                          <p:spTgt spid="43828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38286"/>
                                        </p:tgtEl>
                                        <p:attrNameLst>
                                          <p:attrName>style.visibility</p:attrName>
                                        </p:attrNameLst>
                                      </p:cBhvr>
                                      <p:to>
                                        <p:strVal val="visible"/>
                                      </p:to>
                                    </p:set>
                                    <p:animEffect transition="in" filter="checkerboard(across)">
                                      <p:cBhvr>
                                        <p:cTn id="17" dur="500"/>
                                        <p:tgtEl>
                                          <p:spTgt spid="438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698" name="Rectangle 2"/>
          <p:cNvSpPr>
            <a:spLocks noGrp="1"/>
          </p:cNvSpPr>
          <p:nvPr>
            <p:ph type="title"/>
          </p:nvPr>
        </p:nvSpPr>
        <p:spPr>
          <a:xfrm>
            <a:off x="2057400" y="381000"/>
            <a:ext cx="5410200" cy="688975"/>
          </a:xfrm>
          <a:ln/>
        </p:spPr>
        <p:txBody>
          <a:bodyPr vert="horz" wrap="square" lIns="91440" tIns="36000" rIns="91440" bIns="45720" anchor="b" anchorCtr="1"/>
          <a:p>
            <a:r>
              <a:rPr lang="zh-CN" altLang="en-US" dirty="0">
                <a:solidFill>
                  <a:schemeClr val="tx1"/>
                </a:solidFill>
              </a:rPr>
              <a:t>中国的商业银行</a:t>
            </a:r>
            <a:endParaRPr lang="zh-CN" altLang="en-US" dirty="0">
              <a:solidFill>
                <a:schemeClr val="tx1"/>
              </a:solidFill>
            </a:endParaRPr>
          </a:p>
        </p:txBody>
      </p:sp>
      <p:sp>
        <p:nvSpPr>
          <p:cNvPr id="29699"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2372" name="Text Box 4"/>
          <p:cNvSpPr txBox="1"/>
          <p:nvPr/>
        </p:nvSpPr>
        <p:spPr>
          <a:xfrm>
            <a:off x="762000" y="1524000"/>
            <a:ext cx="5943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五大银行：工、农、中、建、交</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42373" name="Text Box 5"/>
          <p:cNvSpPr txBox="1"/>
          <p:nvPr/>
        </p:nvSpPr>
        <p:spPr>
          <a:xfrm>
            <a:off x="762000" y="2057400"/>
            <a:ext cx="6629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股份制商业银行：浦发银行、民生、深发展、光大</a:t>
            </a:r>
            <a:endParaRPr lang="zh-CN" altLang="en-US" sz="1800" dirty="0">
              <a:solidFill>
                <a:schemeClr val="tx1"/>
              </a:solidFill>
              <a:ea typeface="宋体" panose="02010600030101010101" pitchFamily="2" charset="-122"/>
            </a:endParaRPr>
          </a:p>
        </p:txBody>
      </p:sp>
      <p:sp>
        <p:nvSpPr>
          <p:cNvPr id="442374" name="Text Box 6"/>
          <p:cNvSpPr txBox="1"/>
          <p:nvPr/>
        </p:nvSpPr>
        <p:spPr>
          <a:xfrm>
            <a:off x="762000" y="25908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城市商业银行</a:t>
            </a:r>
            <a:endParaRPr lang="zh-CN" altLang="en-US" sz="1800" dirty="0">
              <a:solidFill>
                <a:schemeClr val="tx1"/>
              </a:solidFill>
              <a:ea typeface="宋体" panose="02010600030101010101" pitchFamily="2" charset="-122"/>
            </a:endParaRPr>
          </a:p>
        </p:txBody>
      </p:sp>
      <p:sp>
        <p:nvSpPr>
          <p:cNvPr id="442375" name="Text Box 7"/>
          <p:cNvSpPr txBox="1"/>
          <p:nvPr/>
        </p:nvSpPr>
        <p:spPr>
          <a:xfrm>
            <a:off x="762000" y="3124200"/>
            <a:ext cx="3733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农村信用社、村镇银行</a:t>
            </a:r>
            <a:endParaRPr lang="zh-CN" altLang="en-US" sz="1800" dirty="0">
              <a:solidFill>
                <a:schemeClr val="tx1"/>
              </a:solidFill>
              <a:ea typeface="宋体" panose="02010600030101010101" pitchFamily="2" charset="-122"/>
            </a:endParaRPr>
          </a:p>
        </p:txBody>
      </p:sp>
      <p:sp>
        <p:nvSpPr>
          <p:cNvPr id="442376" name="Text Box 8"/>
          <p:cNvSpPr txBox="1"/>
          <p:nvPr/>
        </p:nvSpPr>
        <p:spPr>
          <a:xfrm>
            <a:off x="762000" y="3657600"/>
            <a:ext cx="3124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外资法人银行</a:t>
            </a:r>
            <a:endParaRPr lang="zh-CN" altLang="en-US" sz="1800" dirty="0">
              <a:solidFill>
                <a:schemeClr val="tx1"/>
              </a:solidFill>
              <a:ea typeface="宋体" panose="02010600030101010101" pitchFamily="2" charset="-122"/>
            </a:endParaRPr>
          </a:p>
        </p:txBody>
      </p:sp>
      <p:sp>
        <p:nvSpPr>
          <p:cNvPr id="442377" name="Text Box 9"/>
          <p:cNvSpPr txBox="1"/>
          <p:nvPr/>
        </p:nvSpPr>
        <p:spPr>
          <a:xfrm>
            <a:off x="762000" y="42672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外资银行在华分支机构</a:t>
            </a:r>
            <a:endParaRPr lang="zh-CN" altLang="en-US" sz="1800" dirty="0">
              <a:solidFill>
                <a:schemeClr val="tx1"/>
              </a:solidFill>
              <a:ea typeface="宋体" panose="02010600030101010101" pitchFamily="2" charset="-122"/>
            </a:endParaRPr>
          </a:p>
        </p:txBody>
      </p:sp>
      <p:sp>
        <p:nvSpPr>
          <p:cNvPr id="10" name="Text Box 9"/>
          <p:cNvSpPr txBox="1"/>
          <p:nvPr/>
        </p:nvSpPr>
        <p:spPr>
          <a:xfrm>
            <a:off x="838200" y="4953000"/>
            <a:ext cx="3200400" cy="371475"/>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中国人民银行？</a:t>
            </a:r>
            <a:endParaRPr lang="zh-CN" altLang="en-US" sz="18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2372"/>
                                        </p:tgtEl>
                                        <p:attrNameLst>
                                          <p:attrName>style.visibility</p:attrName>
                                        </p:attrNameLst>
                                      </p:cBhvr>
                                      <p:to>
                                        <p:strVal val="visible"/>
                                      </p:to>
                                    </p:set>
                                    <p:animEffect transition="in" filter="box(in)">
                                      <p:cBhvr>
                                        <p:cTn id="7" dur="500"/>
                                        <p:tgtEl>
                                          <p:spTgt spid="4423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2373"/>
                                        </p:tgtEl>
                                        <p:attrNameLst>
                                          <p:attrName>style.visibility</p:attrName>
                                        </p:attrNameLst>
                                      </p:cBhvr>
                                      <p:to>
                                        <p:strVal val="visible"/>
                                      </p:to>
                                    </p:set>
                                    <p:animEffect transition="in" filter="box(in)">
                                      <p:cBhvr>
                                        <p:cTn id="12" dur="500"/>
                                        <p:tgtEl>
                                          <p:spTgt spid="44237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2374"/>
                                        </p:tgtEl>
                                        <p:attrNameLst>
                                          <p:attrName>style.visibility</p:attrName>
                                        </p:attrNameLst>
                                      </p:cBhvr>
                                      <p:to>
                                        <p:strVal val="visible"/>
                                      </p:to>
                                    </p:set>
                                    <p:animEffect transition="in" filter="box(in)">
                                      <p:cBhvr>
                                        <p:cTn id="17" dur="500"/>
                                        <p:tgtEl>
                                          <p:spTgt spid="44237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2375"/>
                                        </p:tgtEl>
                                        <p:attrNameLst>
                                          <p:attrName>style.visibility</p:attrName>
                                        </p:attrNameLst>
                                      </p:cBhvr>
                                      <p:to>
                                        <p:strVal val="visible"/>
                                      </p:to>
                                    </p:set>
                                    <p:animEffect transition="in" filter="box(in)">
                                      <p:cBhvr>
                                        <p:cTn id="22" dur="500"/>
                                        <p:tgtEl>
                                          <p:spTgt spid="44237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2376"/>
                                        </p:tgtEl>
                                        <p:attrNameLst>
                                          <p:attrName>style.visibility</p:attrName>
                                        </p:attrNameLst>
                                      </p:cBhvr>
                                      <p:to>
                                        <p:strVal val="visible"/>
                                      </p:to>
                                    </p:set>
                                    <p:animEffect transition="in" filter="box(in)">
                                      <p:cBhvr>
                                        <p:cTn id="27" dur="500"/>
                                        <p:tgtEl>
                                          <p:spTgt spid="44237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2377"/>
                                        </p:tgtEl>
                                        <p:attrNameLst>
                                          <p:attrName>style.visibility</p:attrName>
                                        </p:attrNameLst>
                                      </p:cBhvr>
                                      <p:to>
                                        <p:strVal val="visible"/>
                                      </p:to>
                                    </p:set>
                                    <p:animEffect transition="in" filter="box(in)">
                                      <p:cBhvr>
                                        <p:cTn id="32" dur="500"/>
                                        <p:tgtEl>
                                          <p:spTgt spid="44237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in)">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p:bldP spid="442373" grpId="0"/>
      <p:bldP spid="442374" grpId="0"/>
      <p:bldP spid="442375" grpId="0"/>
      <p:bldP spid="442376" grpId="0"/>
      <p:bldP spid="442377"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22"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什么是商业银行？</a:t>
            </a:r>
            <a:endParaRPr lang="zh-CN" altLang="en-US" dirty="0">
              <a:solidFill>
                <a:schemeClr val="tx1"/>
              </a:solidFill>
            </a:endParaRPr>
          </a:p>
        </p:txBody>
      </p:sp>
      <p:sp>
        <p:nvSpPr>
          <p:cNvPr id="30723"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3396" name="Text Box 4"/>
          <p:cNvSpPr txBox="1"/>
          <p:nvPr/>
        </p:nvSpPr>
        <p:spPr>
          <a:xfrm>
            <a:off x="762000" y="1295400"/>
            <a:ext cx="7848600" cy="64135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商业银行法</a:t>
            </a:r>
            <a:r>
              <a:rPr lang="en-US" altLang="zh-CN" sz="1800" dirty="0">
                <a:solidFill>
                  <a:srgbClr val="FF0000"/>
                </a:solidFill>
                <a:ea typeface="宋体" panose="02010600030101010101" pitchFamily="2" charset="-122"/>
              </a:rPr>
              <a:t>》</a:t>
            </a:r>
            <a:r>
              <a:rPr lang="zh-CN" altLang="en-US" sz="1800" dirty="0">
                <a:solidFill>
                  <a:schemeClr val="tx1"/>
                </a:solidFill>
                <a:ea typeface="宋体" panose="02010600030101010101" pitchFamily="2" charset="-122"/>
              </a:rPr>
              <a:t>：本法所称的商业银行是指依照本法和</a:t>
            </a:r>
            <a:r>
              <a:rPr lang="en-US" altLang="zh-CN" sz="1800" dirty="0">
                <a:solidFill>
                  <a:schemeClr val="tx1"/>
                </a:solidFill>
                <a:ea typeface="宋体" panose="02010600030101010101" pitchFamily="2" charset="-122"/>
              </a:rPr>
              <a:t>《</a:t>
            </a:r>
            <a:r>
              <a:rPr lang="zh-CN" altLang="en-US" sz="1800" dirty="0">
                <a:solidFill>
                  <a:schemeClr val="tx1"/>
                </a:solidFill>
                <a:ea typeface="宋体" panose="02010600030101010101" pitchFamily="2" charset="-122"/>
              </a:rPr>
              <a:t>中华人民共和国公司法</a:t>
            </a:r>
            <a:r>
              <a:rPr lang="en-US" altLang="zh-CN" sz="1800" dirty="0">
                <a:solidFill>
                  <a:schemeClr val="tx1"/>
                </a:solidFill>
                <a:ea typeface="宋体" panose="02010600030101010101" pitchFamily="2" charset="-122"/>
              </a:rPr>
              <a:t>》</a:t>
            </a:r>
            <a:r>
              <a:rPr lang="zh-CN" altLang="en-US" sz="1800" dirty="0">
                <a:solidFill>
                  <a:schemeClr val="tx1"/>
                </a:solidFill>
                <a:ea typeface="宋体" panose="02010600030101010101" pitchFamily="2" charset="-122"/>
              </a:rPr>
              <a:t>设立的</a:t>
            </a:r>
            <a:r>
              <a:rPr lang="zh-CN" altLang="en-US" sz="1800" u="sng" dirty="0">
                <a:solidFill>
                  <a:schemeClr val="tx1"/>
                </a:solidFill>
                <a:ea typeface="宋体" panose="02010600030101010101" pitchFamily="2" charset="-122"/>
              </a:rPr>
              <a:t>吸收公众存款</a:t>
            </a:r>
            <a:r>
              <a:rPr lang="zh-CN" altLang="en-US" sz="1800" dirty="0">
                <a:solidFill>
                  <a:schemeClr val="tx1"/>
                </a:solidFill>
                <a:ea typeface="宋体" panose="02010600030101010101" pitchFamily="2" charset="-122"/>
              </a:rPr>
              <a:t>、</a:t>
            </a:r>
            <a:r>
              <a:rPr lang="zh-CN" altLang="en-US" sz="1800" u="sng" dirty="0">
                <a:solidFill>
                  <a:schemeClr val="tx1"/>
                </a:solidFill>
                <a:ea typeface="宋体" panose="02010600030101010101" pitchFamily="2" charset="-122"/>
              </a:rPr>
              <a:t>发放贷款</a:t>
            </a:r>
            <a:r>
              <a:rPr lang="zh-CN" altLang="en-US" sz="1800" dirty="0">
                <a:solidFill>
                  <a:schemeClr val="tx1"/>
                </a:solidFill>
                <a:ea typeface="宋体" panose="02010600030101010101" pitchFamily="2" charset="-122"/>
              </a:rPr>
              <a:t>、</a:t>
            </a:r>
            <a:r>
              <a:rPr lang="zh-CN" altLang="en-US" sz="1800" u="sng" dirty="0">
                <a:solidFill>
                  <a:schemeClr val="tx1"/>
                </a:solidFill>
                <a:ea typeface="宋体" panose="02010600030101010101" pitchFamily="2" charset="-122"/>
              </a:rPr>
              <a:t>办理结算</a:t>
            </a:r>
            <a:r>
              <a:rPr lang="zh-CN" altLang="en-US" sz="1800" dirty="0">
                <a:solidFill>
                  <a:schemeClr val="tx1"/>
                </a:solidFill>
                <a:ea typeface="宋体" panose="02010600030101010101" pitchFamily="2" charset="-122"/>
              </a:rPr>
              <a:t>等业务的企业法人。</a:t>
            </a:r>
            <a:r>
              <a:rPr lang="zh-CN" altLang="en-US" sz="1800" b="0" dirty="0">
                <a:solidFill>
                  <a:srgbClr val="F60404"/>
                </a:solidFill>
                <a:ea typeface="宋体" panose="02010600030101010101" pitchFamily="2" charset="-122"/>
              </a:rPr>
              <a:t> </a:t>
            </a:r>
            <a:r>
              <a:rPr lang="en-US" altLang="zh-CN" sz="1800" b="0" dirty="0">
                <a:solidFill>
                  <a:schemeClr val="tx1"/>
                </a:solidFill>
                <a:ea typeface="宋体" panose="02010600030101010101" pitchFamily="2" charset="-122"/>
              </a:rPr>
              <a:t>  </a:t>
            </a:r>
            <a:endParaRPr lang="en-US" altLang="zh-CN" sz="1800" b="0" dirty="0">
              <a:solidFill>
                <a:schemeClr val="tx1"/>
              </a:solidFill>
              <a:ea typeface="宋体" panose="02010600030101010101" pitchFamily="2" charset="-122"/>
            </a:endParaRPr>
          </a:p>
        </p:txBody>
      </p:sp>
      <p:sp>
        <p:nvSpPr>
          <p:cNvPr id="443397" name="Text Box 5"/>
          <p:cNvSpPr txBox="1"/>
          <p:nvPr/>
        </p:nvSpPr>
        <p:spPr>
          <a:xfrm>
            <a:off x="762000" y="2057400"/>
            <a:ext cx="6477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判断以下机构是否属于商业银行：</a:t>
            </a:r>
            <a:endParaRPr lang="zh-CN" altLang="en-US" sz="1800" dirty="0">
              <a:solidFill>
                <a:srgbClr val="003399"/>
              </a:solidFill>
              <a:ea typeface="宋体" panose="02010600030101010101" pitchFamily="2" charset="-122"/>
            </a:endParaRPr>
          </a:p>
        </p:txBody>
      </p:sp>
      <p:sp>
        <p:nvSpPr>
          <p:cNvPr id="443398" name="Text Box 6"/>
          <p:cNvSpPr txBox="1"/>
          <p:nvPr/>
        </p:nvSpPr>
        <p:spPr>
          <a:xfrm>
            <a:off x="762000" y="2590800"/>
            <a:ext cx="6096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投资银行、商人银行</a:t>
            </a:r>
            <a:endParaRPr lang="zh-CN" altLang="en-US" sz="1800" dirty="0">
              <a:solidFill>
                <a:schemeClr val="tx1"/>
              </a:solidFill>
              <a:ea typeface="宋体" panose="02010600030101010101" pitchFamily="2" charset="-122"/>
            </a:endParaRPr>
          </a:p>
        </p:txBody>
      </p:sp>
      <p:sp>
        <p:nvSpPr>
          <p:cNvPr id="443399" name="Text Box 7"/>
          <p:cNvSpPr txBox="1"/>
          <p:nvPr/>
        </p:nvSpPr>
        <p:spPr>
          <a:xfrm>
            <a:off x="762000" y="3200400"/>
            <a:ext cx="3733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信用合作社</a:t>
            </a:r>
            <a:endParaRPr lang="zh-CN" altLang="en-US" sz="1800" dirty="0">
              <a:solidFill>
                <a:schemeClr val="tx1"/>
              </a:solidFill>
              <a:ea typeface="宋体" panose="02010600030101010101" pitchFamily="2" charset="-122"/>
            </a:endParaRPr>
          </a:p>
        </p:txBody>
      </p:sp>
      <p:sp>
        <p:nvSpPr>
          <p:cNvPr id="443400" name="Text Box 8"/>
          <p:cNvSpPr txBox="1"/>
          <p:nvPr/>
        </p:nvSpPr>
        <p:spPr>
          <a:xfrm>
            <a:off x="762000" y="3733800"/>
            <a:ext cx="3124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小额贷款公司</a:t>
            </a:r>
            <a:endParaRPr lang="zh-CN" altLang="en-US" sz="1800" dirty="0">
              <a:solidFill>
                <a:schemeClr val="tx1"/>
              </a:solidFill>
              <a:ea typeface="宋体" panose="02010600030101010101" pitchFamily="2" charset="-122"/>
            </a:endParaRPr>
          </a:p>
        </p:txBody>
      </p:sp>
      <p:sp>
        <p:nvSpPr>
          <p:cNvPr id="443401" name="Text Box 9"/>
          <p:cNvSpPr txBox="1"/>
          <p:nvPr/>
        </p:nvSpPr>
        <p:spPr>
          <a:xfrm>
            <a:off x="762000" y="42672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信托投资公司</a:t>
            </a:r>
            <a:endParaRPr lang="zh-CN" altLang="en-US" sz="1800" dirty="0">
              <a:solidFill>
                <a:schemeClr val="tx1"/>
              </a:solidFill>
              <a:ea typeface="宋体" panose="02010600030101010101" pitchFamily="2" charset="-122"/>
            </a:endParaRPr>
          </a:p>
        </p:txBody>
      </p:sp>
      <p:sp>
        <p:nvSpPr>
          <p:cNvPr id="443402" name="Text Box 10"/>
          <p:cNvSpPr txBox="1"/>
          <p:nvPr/>
        </p:nvSpPr>
        <p:spPr>
          <a:xfrm>
            <a:off x="762000" y="4876800"/>
            <a:ext cx="7239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政策性银行：国家开发银行、中国进出口银行、中国农业发展银行</a:t>
            </a:r>
            <a:endParaRPr lang="zh-CN" altLang="en-US" sz="1800" dirty="0">
              <a:solidFill>
                <a:schemeClr val="tx1"/>
              </a:solidFill>
              <a:ea typeface="宋体" panose="02010600030101010101" pitchFamily="2" charset="-122"/>
            </a:endParaRPr>
          </a:p>
        </p:txBody>
      </p:sp>
      <p:sp>
        <p:nvSpPr>
          <p:cNvPr id="443403" name="Text Box 11"/>
          <p:cNvSpPr txBox="1"/>
          <p:nvPr/>
        </p:nvSpPr>
        <p:spPr>
          <a:xfrm>
            <a:off x="762000" y="5410200"/>
            <a:ext cx="5029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银行控股公司、金融控股公司</a:t>
            </a:r>
            <a:endParaRPr lang="zh-CN" altLang="en-US" sz="1800" dirty="0">
              <a:solidFill>
                <a:schemeClr val="tx1"/>
              </a:solidFill>
              <a:ea typeface="宋体" panose="02010600030101010101" pitchFamily="2" charset="-122"/>
            </a:endParaRPr>
          </a:p>
        </p:txBody>
      </p:sp>
      <p:sp>
        <p:nvSpPr>
          <p:cNvPr id="443404" name="Text Box 12"/>
          <p:cNvSpPr txBox="1"/>
          <p:nvPr/>
        </p:nvSpPr>
        <p:spPr>
          <a:xfrm>
            <a:off x="762000" y="5943600"/>
            <a:ext cx="5029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支付宝公司</a:t>
            </a:r>
            <a:endParaRPr lang="zh-CN" altLang="en-US" sz="1800" dirty="0">
              <a:solidFill>
                <a:schemeClr val="tx1"/>
              </a:solidFill>
              <a:ea typeface="宋体" panose="02010600030101010101" pitchFamily="2" charset="-122"/>
            </a:endParaRPr>
          </a:p>
        </p:txBody>
      </p:sp>
      <p:sp>
        <p:nvSpPr>
          <p:cNvPr id="443406" name="Text Box 14"/>
          <p:cNvSpPr txBox="1"/>
          <p:nvPr/>
        </p:nvSpPr>
        <p:spPr>
          <a:xfrm>
            <a:off x="3810000" y="2590800"/>
            <a:ext cx="4724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摩根斯坦利和高盛为什么要转型？</a:t>
            </a:r>
            <a:endParaRPr lang="zh-CN" altLang="en-US" sz="18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3396"/>
                                        </p:tgtEl>
                                        <p:attrNameLst>
                                          <p:attrName>style.visibility</p:attrName>
                                        </p:attrNameLst>
                                      </p:cBhvr>
                                      <p:to>
                                        <p:strVal val="visible"/>
                                      </p:to>
                                    </p:set>
                                    <p:animEffect transition="in" filter="box(in)">
                                      <p:cBhvr>
                                        <p:cTn id="7" dur="500"/>
                                        <p:tgtEl>
                                          <p:spTgt spid="44339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3397"/>
                                        </p:tgtEl>
                                        <p:attrNameLst>
                                          <p:attrName>style.visibility</p:attrName>
                                        </p:attrNameLst>
                                      </p:cBhvr>
                                      <p:to>
                                        <p:strVal val="visible"/>
                                      </p:to>
                                    </p:set>
                                    <p:animEffect transition="in" filter="box(in)">
                                      <p:cBhvr>
                                        <p:cTn id="12" dur="500"/>
                                        <p:tgtEl>
                                          <p:spTgt spid="44339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3398"/>
                                        </p:tgtEl>
                                        <p:attrNameLst>
                                          <p:attrName>style.visibility</p:attrName>
                                        </p:attrNameLst>
                                      </p:cBhvr>
                                      <p:to>
                                        <p:strVal val="visible"/>
                                      </p:to>
                                    </p:set>
                                    <p:animEffect transition="in" filter="box(in)">
                                      <p:cBhvr>
                                        <p:cTn id="17" dur="500"/>
                                        <p:tgtEl>
                                          <p:spTgt spid="44339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3406"/>
                                        </p:tgtEl>
                                        <p:attrNameLst>
                                          <p:attrName>style.visibility</p:attrName>
                                        </p:attrNameLst>
                                      </p:cBhvr>
                                      <p:to>
                                        <p:strVal val="visible"/>
                                      </p:to>
                                    </p:set>
                                    <p:animEffect transition="in" filter="box(in)">
                                      <p:cBhvr>
                                        <p:cTn id="22" dur="500"/>
                                        <p:tgtEl>
                                          <p:spTgt spid="44340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3399"/>
                                        </p:tgtEl>
                                        <p:attrNameLst>
                                          <p:attrName>style.visibility</p:attrName>
                                        </p:attrNameLst>
                                      </p:cBhvr>
                                      <p:to>
                                        <p:strVal val="visible"/>
                                      </p:to>
                                    </p:set>
                                    <p:animEffect transition="in" filter="box(in)">
                                      <p:cBhvr>
                                        <p:cTn id="27" dur="500"/>
                                        <p:tgtEl>
                                          <p:spTgt spid="44339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3400"/>
                                        </p:tgtEl>
                                        <p:attrNameLst>
                                          <p:attrName>style.visibility</p:attrName>
                                        </p:attrNameLst>
                                      </p:cBhvr>
                                      <p:to>
                                        <p:strVal val="visible"/>
                                      </p:to>
                                    </p:set>
                                    <p:animEffect transition="in" filter="box(in)">
                                      <p:cBhvr>
                                        <p:cTn id="32" dur="500"/>
                                        <p:tgtEl>
                                          <p:spTgt spid="44340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3401"/>
                                        </p:tgtEl>
                                        <p:attrNameLst>
                                          <p:attrName>style.visibility</p:attrName>
                                        </p:attrNameLst>
                                      </p:cBhvr>
                                      <p:to>
                                        <p:strVal val="visible"/>
                                      </p:to>
                                    </p:set>
                                    <p:animEffect transition="in" filter="box(in)">
                                      <p:cBhvr>
                                        <p:cTn id="37" dur="500"/>
                                        <p:tgtEl>
                                          <p:spTgt spid="44340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43402"/>
                                        </p:tgtEl>
                                        <p:attrNameLst>
                                          <p:attrName>style.visibility</p:attrName>
                                        </p:attrNameLst>
                                      </p:cBhvr>
                                      <p:to>
                                        <p:strVal val="visible"/>
                                      </p:to>
                                    </p:set>
                                    <p:animEffect transition="in" filter="box(in)">
                                      <p:cBhvr>
                                        <p:cTn id="42" dur="500"/>
                                        <p:tgtEl>
                                          <p:spTgt spid="44340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43403"/>
                                        </p:tgtEl>
                                        <p:attrNameLst>
                                          <p:attrName>style.visibility</p:attrName>
                                        </p:attrNameLst>
                                      </p:cBhvr>
                                      <p:to>
                                        <p:strVal val="visible"/>
                                      </p:to>
                                    </p:set>
                                    <p:animEffect transition="in" filter="box(in)">
                                      <p:cBhvr>
                                        <p:cTn id="47" dur="500"/>
                                        <p:tgtEl>
                                          <p:spTgt spid="44340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443404"/>
                                        </p:tgtEl>
                                        <p:attrNameLst>
                                          <p:attrName>style.visibility</p:attrName>
                                        </p:attrNameLst>
                                      </p:cBhvr>
                                      <p:to>
                                        <p:strVal val="visible"/>
                                      </p:to>
                                    </p:set>
                                    <p:animEffect transition="in" filter="box(in)">
                                      <p:cBhvr>
                                        <p:cTn id="52" dur="500"/>
                                        <p:tgtEl>
                                          <p:spTgt spid="443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6" grpId="0"/>
      <p:bldP spid="443397" grpId="0"/>
      <p:bldP spid="443398" grpId="0"/>
      <p:bldP spid="443399" grpId="0"/>
      <p:bldP spid="443400" grpId="0"/>
      <p:bldP spid="443401" grpId="0"/>
      <p:bldP spid="443402" grpId="0"/>
      <p:bldP spid="443403" grpId="0"/>
      <p:bldP spid="443404" grpId="0"/>
      <p:bldP spid="44340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746"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商业银行的本质特点</a:t>
            </a:r>
            <a:endParaRPr lang="zh-CN" altLang="en-US" dirty="0">
              <a:solidFill>
                <a:schemeClr val="tx1"/>
              </a:solidFill>
            </a:endParaRPr>
          </a:p>
        </p:txBody>
      </p:sp>
      <p:sp>
        <p:nvSpPr>
          <p:cNvPr id="31747"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4420" name="Text Box 4"/>
          <p:cNvSpPr txBox="1"/>
          <p:nvPr/>
        </p:nvSpPr>
        <p:spPr>
          <a:xfrm>
            <a:off x="762000" y="1524000"/>
            <a:ext cx="6096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rgbClr val="FF0000"/>
                </a:solidFill>
                <a:ea typeface="宋体" panose="02010600030101010101" pitchFamily="2" charset="-122"/>
              </a:rPr>
              <a:t>——</a:t>
            </a:r>
            <a:r>
              <a:rPr lang="zh-CN" altLang="en-US" sz="1800" dirty="0">
                <a:solidFill>
                  <a:srgbClr val="FF0000"/>
                </a:solidFill>
                <a:ea typeface="宋体" panose="02010600030101010101" pitchFamily="2" charset="-122"/>
              </a:rPr>
              <a:t>向公众吸收存款的机构</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44421" name="Text Box 5"/>
          <p:cNvSpPr txBox="1"/>
          <p:nvPr/>
        </p:nvSpPr>
        <p:spPr>
          <a:xfrm>
            <a:off x="762000" y="2057400"/>
            <a:ext cx="6781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美国</a:t>
            </a:r>
            <a:r>
              <a:rPr lang="zh-CN" altLang="en-US" sz="1800" dirty="0">
                <a:solidFill>
                  <a:schemeClr val="tx1"/>
                </a:solidFill>
                <a:ea typeface="宋体" panose="02010600030101010101" pitchFamily="2" charset="-122"/>
              </a:rPr>
              <a:t>：银行、银行控股公司、金融控股公司</a:t>
            </a:r>
            <a:endParaRPr lang="zh-CN" altLang="en-US" sz="1800" dirty="0">
              <a:solidFill>
                <a:schemeClr val="tx1"/>
              </a:solidFill>
              <a:ea typeface="宋体" panose="02010600030101010101" pitchFamily="2" charset="-122"/>
            </a:endParaRPr>
          </a:p>
        </p:txBody>
      </p:sp>
      <p:sp>
        <p:nvSpPr>
          <p:cNvPr id="444422" name="Text Box 6"/>
          <p:cNvSpPr txBox="1"/>
          <p:nvPr/>
        </p:nvSpPr>
        <p:spPr>
          <a:xfrm>
            <a:off x="762000" y="2590800"/>
            <a:ext cx="6934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英国</a:t>
            </a:r>
            <a:r>
              <a:rPr lang="zh-CN" altLang="en-US" sz="1800" dirty="0">
                <a:solidFill>
                  <a:schemeClr val="tx1"/>
                </a:solidFill>
                <a:ea typeface="宋体" panose="02010600030101010101" pitchFamily="2" charset="-122"/>
              </a:rPr>
              <a:t>：</a:t>
            </a:r>
            <a:r>
              <a:rPr lang="en-US" altLang="zh-CN" sz="1800" dirty="0">
                <a:solidFill>
                  <a:schemeClr val="tx1"/>
                </a:solidFill>
                <a:ea typeface="宋体" panose="02010600030101010101" pitchFamily="2" charset="-122"/>
              </a:rPr>
              <a:t>2000</a:t>
            </a:r>
            <a:r>
              <a:rPr lang="zh-CN" altLang="en-US" sz="1800" dirty="0">
                <a:solidFill>
                  <a:schemeClr val="tx1"/>
                </a:solidFill>
                <a:ea typeface="宋体" panose="02010600030101010101" pitchFamily="2" charset="-122"/>
              </a:rPr>
              <a:t>年</a:t>
            </a:r>
            <a:r>
              <a:rPr lang="en-US" altLang="zh-CN" sz="1800" dirty="0">
                <a:solidFill>
                  <a:schemeClr val="tx1"/>
                </a:solidFill>
                <a:ea typeface="宋体" panose="02010600030101010101" pitchFamily="2" charset="-122"/>
              </a:rPr>
              <a:t>FSMA——</a:t>
            </a:r>
            <a:r>
              <a:rPr lang="zh-CN" altLang="en-US" sz="1800" dirty="0">
                <a:solidFill>
                  <a:schemeClr val="tx1"/>
                </a:solidFill>
                <a:ea typeface="宋体" panose="02010600030101010101" pitchFamily="2" charset="-122"/>
              </a:rPr>
              <a:t>受监管的人（业务包含接受存款）</a:t>
            </a:r>
            <a:endParaRPr lang="zh-CN" altLang="en-US" sz="1800" dirty="0">
              <a:solidFill>
                <a:schemeClr val="tx1"/>
              </a:solidFill>
              <a:ea typeface="宋体" panose="02010600030101010101" pitchFamily="2" charset="-122"/>
            </a:endParaRPr>
          </a:p>
        </p:txBody>
      </p:sp>
      <p:sp>
        <p:nvSpPr>
          <p:cNvPr id="444423" name="Text Box 7"/>
          <p:cNvSpPr txBox="1"/>
          <p:nvPr/>
        </p:nvSpPr>
        <p:spPr>
          <a:xfrm>
            <a:off x="762000" y="3124200"/>
            <a:ext cx="6781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司法判例：银行的第一特征是吸收客户存款</a:t>
            </a:r>
            <a:endParaRPr lang="zh-CN" altLang="en-US" sz="1800" dirty="0">
              <a:solidFill>
                <a:schemeClr val="tx1"/>
              </a:solidFill>
              <a:ea typeface="宋体" panose="02010600030101010101" pitchFamily="2" charset="-122"/>
            </a:endParaRPr>
          </a:p>
        </p:txBody>
      </p:sp>
      <p:sp>
        <p:nvSpPr>
          <p:cNvPr id="444424" name="Text Box 8"/>
          <p:cNvSpPr txBox="1"/>
          <p:nvPr/>
        </p:nvSpPr>
        <p:spPr>
          <a:xfrm>
            <a:off x="762000" y="3657600"/>
            <a:ext cx="6553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欧共体</a:t>
            </a:r>
            <a:r>
              <a:rPr lang="zh-CN" altLang="en-US" sz="1800" dirty="0">
                <a:solidFill>
                  <a:schemeClr val="tx1"/>
                </a:solidFill>
                <a:ea typeface="宋体" panose="02010600030101010101" pitchFamily="2" charset="-122"/>
              </a:rPr>
              <a:t>指令：区分信贷机构和金融机构（非商业银行）</a:t>
            </a:r>
            <a:endParaRPr lang="zh-CN" altLang="en-US" sz="1800" dirty="0">
              <a:solidFill>
                <a:schemeClr val="tx1"/>
              </a:solidFill>
              <a:ea typeface="宋体" panose="02010600030101010101" pitchFamily="2" charset="-122"/>
            </a:endParaRPr>
          </a:p>
        </p:txBody>
      </p:sp>
      <p:sp>
        <p:nvSpPr>
          <p:cNvPr id="444425" name="Text Box 9"/>
          <p:cNvSpPr txBox="1"/>
          <p:nvPr/>
        </p:nvSpPr>
        <p:spPr>
          <a:xfrm>
            <a:off x="762000" y="4267200"/>
            <a:ext cx="7391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中国</a:t>
            </a:r>
            <a:r>
              <a:rPr lang="zh-CN" altLang="en-US" sz="1800" dirty="0">
                <a:solidFill>
                  <a:schemeClr val="tx1"/>
                </a:solidFill>
                <a:ea typeface="宋体" panose="02010600030101010101" pitchFamily="2" charset="-122"/>
              </a:rPr>
              <a:t>：存款性金融机构由银监会批准设立</a:t>
            </a:r>
            <a:endParaRPr lang="zh-CN" altLang="en-US" sz="1800" dirty="0">
              <a:solidFill>
                <a:schemeClr val="tx1"/>
              </a:solidFill>
              <a:ea typeface="宋体" panose="02010600030101010101" pitchFamily="2" charset="-122"/>
            </a:endParaRPr>
          </a:p>
        </p:txBody>
      </p:sp>
      <p:sp>
        <p:nvSpPr>
          <p:cNvPr id="444426" name="Text Box 10"/>
          <p:cNvSpPr txBox="1"/>
          <p:nvPr/>
        </p:nvSpPr>
        <p:spPr>
          <a:xfrm>
            <a:off x="762000" y="4876800"/>
            <a:ext cx="8001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思考：在法律上为什么要区分商业银行和非商业银行？</a:t>
            </a:r>
            <a:endParaRPr lang="en-US" altLang="zh-CN" sz="1800" dirty="0">
              <a:solidFill>
                <a:srgbClr val="FF0000"/>
              </a:solidFill>
              <a:ea typeface="宋体" panose="02010600030101010101" pitchFamily="2" charset="-122"/>
            </a:endParaRPr>
          </a:p>
        </p:txBody>
      </p:sp>
      <p:sp>
        <p:nvSpPr>
          <p:cNvPr id="31755" name="Text Box 11"/>
          <p:cNvSpPr txBox="1"/>
          <p:nvPr/>
        </p:nvSpPr>
        <p:spPr>
          <a:xfrm>
            <a:off x="762000" y="5410200"/>
            <a:ext cx="2819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endParaRPr lang="en-US" altLang="zh-CN" sz="180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4420"/>
                                        </p:tgtEl>
                                        <p:attrNameLst>
                                          <p:attrName>style.visibility</p:attrName>
                                        </p:attrNameLst>
                                      </p:cBhvr>
                                      <p:to>
                                        <p:strVal val="visible"/>
                                      </p:to>
                                    </p:set>
                                    <p:animEffect transition="in" filter="box(in)">
                                      <p:cBhvr>
                                        <p:cTn id="7" dur="500"/>
                                        <p:tgtEl>
                                          <p:spTgt spid="4444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4421"/>
                                        </p:tgtEl>
                                        <p:attrNameLst>
                                          <p:attrName>style.visibility</p:attrName>
                                        </p:attrNameLst>
                                      </p:cBhvr>
                                      <p:to>
                                        <p:strVal val="visible"/>
                                      </p:to>
                                    </p:set>
                                    <p:animEffect transition="in" filter="box(in)">
                                      <p:cBhvr>
                                        <p:cTn id="12" dur="500"/>
                                        <p:tgtEl>
                                          <p:spTgt spid="44442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4422"/>
                                        </p:tgtEl>
                                        <p:attrNameLst>
                                          <p:attrName>style.visibility</p:attrName>
                                        </p:attrNameLst>
                                      </p:cBhvr>
                                      <p:to>
                                        <p:strVal val="visible"/>
                                      </p:to>
                                    </p:set>
                                    <p:animEffect transition="in" filter="box(in)">
                                      <p:cBhvr>
                                        <p:cTn id="17" dur="500"/>
                                        <p:tgtEl>
                                          <p:spTgt spid="4444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4423"/>
                                        </p:tgtEl>
                                        <p:attrNameLst>
                                          <p:attrName>style.visibility</p:attrName>
                                        </p:attrNameLst>
                                      </p:cBhvr>
                                      <p:to>
                                        <p:strVal val="visible"/>
                                      </p:to>
                                    </p:set>
                                    <p:animEffect transition="in" filter="box(in)">
                                      <p:cBhvr>
                                        <p:cTn id="22" dur="500"/>
                                        <p:tgtEl>
                                          <p:spTgt spid="44442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4424"/>
                                        </p:tgtEl>
                                        <p:attrNameLst>
                                          <p:attrName>style.visibility</p:attrName>
                                        </p:attrNameLst>
                                      </p:cBhvr>
                                      <p:to>
                                        <p:strVal val="visible"/>
                                      </p:to>
                                    </p:set>
                                    <p:animEffect transition="in" filter="box(in)">
                                      <p:cBhvr>
                                        <p:cTn id="27" dur="500"/>
                                        <p:tgtEl>
                                          <p:spTgt spid="44442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44425"/>
                                        </p:tgtEl>
                                        <p:attrNameLst>
                                          <p:attrName>style.visibility</p:attrName>
                                        </p:attrNameLst>
                                      </p:cBhvr>
                                      <p:to>
                                        <p:strVal val="visible"/>
                                      </p:to>
                                    </p:set>
                                    <p:animEffect transition="in" filter="box(in)">
                                      <p:cBhvr>
                                        <p:cTn id="32" dur="500"/>
                                        <p:tgtEl>
                                          <p:spTgt spid="44442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44426"/>
                                        </p:tgtEl>
                                        <p:attrNameLst>
                                          <p:attrName>style.visibility</p:attrName>
                                        </p:attrNameLst>
                                      </p:cBhvr>
                                      <p:to>
                                        <p:strVal val="visible"/>
                                      </p:to>
                                    </p:set>
                                    <p:animEffect transition="in" filter="box(in)">
                                      <p:cBhvr>
                                        <p:cTn id="37" dur="500"/>
                                        <p:tgtEl>
                                          <p:spTgt spid="444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20" grpId="0"/>
      <p:bldP spid="444421" grpId="0"/>
      <p:bldP spid="444422" grpId="0"/>
      <p:bldP spid="444423" grpId="0"/>
      <p:bldP spid="444424" grpId="0"/>
      <p:bldP spid="444425" grpId="0"/>
      <p:bldP spid="444426"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2770"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商业银行的主要业务</a:t>
            </a:r>
            <a:endParaRPr lang="zh-CN" altLang="en-US" dirty="0">
              <a:solidFill>
                <a:schemeClr val="tx1"/>
              </a:solidFill>
            </a:endParaRPr>
          </a:p>
        </p:txBody>
      </p:sp>
      <p:sp>
        <p:nvSpPr>
          <p:cNvPr id="32771"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46468" name="Text Box 4"/>
          <p:cNvSpPr txBox="1"/>
          <p:nvPr/>
        </p:nvSpPr>
        <p:spPr>
          <a:xfrm>
            <a:off x="762000" y="1524000"/>
            <a:ext cx="7391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负债业务</a:t>
            </a:r>
            <a:r>
              <a:rPr lang="zh-CN" altLang="en-US" sz="1800" dirty="0">
                <a:solidFill>
                  <a:schemeClr val="tx1"/>
                </a:solidFill>
                <a:ea typeface="宋体" panose="02010600030101010101" pitchFamily="2" charset="-122"/>
              </a:rPr>
              <a:t>：吸收存款、对其他金融机构和中央银行负债</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46469" name="Text Box 5"/>
          <p:cNvSpPr txBox="1"/>
          <p:nvPr/>
        </p:nvSpPr>
        <p:spPr>
          <a:xfrm>
            <a:off x="762000" y="2057400"/>
            <a:ext cx="6400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资产业务</a:t>
            </a:r>
            <a:r>
              <a:rPr lang="zh-CN" altLang="en-US" sz="1800" dirty="0">
                <a:solidFill>
                  <a:schemeClr val="tx1"/>
                </a:solidFill>
                <a:ea typeface="宋体" panose="02010600030101010101" pitchFamily="2" charset="-122"/>
              </a:rPr>
              <a:t>：发放贷款、对外投资</a:t>
            </a:r>
            <a:endParaRPr lang="zh-CN" altLang="en-US" sz="1800" dirty="0">
              <a:solidFill>
                <a:schemeClr val="tx1"/>
              </a:solidFill>
              <a:ea typeface="宋体" panose="02010600030101010101" pitchFamily="2" charset="-122"/>
            </a:endParaRPr>
          </a:p>
        </p:txBody>
      </p:sp>
      <p:sp>
        <p:nvSpPr>
          <p:cNvPr id="446470" name="Text Box 6"/>
          <p:cNvSpPr txBox="1"/>
          <p:nvPr/>
        </p:nvSpPr>
        <p:spPr>
          <a:xfrm>
            <a:off x="762000" y="2590800"/>
            <a:ext cx="8229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中间业务</a:t>
            </a:r>
            <a:r>
              <a:rPr lang="zh-CN" altLang="en-US" sz="1800" dirty="0">
                <a:solidFill>
                  <a:schemeClr val="tx1"/>
                </a:solidFill>
                <a:ea typeface="宋体" panose="02010600030101010101" pitchFamily="2" charset="-122"/>
              </a:rPr>
              <a:t>：汇兑、财务顾问、委托理财、保管、承销、表外业务（或有债务）</a:t>
            </a:r>
            <a:endParaRPr lang="zh-CN" altLang="en-US" sz="1800" dirty="0">
              <a:solidFill>
                <a:schemeClr val="tx1"/>
              </a:solidFill>
              <a:ea typeface="宋体" panose="02010600030101010101" pitchFamily="2" charset="-122"/>
            </a:endParaRPr>
          </a:p>
        </p:txBody>
      </p:sp>
      <p:sp>
        <p:nvSpPr>
          <p:cNvPr id="446471" name="Text Box 7"/>
          <p:cNvSpPr txBox="1"/>
          <p:nvPr/>
        </p:nvSpPr>
        <p:spPr>
          <a:xfrm>
            <a:off x="762000" y="3124200"/>
            <a:ext cx="6781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银行的</a:t>
            </a:r>
            <a:r>
              <a:rPr lang="zh-CN" altLang="en-US" sz="1800" dirty="0">
                <a:solidFill>
                  <a:srgbClr val="003399"/>
                </a:solidFill>
                <a:ea typeface="宋体" panose="02010600030101010101" pitchFamily="2" charset="-122"/>
              </a:rPr>
              <a:t>收入</a:t>
            </a:r>
            <a:r>
              <a:rPr lang="zh-CN" altLang="en-US" sz="1800" dirty="0">
                <a:solidFill>
                  <a:schemeClr val="tx1"/>
                </a:solidFill>
                <a:ea typeface="宋体" panose="02010600030101010101" pitchFamily="2" charset="-122"/>
              </a:rPr>
              <a:t>：贷款利息、投资收益、服务收费</a:t>
            </a:r>
            <a:endParaRPr lang="zh-CN" altLang="en-US" sz="1800" dirty="0">
              <a:solidFill>
                <a:schemeClr val="tx1"/>
              </a:solidFill>
              <a:ea typeface="宋体" panose="02010600030101010101" pitchFamily="2" charset="-122"/>
            </a:endParaRPr>
          </a:p>
        </p:txBody>
      </p:sp>
      <p:sp>
        <p:nvSpPr>
          <p:cNvPr id="446472" name="Text Box 8"/>
          <p:cNvSpPr txBox="1"/>
          <p:nvPr/>
        </p:nvSpPr>
        <p:spPr>
          <a:xfrm>
            <a:off x="762000" y="3657600"/>
            <a:ext cx="6553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银行的</a:t>
            </a:r>
            <a:r>
              <a:rPr lang="zh-CN" altLang="en-US" sz="1800" dirty="0">
                <a:solidFill>
                  <a:srgbClr val="003399"/>
                </a:solidFill>
                <a:ea typeface="宋体" panose="02010600030101010101" pitchFamily="2" charset="-122"/>
              </a:rPr>
              <a:t>支出</a:t>
            </a:r>
            <a:r>
              <a:rPr lang="zh-CN" altLang="en-US" sz="1800" dirty="0">
                <a:solidFill>
                  <a:schemeClr val="tx1"/>
                </a:solidFill>
                <a:ea typeface="宋体" panose="02010600030101010101" pitchFamily="2" charset="-122"/>
              </a:rPr>
              <a:t>：存款利息、固定资产折旧、各项管理费用</a:t>
            </a:r>
            <a:endParaRPr lang="zh-CN" altLang="en-US" sz="1800"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46468"/>
                                        </p:tgtEl>
                                        <p:attrNameLst>
                                          <p:attrName>style.visibility</p:attrName>
                                        </p:attrNameLst>
                                      </p:cBhvr>
                                      <p:to>
                                        <p:strVal val="visible"/>
                                      </p:to>
                                    </p:set>
                                    <p:animEffect transition="in" filter="box(in)">
                                      <p:cBhvr>
                                        <p:cTn id="7" dur="500"/>
                                        <p:tgtEl>
                                          <p:spTgt spid="44646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46469"/>
                                        </p:tgtEl>
                                        <p:attrNameLst>
                                          <p:attrName>style.visibility</p:attrName>
                                        </p:attrNameLst>
                                      </p:cBhvr>
                                      <p:to>
                                        <p:strVal val="visible"/>
                                      </p:to>
                                    </p:set>
                                    <p:animEffect transition="in" filter="box(in)">
                                      <p:cBhvr>
                                        <p:cTn id="12" dur="500"/>
                                        <p:tgtEl>
                                          <p:spTgt spid="44646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46470"/>
                                        </p:tgtEl>
                                        <p:attrNameLst>
                                          <p:attrName>style.visibility</p:attrName>
                                        </p:attrNameLst>
                                      </p:cBhvr>
                                      <p:to>
                                        <p:strVal val="visible"/>
                                      </p:to>
                                    </p:set>
                                    <p:animEffect transition="in" filter="box(in)">
                                      <p:cBhvr>
                                        <p:cTn id="17" dur="500"/>
                                        <p:tgtEl>
                                          <p:spTgt spid="44647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46471"/>
                                        </p:tgtEl>
                                        <p:attrNameLst>
                                          <p:attrName>style.visibility</p:attrName>
                                        </p:attrNameLst>
                                      </p:cBhvr>
                                      <p:to>
                                        <p:strVal val="visible"/>
                                      </p:to>
                                    </p:set>
                                    <p:animEffect transition="in" filter="box(in)">
                                      <p:cBhvr>
                                        <p:cTn id="22" dur="500"/>
                                        <p:tgtEl>
                                          <p:spTgt spid="44647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46472"/>
                                        </p:tgtEl>
                                        <p:attrNameLst>
                                          <p:attrName>style.visibility</p:attrName>
                                        </p:attrNameLst>
                                      </p:cBhvr>
                                      <p:to>
                                        <p:strVal val="visible"/>
                                      </p:to>
                                    </p:set>
                                    <p:animEffect transition="in" filter="box(in)">
                                      <p:cBhvr>
                                        <p:cTn id="27" dur="500"/>
                                        <p:tgtEl>
                                          <p:spTgt spid="446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8" grpId="0"/>
      <p:bldP spid="446469" grpId="0"/>
      <p:bldP spid="446470" grpId="0"/>
      <p:bldP spid="446471" grpId="0"/>
      <p:bldP spid="44647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3794" name="Rectangle 2"/>
          <p:cNvSpPr>
            <a:spLocks noGrp="1"/>
          </p:cNvSpPr>
          <p:nvPr>
            <p:ph type="title"/>
          </p:nvPr>
        </p:nvSpPr>
        <p:spPr>
          <a:ln/>
        </p:spPr>
        <p:txBody>
          <a:bodyPr vert="horz" wrap="square" lIns="91440" tIns="36000" rIns="91440" bIns="45720" anchor="b" anchorCtr="1"/>
          <a:p>
            <a:r>
              <a:rPr lang="zh-CN" altLang="en-US" dirty="0">
                <a:solidFill>
                  <a:srgbClr val="FF0000"/>
                </a:solidFill>
              </a:rPr>
              <a:t>资产负债表样式</a:t>
            </a:r>
            <a:endParaRPr lang="zh-CN" altLang="en-US" dirty="0">
              <a:solidFill>
                <a:srgbClr val="FF0000"/>
              </a:solidFill>
            </a:endParaRPr>
          </a:p>
        </p:txBody>
      </p:sp>
      <p:sp>
        <p:nvSpPr>
          <p:cNvPr id="33795" name="Rectangle 3"/>
          <p:cNvSpPr/>
          <p:nvPr>
            <p:ph idx="1"/>
          </p:nvPr>
        </p:nvSpPr>
        <p:spPr>
          <a:xfrm>
            <a:off x="457200" y="914400"/>
            <a:ext cx="8229600" cy="550863"/>
          </a:xfrm>
          <a:ln/>
        </p:spPr>
        <p:txBody>
          <a:bodyPr vert="horz" wrap="square" lIns="91440" tIns="45720" rIns="91440" bIns="45720" anchor="t" anchorCtr="0"/>
          <a:p>
            <a:r>
              <a:rPr lang="zh-CN" altLang="en-US" dirty="0"/>
              <a:t>资产</a:t>
            </a:r>
            <a:r>
              <a:rPr lang="en-US" altLang="zh-CN" dirty="0"/>
              <a:t>=</a:t>
            </a:r>
            <a:r>
              <a:rPr lang="zh-CN" altLang="en-US" dirty="0"/>
              <a:t>负债</a:t>
            </a:r>
            <a:r>
              <a:rPr lang="en-US" altLang="zh-CN" dirty="0"/>
              <a:t>+</a:t>
            </a:r>
            <a:r>
              <a:rPr lang="zh-CN" altLang="en-US" dirty="0"/>
              <a:t>所有者权益</a:t>
            </a:r>
            <a:endParaRPr lang="zh-CN" altLang="en-US" dirty="0"/>
          </a:p>
        </p:txBody>
      </p:sp>
      <p:pic>
        <p:nvPicPr>
          <p:cNvPr id="33796" name="Picture 5" descr="E:\交大201709\备课\浙大\金融法-本科\资产负债表.jpg"/>
          <p:cNvPicPr>
            <a:picLocks noChangeAspect="1"/>
          </p:cNvPicPr>
          <p:nvPr/>
        </p:nvPicPr>
        <p:blipFill>
          <a:blip r:embed="rId1"/>
          <a:stretch>
            <a:fillRect/>
          </a:stretch>
        </p:blipFill>
        <p:spPr>
          <a:xfrm>
            <a:off x="609600" y="1447800"/>
            <a:ext cx="7848600" cy="5154613"/>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4818" name="Rectangle 2"/>
          <p:cNvSpPr>
            <a:spLocks noGrp="1"/>
          </p:cNvSpPr>
          <p:nvPr>
            <p:ph type="title"/>
          </p:nvPr>
        </p:nvSpPr>
        <p:spPr>
          <a:ln/>
        </p:spPr>
        <p:txBody>
          <a:bodyPr vert="horz" wrap="square" lIns="91440" tIns="36000" rIns="91440" bIns="45720" anchor="b" anchorCtr="1"/>
          <a:p>
            <a:r>
              <a:rPr lang="zh-CN" altLang="en-US" dirty="0">
                <a:solidFill>
                  <a:srgbClr val="FF0000"/>
                </a:solidFill>
              </a:rPr>
              <a:t>中国银行的资产负债表（左）</a:t>
            </a:r>
            <a:endParaRPr lang="zh-CN" altLang="en-US" dirty="0">
              <a:solidFill>
                <a:srgbClr val="FF0000"/>
              </a:solidFill>
            </a:endParaRPr>
          </a:p>
        </p:txBody>
      </p:sp>
      <p:sp>
        <p:nvSpPr>
          <p:cNvPr id="34819" name="Rectangle 3"/>
          <p:cNvSpPr/>
          <p:nvPr>
            <p:ph idx="1"/>
          </p:nvPr>
        </p:nvSpPr>
        <p:spPr>
          <a:ln/>
        </p:spPr>
        <p:txBody>
          <a:bodyPr vert="horz" wrap="square" lIns="91440" tIns="45720" rIns="91440" bIns="45720" anchor="t" anchorCtr="0"/>
          <a:p>
            <a:pPr>
              <a:buNone/>
            </a:pPr>
            <a:endParaRPr lang="zh-CN" altLang="en-US" dirty="0"/>
          </a:p>
        </p:txBody>
      </p:sp>
      <p:pic>
        <p:nvPicPr>
          <p:cNvPr id="475140" name="Picture 4" descr="中行资产负债表（左）"/>
          <p:cNvPicPr>
            <a:picLocks noChangeAspect="1"/>
          </p:cNvPicPr>
          <p:nvPr/>
        </p:nvPicPr>
        <p:blipFill>
          <a:blip r:embed="rId1"/>
          <a:stretch>
            <a:fillRect/>
          </a:stretch>
        </p:blipFill>
        <p:spPr>
          <a:xfrm>
            <a:off x="685800" y="914400"/>
            <a:ext cx="7620000" cy="5829300"/>
          </a:xfrm>
          <a:prstGeom prst="rect">
            <a:avLst/>
          </a:prstGeom>
          <a:noFill/>
          <a:ln w="9525">
            <a:noFill/>
          </a:ln>
        </p:spPr>
      </p:pic>
      <p:sp>
        <p:nvSpPr>
          <p:cNvPr id="475141" name="Line 5"/>
          <p:cNvSpPr/>
          <p:nvPr/>
        </p:nvSpPr>
        <p:spPr>
          <a:xfrm>
            <a:off x="838200" y="4038600"/>
            <a:ext cx="1371600" cy="0"/>
          </a:xfrm>
          <a:prstGeom prst="line">
            <a:avLst/>
          </a:prstGeom>
          <a:ln w="38100" cap="flat" cmpd="sng">
            <a:solidFill>
              <a:srgbClr val="003399"/>
            </a:solidFill>
            <a:prstDash val="solid"/>
            <a:headEnd type="none" w="med" len="med"/>
            <a:tailEnd type="none" w="med" len="med"/>
          </a:ln>
        </p:spPr>
      </p:sp>
      <p:sp>
        <p:nvSpPr>
          <p:cNvPr id="475142" name="Line 6"/>
          <p:cNvSpPr/>
          <p:nvPr/>
        </p:nvSpPr>
        <p:spPr>
          <a:xfrm>
            <a:off x="838200" y="2286000"/>
            <a:ext cx="1905000" cy="0"/>
          </a:xfrm>
          <a:prstGeom prst="line">
            <a:avLst/>
          </a:prstGeom>
          <a:ln w="38100" cap="flat" cmpd="sng">
            <a:solidFill>
              <a:srgbClr val="003399"/>
            </a:solidFill>
            <a:prstDash val="solid"/>
            <a:headEnd type="none" w="med" len="med"/>
            <a:tailEnd type="none" w="med" len="med"/>
          </a:ln>
        </p:spPr>
      </p:sp>
      <p:sp>
        <p:nvSpPr>
          <p:cNvPr id="475144" name="Line 8"/>
          <p:cNvSpPr/>
          <p:nvPr/>
        </p:nvSpPr>
        <p:spPr>
          <a:xfrm>
            <a:off x="838200" y="4495800"/>
            <a:ext cx="1295400" cy="0"/>
          </a:xfrm>
          <a:prstGeom prst="line">
            <a:avLst/>
          </a:prstGeom>
          <a:ln w="38100" cap="flat" cmpd="sng">
            <a:solidFill>
              <a:srgbClr val="003399"/>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5140"/>
                                        </p:tgtEl>
                                        <p:attrNameLst>
                                          <p:attrName>style.visibility</p:attrName>
                                        </p:attrNameLst>
                                      </p:cBhvr>
                                      <p:to>
                                        <p:strVal val="visible"/>
                                      </p:to>
                                    </p:set>
                                    <p:animEffect transition="in" filter="box(in)">
                                      <p:cBhvr>
                                        <p:cTn id="7" dur="500"/>
                                        <p:tgtEl>
                                          <p:spTgt spid="4751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75141"/>
                                        </p:tgtEl>
                                        <p:attrNameLst>
                                          <p:attrName>style.visibility</p:attrName>
                                        </p:attrNameLst>
                                      </p:cBhvr>
                                      <p:to>
                                        <p:strVal val="visible"/>
                                      </p:to>
                                    </p:set>
                                    <p:anim calcmode="lin" valueType="num">
                                      <p:cBhvr additive="base">
                                        <p:cTn id="12" dur="500" fill="hold"/>
                                        <p:tgtEl>
                                          <p:spTgt spid="475141"/>
                                        </p:tgtEl>
                                        <p:attrNameLst>
                                          <p:attrName>ppt_x</p:attrName>
                                        </p:attrNameLst>
                                      </p:cBhvr>
                                      <p:tavLst>
                                        <p:tav tm="0">
                                          <p:val>
                                            <p:strVal val="#ppt_x"/>
                                          </p:val>
                                        </p:tav>
                                        <p:tav tm="100000">
                                          <p:val>
                                            <p:strVal val="#ppt_x"/>
                                          </p:val>
                                        </p:tav>
                                      </p:tavLst>
                                    </p:anim>
                                    <p:anim calcmode="lin" valueType="num">
                                      <p:cBhvr additive="base">
                                        <p:cTn id="13" dur="500" fill="hold"/>
                                        <p:tgtEl>
                                          <p:spTgt spid="47514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475142"/>
                                        </p:tgtEl>
                                        <p:attrNameLst>
                                          <p:attrName>style.visibility</p:attrName>
                                        </p:attrNameLst>
                                      </p:cBhvr>
                                      <p:to>
                                        <p:strVal val="visible"/>
                                      </p:to>
                                    </p:set>
                                    <p:anim calcmode="lin" valueType="num">
                                      <p:cBhvr additive="base">
                                        <p:cTn id="18" dur="500" fill="hold"/>
                                        <p:tgtEl>
                                          <p:spTgt spid="475142"/>
                                        </p:tgtEl>
                                        <p:attrNameLst>
                                          <p:attrName>ppt_x</p:attrName>
                                        </p:attrNameLst>
                                      </p:cBhvr>
                                      <p:tavLst>
                                        <p:tav tm="0">
                                          <p:val>
                                            <p:strVal val="1+#ppt_w/2"/>
                                          </p:val>
                                        </p:tav>
                                        <p:tav tm="100000">
                                          <p:val>
                                            <p:strVal val="#ppt_x"/>
                                          </p:val>
                                        </p:tav>
                                      </p:tavLst>
                                    </p:anim>
                                    <p:anim calcmode="lin" valueType="num">
                                      <p:cBhvr additive="base">
                                        <p:cTn id="19" dur="500" fill="hold"/>
                                        <p:tgtEl>
                                          <p:spTgt spid="47514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nodeType="clickEffect">
                                  <p:stCondLst>
                                    <p:cond delay="0"/>
                                  </p:stCondLst>
                                  <p:childTnLst>
                                    <p:set>
                                      <p:cBhvr>
                                        <p:cTn id="23" dur="1" fill="hold">
                                          <p:stCondLst>
                                            <p:cond delay="0"/>
                                          </p:stCondLst>
                                        </p:cTn>
                                        <p:tgtEl>
                                          <p:spTgt spid="475144"/>
                                        </p:tgtEl>
                                        <p:attrNameLst>
                                          <p:attrName>style.visibility</p:attrName>
                                        </p:attrNameLst>
                                      </p:cBhvr>
                                      <p:to>
                                        <p:strVal val="visible"/>
                                      </p:to>
                                    </p:set>
                                    <p:anim calcmode="lin" valueType="num">
                                      <p:cBhvr additive="base">
                                        <p:cTn id="24" dur="500" fill="hold"/>
                                        <p:tgtEl>
                                          <p:spTgt spid="475144"/>
                                        </p:tgtEl>
                                        <p:attrNameLst>
                                          <p:attrName>ppt_x</p:attrName>
                                        </p:attrNameLst>
                                      </p:cBhvr>
                                      <p:tavLst>
                                        <p:tav tm="0">
                                          <p:val>
                                            <p:strVal val="#ppt_x"/>
                                          </p:val>
                                        </p:tav>
                                        <p:tav tm="100000">
                                          <p:val>
                                            <p:strVal val="#ppt_x"/>
                                          </p:val>
                                        </p:tav>
                                      </p:tavLst>
                                    </p:anim>
                                    <p:anim calcmode="lin" valueType="num">
                                      <p:cBhvr additive="base">
                                        <p:cTn id="25" dur="500" fill="hold"/>
                                        <p:tgtEl>
                                          <p:spTgt spid="4751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2" name="Rectangle 2"/>
          <p:cNvSpPr>
            <a:spLocks noGrp="1"/>
          </p:cNvSpPr>
          <p:nvPr>
            <p:ph type="title"/>
          </p:nvPr>
        </p:nvSpPr>
        <p:spPr>
          <a:ln/>
        </p:spPr>
        <p:txBody>
          <a:bodyPr vert="horz" wrap="square" lIns="91440" tIns="36000" rIns="91440" bIns="45720" anchor="b" anchorCtr="1"/>
          <a:p>
            <a:r>
              <a:rPr lang="zh-CN" altLang="en-US" dirty="0">
                <a:solidFill>
                  <a:srgbClr val="FF0000"/>
                </a:solidFill>
              </a:rPr>
              <a:t>中国银行的资产负债表（右）</a:t>
            </a:r>
            <a:endParaRPr lang="zh-CN" altLang="en-US" dirty="0">
              <a:solidFill>
                <a:srgbClr val="FF0000"/>
              </a:solidFill>
            </a:endParaRPr>
          </a:p>
        </p:txBody>
      </p:sp>
      <p:sp>
        <p:nvSpPr>
          <p:cNvPr id="35843" name="Rectangle 3"/>
          <p:cNvSpPr/>
          <p:nvPr>
            <p:ph idx="1"/>
          </p:nvPr>
        </p:nvSpPr>
        <p:spPr>
          <a:ln/>
        </p:spPr>
        <p:txBody>
          <a:bodyPr vert="horz" wrap="square" lIns="91440" tIns="45720" rIns="91440" bIns="45720" anchor="t" anchorCtr="0"/>
          <a:p>
            <a:pPr>
              <a:buNone/>
            </a:pPr>
            <a:endParaRPr lang="zh-CN" altLang="en-US" dirty="0"/>
          </a:p>
        </p:txBody>
      </p:sp>
      <p:pic>
        <p:nvPicPr>
          <p:cNvPr id="476164" name="Picture 4" descr="中行资产负债表（右）"/>
          <p:cNvPicPr>
            <a:picLocks noChangeAspect="1"/>
          </p:cNvPicPr>
          <p:nvPr/>
        </p:nvPicPr>
        <p:blipFill>
          <a:blip r:embed="rId1"/>
          <a:stretch>
            <a:fillRect/>
          </a:stretch>
        </p:blipFill>
        <p:spPr>
          <a:xfrm>
            <a:off x="838200" y="990600"/>
            <a:ext cx="7239000" cy="5867400"/>
          </a:xfrm>
          <a:prstGeom prst="rect">
            <a:avLst/>
          </a:prstGeom>
          <a:noFill/>
          <a:ln w="9525">
            <a:noFill/>
          </a:ln>
        </p:spPr>
      </p:pic>
      <p:sp>
        <p:nvSpPr>
          <p:cNvPr id="476165" name="Line 5"/>
          <p:cNvSpPr/>
          <p:nvPr/>
        </p:nvSpPr>
        <p:spPr>
          <a:xfrm>
            <a:off x="990600" y="2819400"/>
            <a:ext cx="762000" cy="0"/>
          </a:xfrm>
          <a:prstGeom prst="line">
            <a:avLst/>
          </a:prstGeom>
          <a:ln w="38100" cap="flat" cmpd="sng">
            <a:solidFill>
              <a:srgbClr val="003399"/>
            </a:solidFill>
            <a:prstDash val="solid"/>
            <a:headEnd type="none" w="med" len="med"/>
            <a:tailEnd type="none" w="med" len="med"/>
          </a:ln>
        </p:spPr>
      </p:sp>
      <p:sp>
        <p:nvSpPr>
          <p:cNvPr id="476166" name="Line 6"/>
          <p:cNvSpPr/>
          <p:nvPr/>
        </p:nvSpPr>
        <p:spPr>
          <a:xfrm>
            <a:off x="990600" y="2057400"/>
            <a:ext cx="2133600" cy="0"/>
          </a:xfrm>
          <a:prstGeom prst="line">
            <a:avLst/>
          </a:prstGeom>
          <a:ln w="38100" cap="flat" cmpd="sng">
            <a:solidFill>
              <a:srgbClr val="003399"/>
            </a:solidFill>
            <a:prstDash val="solid"/>
            <a:headEnd type="none" w="med" len="med"/>
            <a:tailEnd type="none" w="med" len="med"/>
          </a:ln>
        </p:spPr>
      </p:sp>
      <p:sp>
        <p:nvSpPr>
          <p:cNvPr id="476167" name="Line 7"/>
          <p:cNvSpPr/>
          <p:nvPr/>
        </p:nvSpPr>
        <p:spPr>
          <a:xfrm>
            <a:off x="990600" y="4724400"/>
            <a:ext cx="609600" cy="0"/>
          </a:xfrm>
          <a:prstGeom prst="line">
            <a:avLst/>
          </a:prstGeom>
          <a:ln w="38100" cap="flat" cmpd="sng">
            <a:solidFill>
              <a:srgbClr val="FF0000"/>
            </a:solidFill>
            <a:prstDash val="solid"/>
            <a:headEnd type="none" w="med" len="med"/>
            <a:tailEnd type="none" w="med" len="med"/>
          </a:ln>
        </p:spPr>
      </p:sp>
      <p:sp>
        <p:nvSpPr>
          <p:cNvPr id="476169" name="Line 9"/>
          <p:cNvSpPr/>
          <p:nvPr/>
        </p:nvSpPr>
        <p:spPr>
          <a:xfrm>
            <a:off x="990600" y="5410200"/>
            <a:ext cx="990600" cy="0"/>
          </a:xfrm>
          <a:prstGeom prst="line">
            <a:avLst/>
          </a:prstGeom>
          <a:ln w="38100"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6164"/>
                                        </p:tgtEl>
                                        <p:attrNameLst>
                                          <p:attrName>style.visibility</p:attrName>
                                        </p:attrNameLst>
                                      </p:cBhvr>
                                      <p:to>
                                        <p:strVal val="visible"/>
                                      </p:to>
                                    </p:set>
                                    <p:animEffect transition="in" filter="blinds(horizontal)">
                                      <p:cBhvr>
                                        <p:cTn id="7" dur="500"/>
                                        <p:tgtEl>
                                          <p:spTgt spid="4761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76165"/>
                                        </p:tgtEl>
                                        <p:attrNameLst>
                                          <p:attrName>style.visibility</p:attrName>
                                        </p:attrNameLst>
                                      </p:cBhvr>
                                      <p:to>
                                        <p:strVal val="visible"/>
                                      </p:to>
                                    </p:set>
                                    <p:anim calcmode="lin" valueType="num">
                                      <p:cBhvr additive="base">
                                        <p:cTn id="12" dur="500" fill="hold"/>
                                        <p:tgtEl>
                                          <p:spTgt spid="476165"/>
                                        </p:tgtEl>
                                        <p:attrNameLst>
                                          <p:attrName>ppt_x</p:attrName>
                                        </p:attrNameLst>
                                      </p:cBhvr>
                                      <p:tavLst>
                                        <p:tav tm="0">
                                          <p:val>
                                            <p:strVal val="#ppt_x"/>
                                          </p:val>
                                        </p:tav>
                                        <p:tav tm="100000">
                                          <p:val>
                                            <p:strVal val="#ppt_x"/>
                                          </p:val>
                                        </p:tav>
                                      </p:tavLst>
                                    </p:anim>
                                    <p:anim calcmode="lin" valueType="num">
                                      <p:cBhvr additive="base">
                                        <p:cTn id="13" dur="500" fill="hold"/>
                                        <p:tgtEl>
                                          <p:spTgt spid="47616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476166"/>
                                        </p:tgtEl>
                                        <p:attrNameLst>
                                          <p:attrName>style.visibility</p:attrName>
                                        </p:attrNameLst>
                                      </p:cBhvr>
                                      <p:to>
                                        <p:strVal val="visible"/>
                                      </p:to>
                                    </p:set>
                                    <p:anim calcmode="lin" valueType="num">
                                      <p:cBhvr additive="base">
                                        <p:cTn id="18" dur="500" fill="hold"/>
                                        <p:tgtEl>
                                          <p:spTgt spid="476166"/>
                                        </p:tgtEl>
                                        <p:attrNameLst>
                                          <p:attrName>ppt_x</p:attrName>
                                        </p:attrNameLst>
                                      </p:cBhvr>
                                      <p:tavLst>
                                        <p:tav tm="0">
                                          <p:val>
                                            <p:strVal val="1+#ppt_w/2"/>
                                          </p:val>
                                        </p:tav>
                                        <p:tav tm="100000">
                                          <p:val>
                                            <p:strVal val="#ppt_x"/>
                                          </p:val>
                                        </p:tav>
                                      </p:tavLst>
                                    </p:anim>
                                    <p:anim calcmode="lin" valueType="num">
                                      <p:cBhvr additive="base">
                                        <p:cTn id="19" dur="500" fill="hold"/>
                                        <p:tgtEl>
                                          <p:spTgt spid="47616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76167"/>
                                        </p:tgtEl>
                                        <p:attrNameLst>
                                          <p:attrName>style.visibility</p:attrName>
                                        </p:attrNameLst>
                                      </p:cBhvr>
                                      <p:to>
                                        <p:strVal val="visible"/>
                                      </p:to>
                                    </p:set>
                                    <p:anim calcmode="lin" valueType="num">
                                      <p:cBhvr additive="base">
                                        <p:cTn id="24" dur="500" fill="hold"/>
                                        <p:tgtEl>
                                          <p:spTgt spid="476167"/>
                                        </p:tgtEl>
                                        <p:attrNameLst>
                                          <p:attrName>ppt_x</p:attrName>
                                        </p:attrNameLst>
                                      </p:cBhvr>
                                      <p:tavLst>
                                        <p:tav tm="0">
                                          <p:val>
                                            <p:strVal val="#ppt_x"/>
                                          </p:val>
                                        </p:tav>
                                        <p:tav tm="100000">
                                          <p:val>
                                            <p:strVal val="#ppt_x"/>
                                          </p:val>
                                        </p:tav>
                                      </p:tavLst>
                                    </p:anim>
                                    <p:anim calcmode="lin" valueType="num">
                                      <p:cBhvr additive="base">
                                        <p:cTn id="25" dur="500" fill="hold"/>
                                        <p:tgtEl>
                                          <p:spTgt spid="47616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76169"/>
                                        </p:tgtEl>
                                        <p:attrNameLst>
                                          <p:attrName>style.visibility</p:attrName>
                                        </p:attrNameLst>
                                      </p:cBhvr>
                                      <p:to>
                                        <p:strVal val="visible"/>
                                      </p:to>
                                    </p:set>
                                    <p:anim calcmode="lin" valueType="num">
                                      <p:cBhvr additive="base">
                                        <p:cTn id="30" dur="500" fill="hold"/>
                                        <p:tgtEl>
                                          <p:spTgt spid="476169"/>
                                        </p:tgtEl>
                                        <p:attrNameLst>
                                          <p:attrName>ppt_x</p:attrName>
                                        </p:attrNameLst>
                                      </p:cBhvr>
                                      <p:tavLst>
                                        <p:tav tm="0">
                                          <p:val>
                                            <p:strVal val="#ppt_x"/>
                                          </p:val>
                                        </p:tav>
                                        <p:tav tm="100000">
                                          <p:val>
                                            <p:strVal val="#ppt_x"/>
                                          </p:val>
                                        </p:tav>
                                      </p:tavLst>
                                    </p:anim>
                                    <p:anim calcmode="lin" valueType="num">
                                      <p:cBhvr additive="base">
                                        <p:cTn id="31" dur="500" fill="hold"/>
                                        <p:tgtEl>
                                          <p:spTgt spid="4761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6866" name="Rectangle 2"/>
          <p:cNvSpPr>
            <a:spLocks noGrp="1"/>
          </p:cNvSpPr>
          <p:nvPr>
            <p:ph type="title"/>
          </p:nvPr>
        </p:nvSpPr>
        <p:spPr>
          <a:xfrm>
            <a:off x="2057400" y="381000"/>
            <a:ext cx="5410200" cy="688975"/>
          </a:xfrm>
          <a:ln/>
        </p:spPr>
        <p:txBody>
          <a:bodyPr vert="horz" wrap="square" lIns="91440" tIns="36000" rIns="91440" bIns="45720" anchor="b" anchorCtr="1"/>
          <a:p>
            <a:r>
              <a:rPr lang="zh-CN" altLang="en-US" dirty="0">
                <a:solidFill>
                  <a:schemeClr val="tx1"/>
                </a:solidFill>
              </a:rPr>
              <a:t>为什么商业银行是特殊的？</a:t>
            </a:r>
            <a:endParaRPr lang="zh-CN" altLang="en-US" dirty="0">
              <a:solidFill>
                <a:schemeClr val="tx1"/>
              </a:solidFill>
            </a:endParaRPr>
          </a:p>
        </p:txBody>
      </p:sp>
      <p:sp>
        <p:nvSpPr>
          <p:cNvPr id="36867"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51588" name="Text Box 4"/>
          <p:cNvSpPr txBox="1"/>
          <p:nvPr/>
        </p:nvSpPr>
        <p:spPr>
          <a:xfrm>
            <a:off x="762000" y="1524000"/>
            <a:ext cx="7315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专门的法律、专门的监管机构、专门的研究领域</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51589" name="Text Box 5"/>
          <p:cNvSpPr txBox="1"/>
          <p:nvPr/>
        </p:nvSpPr>
        <p:spPr>
          <a:xfrm>
            <a:off x="762000" y="2133600"/>
            <a:ext cx="8001000" cy="64135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rgbClr val="F60404"/>
                </a:solidFill>
                <a:ea typeface="宋体" panose="02010600030101010101" pitchFamily="2" charset="-122"/>
              </a:rPr>
              <a:t>Corrigan, E., “Are Banks Special?” in Federal Reserve Bank of Minneapolis Annual Report, 1982.</a:t>
            </a:r>
            <a:endParaRPr lang="zh-CN" altLang="en-US" sz="1800" b="0" dirty="0">
              <a:solidFill>
                <a:srgbClr val="F60404"/>
              </a:solidFill>
              <a:ea typeface="宋体" panose="02010600030101010101" pitchFamily="2" charset="-122"/>
            </a:endParaRPr>
          </a:p>
        </p:txBody>
      </p:sp>
      <p:sp>
        <p:nvSpPr>
          <p:cNvPr id="451591" name="Text Box 7"/>
          <p:cNvSpPr txBox="1"/>
          <p:nvPr/>
        </p:nvSpPr>
        <p:spPr>
          <a:xfrm>
            <a:off x="762000" y="2895600"/>
            <a:ext cx="8382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chemeClr val="tx1"/>
                </a:solidFill>
                <a:ea typeface="宋体" panose="02010600030101010101" pitchFamily="2" charset="-122"/>
              </a:rPr>
              <a:t>1. </a:t>
            </a:r>
            <a:r>
              <a:rPr lang="zh-CN" altLang="en-US" sz="1800" dirty="0">
                <a:solidFill>
                  <a:schemeClr val="tx1"/>
                </a:solidFill>
                <a:ea typeface="宋体" panose="02010600030101010101" pitchFamily="2" charset="-122"/>
              </a:rPr>
              <a:t>银行以存款的形式持有大量高流动性债务，存款人随时可能要求兑付其债权</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1592" name="Text Box 8"/>
          <p:cNvSpPr txBox="1"/>
          <p:nvPr/>
        </p:nvSpPr>
        <p:spPr>
          <a:xfrm>
            <a:off x="762000" y="3352800"/>
            <a:ext cx="8610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chemeClr val="tx1"/>
                </a:solidFill>
                <a:ea typeface="宋体" panose="02010600030101010101" pitchFamily="2" charset="-122"/>
              </a:rPr>
              <a:t>2. </a:t>
            </a:r>
            <a:r>
              <a:rPr lang="zh-CN" altLang="en-US" sz="1800" dirty="0">
                <a:solidFill>
                  <a:schemeClr val="tx1"/>
                </a:solidFill>
                <a:ea typeface="宋体" panose="02010600030101010101" pitchFamily="2" charset="-122"/>
              </a:rPr>
              <a:t>银行所提供的金融服务对于一个经济体来说是基本的、核心的功能</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1593" name="Text Box 9"/>
          <p:cNvSpPr txBox="1"/>
          <p:nvPr/>
        </p:nvSpPr>
        <p:spPr>
          <a:xfrm>
            <a:off x="762000" y="3810000"/>
            <a:ext cx="8153400" cy="64135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chemeClr val="tx1"/>
                </a:solidFill>
                <a:ea typeface="宋体" panose="02010600030101010101" pitchFamily="2" charset="-122"/>
              </a:rPr>
              <a:t>3. </a:t>
            </a:r>
            <a:r>
              <a:rPr lang="zh-CN" altLang="en-US" sz="1800" dirty="0">
                <a:solidFill>
                  <a:schemeClr val="tx1"/>
                </a:solidFill>
                <a:ea typeface="宋体" panose="02010600030101010101" pitchFamily="2" charset="-122"/>
              </a:rPr>
              <a:t>银行作为一国货币政策的“传输带（</a:t>
            </a:r>
            <a:r>
              <a:rPr lang="en-US" altLang="zh-CN" sz="1800" dirty="0">
                <a:solidFill>
                  <a:schemeClr val="tx1"/>
                </a:solidFill>
                <a:ea typeface="宋体" panose="02010600030101010101" pitchFamily="2" charset="-122"/>
              </a:rPr>
              <a:t>Transmission Belt</a:t>
            </a:r>
            <a:r>
              <a:rPr lang="zh-CN" altLang="en-US" sz="1800" dirty="0">
                <a:solidFill>
                  <a:schemeClr val="tx1"/>
                </a:solidFill>
                <a:ea typeface="宋体" panose="02010600030101010101" pitchFamily="2" charset="-122"/>
              </a:rPr>
              <a:t>）”，是货币政策与实体经济之间的纽带</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1594" name="Text Box 10"/>
          <p:cNvSpPr txBox="1"/>
          <p:nvPr/>
        </p:nvSpPr>
        <p:spPr>
          <a:xfrm>
            <a:off x="762000" y="4724400"/>
            <a:ext cx="7315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此外，银行在面对公众信息丧失状况之下的极端脆弱性</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1595" name="Text Box 11"/>
          <p:cNvSpPr txBox="1"/>
          <p:nvPr/>
        </p:nvSpPr>
        <p:spPr>
          <a:xfrm>
            <a:off x="762000" y="5410200"/>
            <a:ext cx="8229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003399"/>
                </a:solidFill>
                <a:ea typeface="宋体" panose="02010600030101010101" pitchFamily="2" charset="-122"/>
              </a:rPr>
              <a:t>吸收公众存款</a:t>
            </a:r>
            <a:r>
              <a:rPr lang="en-US" altLang="zh-CN" sz="1800" dirty="0">
                <a:solidFill>
                  <a:srgbClr val="003399"/>
                </a:solidFill>
                <a:ea typeface="宋体" panose="02010600030101010101" pitchFamily="2" charset="-122"/>
              </a:rPr>
              <a:t>——</a:t>
            </a:r>
            <a:r>
              <a:rPr lang="zh-CN" altLang="en-US" sz="1800" dirty="0">
                <a:solidFill>
                  <a:srgbClr val="003399"/>
                </a:solidFill>
                <a:ea typeface="宋体" panose="02010600030101010101" pitchFamily="2" charset="-122"/>
              </a:rPr>
              <a:t>高负债经营</a:t>
            </a:r>
            <a:r>
              <a:rPr lang="en-US" altLang="zh-CN" sz="1800" dirty="0">
                <a:solidFill>
                  <a:srgbClr val="003399"/>
                </a:solidFill>
                <a:ea typeface="宋体" panose="02010600030101010101" pitchFamily="2" charset="-122"/>
              </a:rPr>
              <a:t>——</a:t>
            </a:r>
            <a:r>
              <a:rPr lang="zh-CN" altLang="en-US" sz="1800" dirty="0">
                <a:solidFill>
                  <a:srgbClr val="003399"/>
                </a:solidFill>
                <a:ea typeface="宋体" panose="02010600030101010101" pitchFamily="2" charset="-122"/>
              </a:rPr>
              <a:t>经营失败的风险由全社会共同承担</a:t>
            </a:r>
            <a:endParaRPr lang="zh-CN" altLang="en-US" sz="1800" dirty="0">
              <a:solidFill>
                <a:srgbClr val="003399"/>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51588"/>
                                        </p:tgtEl>
                                        <p:attrNameLst>
                                          <p:attrName>style.visibility</p:attrName>
                                        </p:attrNameLst>
                                      </p:cBhvr>
                                      <p:to>
                                        <p:strVal val="visible"/>
                                      </p:to>
                                    </p:set>
                                    <p:animEffect transition="in" filter="box(in)">
                                      <p:cBhvr>
                                        <p:cTn id="7" dur="500"/>
                                        <p:tgtEl>
                                          <p:spTgt spid="45158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1589"/>
                                        </p:tgtEl>
                                        <p:attrNameLst>
                                          <p:attrName>style.visibility</p:attrName>
                                        </p:attrNameLst>
                                      </p:cBhvr>
                                      <p:to>
                                        <p:strVal val="visible"/>
                                      </p:to>
                                    </p:set>
                                    <p:animEffect transition="in" filter="box(in)">
                                      <p:cBhvr>
                                        <p:cTn id="12" dur="500"/>
                                        <p:tgtEl>
                                          <p:spTgt spid="45158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1591"/>
                                        </p:tgtEl>
                                        <p:attrNameLst>
                                          <p:attrName>style.visibility</p:attrName>
                                        </p:attrNameLst>
                                      </p:cBhvr>
                                      <p:to>
                                        <p:strVal val="visible"/>
                                      </p:to>
                                    </p:set>
                                    <p:animEffect transition="in" filter="box(in)">
                                      <p:cBhvr>
                                        <p:cTn id="17" dur="500"/>
                                        <p:tgtEl>
                                          <p:spTgt spid="45159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1592"/>
                                        </p:tgtEl>
                                        <p:attrNameLst>
                                          <p:attrName>style.visibility</p:attrName>
                                        </p:attrNameLst>
                                      </p:cBhvr>
                                      <p:to>
                                        <p:strVal val="visible"/>
                                      </p:to>
                                    </p:set>
                                    <p:animEffect transition="in" filter="box(in)">
                                      <p:cBhvr>
                                        <p:cTn id="22" dur="500"/>
                                        <p:tgtEl>
                                          <p:spTgt spid="45159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1593"/>
                                        </p:tgtEl>
                                        <p:attrNameLst>
                                          <p:attrName>style.visibility</p:attrName>
                                        </p:attrNameLst>
                                      </p:cBhvr>
                                      <p:to>
                                        <p:strVal val="visible"/>
                                      </p:to>
                                    </p:set>
                                    <p:animEffect transition="in" filter="box(in)">
                                      <p:cBhvr>
                                        <p:cTn id="27" dur="500"/>
                                        <p:tgtEl>
                                          <p:spTgt spid="45159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51594"/>
                                        </p:tgtEl>
                                        <p:attrNameLst>
                                          <p:attrName>style.visibility</p:attrName>
                                        </p:attrNameLst>
                                      </p:cBhvr>
                                      <p:to>
                                        <p:strVal val="visible"/>
                                      </p:to>
                                    </p:set>
                                    <p:animEffect transition="in" filter="box(in)">
                                      <p:cBhvr>
                                        <p:cTn id="32" dur="500"/>
                                        <p:tgtEl>
                                          <p:spTgt spid="45159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51595"/>
                                        </p:tgtEl>
                                        <p:attrNameLst>
                                          <p:attrName>style.visibility</p:attrName>
                                        </p:attrNameLst>
                                      </p:cBhvr>
                                      <p:to>
                                        <p:strVal val="visible"/>
                                      </p:to>
                                    </p:set>
                                    <p:animEffect transition="in" filter="box(in)">
                                      <p:cBhvr>
                                        <p:cTn id="37" dur="500"/>
                                        <p:tgtEl>
                                          <p:spTgt spid="451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8" grpId="0"/>
      <p:bldP spid="451589" grpId="0"/>
      <p:bldP spid="451591" grpId="0"/>
      <p:bldP spid="451592" grpId="0"/>
      <p:bldP spid="451593" grpId="0"/>
      <p:bldP spid="451594" grpId="0"/>
      <p:bldP spid="45159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7890"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关于商业银行的特殊法律规则</a:t>
            </a:r>
            <a:endParaRPr lang="zh-CN" altLang="en-US" dirty="0">
              <a:solidFill>
                <a:schemeClr val="tx1"/>
              </a:solidFill>
            </a:endParaRPr>
          </a:p>
        </p:txBody>
      </p:sp>
      <p:sp>
        <p:nvSpPr>
          <p:cNvPr id="37891"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52612" name="Text Box 4"/>
          <p:cNvSpPr txBox="1"/>
          <p:nvPr/>
        </p:nvSpPr>
        <p:spPr>
          <a:xfrm>
            <a:off x="762000" y="1524000"/>
            <a:ext cx="4343400" cy="45720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商业银行的</a:t>
            </a:r>
            <a:r>
              <a:rPr lang="zh-CN" altLang="en-US" dirty="0">
                <a:solidFill>
                  <a:srgbClr val="FF0000"/>
                </a:solidFill>
                <a:ea typeface="宋体" panose="02010600030101010101" pitchFamily="2" charset="-122"/>
              </a:rPr>
              <a:t>市场准入</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52614" name="Text Box 6"/>
          <p:cNvSpPr txBox="1"/>
          <p:nvPr/>
        </p:nvSpPr>
        <p:spPr>
          <a:xfrm>
            <a:off x="762000" y="2590800"/>
            <a:ext cx="5867400" cy="45720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商业银行的</a:t>
            </a:r>
            <a:r>
              <a:rPr lang="zh-CN" altLang="en-US" dirty="0">
                <a:solidFill>
                  <a:srgbClr val="FF0000"/>
                </a:solidFill>
                <a:ea typeface="宋体" panose="02010600030101010101" pitchFamily="2" charset="-122"/>
              </a:rPr>
              <a:t>日常经营</a:t>
            </a:r>
            <a:endParaRPr lang="zh-CN" altLang="en-US" dirty="0">
              <a:solidFill>
                <a:srgbClr val="FF0000"/>
              </a:solidFill>
              <a:ea typeface="宋体" panose="02010600030101010101" pitchFamily="2" charset="-122"/>
            </a:endParaRPr>
          </a:p>
        </p:txBody>
      </p:sp>
      <p:sp>
        <p:nvSpPr>
          <p:cNvPr id="452616" name="Text Box 8"/>
          <p:cNvSpPr txBox="1"/>
          <p:nvPr/>
        </p:nvSpPr>
        <p:spPr>
          <a:xfrm>
            <a:off x="762000" y="3657600"/>
            <a:ext cx="5638800" cy="45720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dirty="0">
                <a:solidFill>
                  <a:schemeClr val="tx1"/>
                </a:solidFill>
                <a:ea typeface="宋体" panose="02010600030101010101" pitchFamily="2" charset="-122"/>
              </a:rPr>
              <a:t>——</a:t>
            </a:r>
            <a:r>
              <a:rPr lang="zh-CN" altLang="en-US" dirty="0">
                <a:solidFill>
                  <a:schemeClr val="tx1"/>
                </a:solidFill>
                <a:ea typeface="宋体" panose="02010600030101010101" pitchFamily="2" charset="-122"/>
              </a:rPr>
              <a:t>商业银行的</a:t>
            </a:r>
            <a:r>
              <a:rPr lang="zh-CN" altLang="en-US" dirty="0">
                <a:solidFill>
                  <a:srgbClr val="FF0000"/>
                </a:solidFill>
                <a:ea typeface="宋体" panose="02010600030101010101" pitchFamily="2" charset="-122"/>
              </a:rPr>
              <a:t>市场退出</a:t>
            </a:r>
            <a:endParaRPr lang="zh-CN" altLang="en-US"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52612"/>
                                        </p:tgtEl>
                                        <p:attrNameLst>
                                          <p:attrName>style.visibility</p:attrName>
                                        </p:attrNameLst>
                                      </p:cBhvr>
                                      <p:to>
                                        <p:strVal val="visible"/>
                                      </p:to>
                                    </p:set>
                                    <p:animEffect transition="in" filter="box(in)">
                                      <p:cBhvr>
                                        <p:cTn id="7" dur="500"/>
                                        <p:tgtEl>
                                          <p:spTgt spid="4526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2614"/>
                                        </p:tgtEl>
                                        <p:attrNameLst>
                                          <p:attrName>style.visibility</p:attrName>
                                        </p:attrNameLst>
                                      </p:cBhvr>
                                      <p:to>
                                        <p:strVal val="visible"/>
                                      </p:to>
                                    </p:set>
                                    <p:animEffect transition="in" filter="box(in)">
                                      <p:cBhvr>
                                        <p:cTn id="12" dur="500"/>
                                        <p:tgtEl>
                                          <p:spTgt spid="4526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2616"/>
                                        </p:tgtEl>
                                        <p:attrNameLst>
                                          <p:attrName>style.visibility</p:attrName>
                                        </p:attrNameLst>
                                      </p:cBhvr>
                                      <p:to>
                                        <p:strVal val="visible"/>
                                      </p:to>
                                    </p:set>
                                    <p:animEffect transition="in" filter="box(in)">
                                      <p:cBhvr>
                                        <p:cTn id="17" dur="500"/>
                                        <p:tgtEl>
                                          <p:spTgt spid="452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2" grpId="0"/>
      <p:bldP spid="452614" grpId="0"/>
      <p:bldP spid="452616"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8914"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市场准入监管</a:t>
            </a:r>
            <a:endParaRPr lang="zh-CN" altLang="en-US" dirty="0">
              <a:solidFill>
                <a:schemeClr val="tx1"/>
              </a:solidFill>
            </a:endParaRPr>
          </a:p>
        </p:txBody>
      </p:sp>
      <p:sp>
        <p:nvSpPr>
          <p:cNvPr id="38915"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53636" name="Text Box 4"/>
          <p:cNvSpPr txBox="1"/>
          <p:nvPr/>
        </p:nvSpPr>
        <p:spPr>
          <a:xfrm>
            <a:off x="762000" y="1524000"/>
            <a:ext cx="5334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en-US" altLang="zh-CN" sz="1800" dirty="0">
                <a:solidFill>
                  <a:srgbClr val="003399"/>
                </a:solidFill>
                <a:ea typeface="宋体" panose="02010600030101010101" pitchFamily="2" charset="-122"/>
              </a:rPr>
              <a:t>《</a:t>
            </a:r>
            <a:r>
              <a:rPr lang="zh-CN" altLang="en-US" sz="1800" dirty="0">
                <a:solidFill>
                  <a:srgbClr val="003399"/>
                </a:solidFill>
                <a:ea typeface="宋体" panose="02010600030101010101" pitchFamily="2" charset="-122"/>
              </a:rPr>
              <a:t>商业银行法</a:t>
            </a:r>
            <a:r>
              <a:rPr lang="en-US" altLang="zh-CN" sz="1800" dirty="0">
                <a:solidFill>
                  <a:srgbClr val="003399"/>
                </a:solidFill>
                <a:ea typeface="宋体" panose="02010600030101010101" pitchFamily="2" charset="-122"/>
              </a:rPr>
              <a:t>》</a:t>
            </a:r>
            <a:r>
              <a:rPr lang="zh-CN" altLang="en-US" sz="1800" dirty="0">
                <a:solidFill>
                  <a:srgbClr val="003399"/>
                </a:solidFill>
                <a:ea typeface="宋体" panose="02010600030101010101" pitchFamily="2" charset="-122"/>
              </a:rPr>
              <a:t>的规定：</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53637" name="Text Box 5"/>
          <p:cNvSpPr txBox="1"/>
          <p:nvPr/>
        </p:nvSpPr>
        <p:spPr>
          <a:xfrm>
            <a:off x="762000" y="1905000"/>
            <a:ext cx="7924800" cy="915988"/>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       设立商业银行，应当</a:t>
            </a:r>
            <a:r>
              <a:rPr lang="zh-CN" altLang="en-US" sz="1800" dirty="0">
                <a:solidFill>
                  <a:srgbClr val="FF0000"/>
                </a:solidFill>
                <a:ea typeface="宋体" panose="02010600030101010101" pitchFamily="2" charset="-122"/>
              </a:rPr>
              <a:t>经国务院银行业监督管理机构审查批准</a:t>
            </a:r>
            <a:r>
              <a:rPr lang="zh-CN" altLang="en-US" sz="1800" dirty="0">
                <a:solidFill>
                  <a:schemeClr val="tx1"/>
                </a:solidFill>
                <a:ea typeface="宋体" panose="02010600030101010101" pitchFamily="2" charset="-122"/>
              </a:rPr>
              <a:t>。 </a:t>
            </a:r>
            <a:br>
              <a:rPr lang="zh-CN" altLang="en-US" sz="1800" dirty="0">
                <a:solidFill>
                  <a:schemeClr val="tx1"/>
                </a:solidFill>
                <a:ea typeface="宋体" panose="02010600030101010101" pitchFamily="2" charset="-122"/>
              </a:rPr>
            </a:br>
            <a:r>
              <a:rPr lang="zh-CN" altLang="en-US" sz="1800" dirty="0">
                <a:solidFill>
                  <a:schemeClr val="tx1"/>
                </a:solidFill>
                <a:ea typeface="宋体" panose="02010600030101010101" pitchFamily="2" charset="-122"/>
              </a:rPr>
              <a:t>       未经国务院银行业监督管理机构批准，任何单位和个人不得从事吸收公众存款等商业银行业务，任何单位不得在名称中使用“银行”字样。</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3639" name="Text Box 7"/>
          <p:cNvSpPr txBox="1"/>
          <p:nvPr/>
        </p:nvSpPr>
        <p:spPr>
          <a:xfrm>
            <a:off x="762000" y="2895600"/>
            <a:ext cx="8077200" cy="1739900"/>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60404"/>
                </a:solidFill>
                <a:ea typeface="宋体" panose="02010600030101010101" pitchFamily="2" charset="-122"/>
              </a:rPr>
              <a:t>       </a:t>
            </a:r>
            <a:r>
              <a:rPr lang="zh-CN" altLang="en-US" sz="1800" dirty="0">
                <a:solidFill>
                  <a:schemeClr val="tx1"/>
                </a:solidFill>
                <a:ea typeface="宋体" panose="02010600030101010101" pitchFamily="2" charset="-122"/>
              </a:rPr>
              <a:t>设立商业银行，应当具备下列条件：（一）有符合本法和</a:t>
            </a:r>
            <a:r>
              <a:rPr lang="en-US" altLang="zh-CN" sz="1800" dirty="0">
                <a:solidFill>
                  <a:schemeClr val="tx1"/>
                </a:solidFill>
                <a:ea typeface="宋体" panose="02010600030101010101" pitchFamily="2" charset="-122"/>
              </a:rPr>
              <a:t>《</a:t>
            </a:r>
            <a:r>
              <a:rPr lang="zh-CN" altLang="en-US" sz="1800" dirty="0">
                <a:solidFill>
                  <a:schemeClr val="tx1"/>
                </a:solidFill>
                <a:ea typeface="宋体" panose="02010600030101010101" pitchFamily="2" charset="-122"/>
              </a:rPr>
              <a:t>中华人民共和国公司法</a:t>
            </a:r>
            <a:r>
              <a:rPr lang="en-US" altLang="zh-CN" sz="1800" dirty="0">
                <a:solidFill>
                  <a:schemeClr val="tx1"/>
                </a:solidFill>
                <a:ea typeface="宋体" panose="02010600030101010101" pitchFamily="2" charset="-122"/>
              </a:rPr>
              <a:t>》</a:t>
            </a:r>
            <a:r>
              <a:rPr lang="zh-CN" altLang="en-US" sz="1800" dirty="0">
                <a:solidFill>
                  <a:schemeClr val="tx1"/>
                </a:solidFill>
                <a:ea typeface="宋体" panose="02010600030101010101" pitchFamily="2" charset="-122"/>
              </a:rPr>
              <a:t>规定的</a:t>
            </a:r>
            <a:r>
              <a:rPr lang="zh-CN" altLang="en-US" sz="1800" dirty="0">
                <a:solidFill>
                  <a:srgbClr val="FF0000"/>
                </a:solidFill>
                <a:ea typeface="宋体" panose="02010600030101010101" pitchFamily="2" charset="-122"/>
              </a:rPr>
              <a:t>章程</a:t>
            </a:r>
            <a:r>
              <a:rPr lang="zh-CN" altLang="en-US" sz="1800" dirty="0">
                <a:solidFill>
                  <a:schemeClr val="tx1"/>
                </a:solidFill>
                <a:ea typeface="宋体" panose="02010600030101010101" pitchFamily="2" charset="-122"/>
              </a:rPr>
              <a:t>； （二）有符合本法规定的</a:t>
            </a:r>
            <a:r>
              <a:rPr lang="zh-CN" altLang="en-US" sz="1800" dirty="0">
                <a:solidFill>
                  <a:srgbClr val="FF0000"/>
                </a:solidFill>
                <a:ea typeface="宋体" panose="02010600030101010101" pitchFamily="2" charset="-122"/>
              </a:rPr>
              <a:t>注册资本最低限额</a:t>
            </a:r>
            <a:r>
              <a:rPr lang="zh-CN" altLang="en-US" sz="1800" dirty="0">
                <a:solidFill>
                  <a:schemeClr val="tx1"/>
                </a:solidFill>
                <a:ea typeface="宋体" panose="02010600030101010101" pitchFamily="2" charset="-122"/>
              </a:rPr>
              <a:t>；（三）有具备任职专业知识和业务工作经验的</a:t>
            </a:r>
            <a:r>
              <a:rPr lang="zh-CN" altLang="en-US" sz="1800" dirty="0">
                <a:solidFill>
                  <a:srgbClr val="FF0000"/>
                </a:solidFill>
                <a:ea typeface="宋体" panose="02010600030101010101" pitchFamily="2" charset="-122"/>
              </a:rPr>
              <a:t>董事、高级管理人员</a:t>
            </a:r>
            <a:r>
              <a:rPr lang="zh-CN" altLang="en-US" sz="1800" dirty="0">
                <a:solidFill>
                  <a:schemeClr val="tx1"/>
                </a:solidFill>
                <a:ea typeface="宋体" panose="02010600030101010101" pitchFamily="2" charset="-122"/>
              </a:rPr>
              <a:t>；（四）有健全的</a:t>
            </a:r>
            <a:r>
              <a:rPr lang="zh-CN" altLang="en-US" sz="1800" dirty="0">
                <a:solidFill>
                  <a:srgbClr val="FF0000"/>
                </a:solidFill>
                <a:ea typeface="宋体" panose="02010600030101010101" pitchFamily="2" charset="-122"/>
              </a:rPr>
              <a:t>组织机构和管理制度</a:t>
            </a:r>
            <a:r>
              <a:rPr lang="zh-CN" altLang="en-US" sz="1800" dirty="0">
                <a:solidFill>
                  <a:schemeClr val="tx1"/>
                </a:solidFill>
                <a:ea typeface="宋体" panose="02010600030101010101" pitchFamily="2" charset="-122"/>
              </a:rPr>
              <a:t>； （五）有符合要求的</a:t>
            </a:r>
            <a:r>
              <a:rPr lang="zh-CN" altLang="en-US" sz="1800" dirty="0">
                <a:solidFill>
                  <a:srgbClr val="FF0000"/>
                </a:solidFill>
                <a:ea typeface="宋体" panose="02010600030101010101" pitchFamily="2" charset="-122"/>
              </a:rPr>
              <a:t>营业场所、安全防范措施和与业务有关的其他设施</a:t>
            </a:r>
            <a:r>
              <a:rPr lang="zh-CN" altLang="en-US" sz="1800" dirty="0">
                <a:solidFill>
                  <a:schemeClr val="tx1"/>
                </a:solidFill>
                <a:ea typeface="宋体" panose="02010600030101010101" pitchFamily="2" charset="-122"/>
              </a:rPr>
              <a:t>。 </a:t>
            </a:r>
            <a:br>
              <a:rPr lang="zh-CN" altLang="en-US" sz="1800" dirty="0">
                <a:solidFill>
                  <a:schemeClr val="tx1"/>
                </a:solidFill>
                <a:ea typeface="宋体" panose="02010600030101010101" pitchFamily="2" charset="-122"/>
              </a:rPr>
            </a:br>
            <a:r>
              <a:rPr lang="zh-CN" altLang="en-US" sz="1800" dirty="0">
                <a:solidFill>
                  <a:schemeClr val="tx1"/>
                </a:solidFill>
                <a:ea typeface="宋体" panose="02010600030101010101" pitchFamily="2" charset="-122"/>
              </a:rPr>
              <a:t>      设立商业银行，还应当符合</a:t>
            </a:r>
            <a:r>
              <a:rPr lang="zh-CN" altLang="en-US" sz="1800" dirty="0">
                <a:solidFill>
                  <a:srgbClr val="FF0000"/>
                </a:solidFill>
                <a:ea typeface="宋体" panose="02010600030101010101" pitchFamily="2" charset="-122"/>
              </a:rPr>
              <a:t>其他</a:t>
            </a:r>
            <a:r>
              <a:rPr lang="zh-CN" altLang="en-US" sz="1800" dirty="0">
                <a:solidFill>
                  <a:schemeClr val="tx1"/>
                </a:solidFill>
                <a:ea typeface="宋体" panose="02010600030101010101" pitchFamily="2" charset="-122"/>
              </a:rPr>
              <a:t>审慎性条件。</a:t>
            </a:r>
            <a:r>
              <a:rPr lang="zh-CN" altLang="en-US" sz="1800" dirty="0">
                <a:solidFill>
                  <a:srgbClr val="F60404"/>
                </a:solidFill>
                <a:ea typeface="宋体" panose="02010600030101010101" pitchFamily="2" charset="-122"/>
              </a:rPr>
              <a:t> </a:t>
            </a:r>
            <a:endParaRPr lang="en-US" altLang="zh-CN" sz="1800" dirty="0">
              <a:solidFill>
                <a:srgbClr val="F60404"/>
              </a:solidFill>
              <a:ea typeface="宋体" panose="02010600030101010101" pitchFamily="2" charset="-122"/>
            </a:endParaRPr>
          </a:p>
        </p:txBody>
      </p:sp>
      <p:sp>
        <p:nvSpPr>
          <p:cNvPr id="453642" name="Text Box 10"/>
          <p:cNvSpPr txBox="1"/>
          <p:nvPr/>
        </p:nvSpPr>
        <p:spPr>
          <a:xfrm>
            <a:off x="762000" y="4724400"/>
            <a:ext cx="7924800" cy="146526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       设立全国性商业银行的注册资本最低限额为</a:t>
            </a:r>
            <a:r>
              <a:rPr lang="zh-CN" altLang="en-US" sz="1800" dirty="0">
                <a:solidFill>
                  <a:srgbClr val="FF0000"/>
                </a:solidFill>
                <a:ea typeface="宋体" panose="02010600030101010101" pitchFamily="2" charset="-122"/>
              </a:rPr>
              <a:t>十亿元</a:t>
            </a:r>
            <a:r>
              <a:rPr lang="zh-CN" altLang="en-US" sz="1800" dirty="0">
                <a:solidFill>
                  <a:schemeClr val="tx1"/>
                </a:solidFill>
                <a:ea typeface="宋体" panose="02010600030101010101" pitchFamily="2" charset="-122"/>
              </a:rPr>
              <a:t>人民币。设立城市商业银行的注册资本最低限额为</a:t>
            </a:r>
            <a:r>
              <a:rPr lang="zh-CN" altLang="en-US" sz="1800" dirty="0">
                <a:solidFill>
                  <a:srgbClr val="FF0000"/>
                </a:solidFill>
                <a:ea typeface="宋体" panose="02010600030101010101" pitchFamily="2" charset="-122"/>
              </a:rPr>
              <a:t>一亿元</a:t>
            </a:r>
            <a:r>
              <a:rPr lang="zh-CN" altLang="en-US" sz="1800" dirty="0">
                <a:solidFill>
                  <a:schemeClr val="tx1"/>
                </a:solidFill>
                <a:ea typeface="宋体" panose="02010600030101010101" pitchFamily="2" charset="-122"/>
              </a:rPr>
              <a:t>人民币，设立农村商业银行的注册资本最低限额为</a:t>
            </a:r>
            <a:r>
              <a:rPr lang="zh-CN" altLang="en-US" sz="1800" dirty="0">
                <a:solidFill>
                  <a:srgbClr val="FF0000"/>
                </a:solidFill>
                <a:ea typeface="宋体" panose="02010600030101010101" pitchFamily="2" charset="-122"/>
              </a:rPr>
              <a:t>五千万元</a:t>
            </a:r>
            <a:r>
              <a:rPr lang="zh-CN" altLang="en-US" sz="1800" dirty="0">
                <a:solidFill>
                  <a:schemeClr val="tx1"/>
                </a:solidFill>
                <a:ea typeface="宋体" panose="02010600030101010101" pitchFamily="2" charset="-122"/>
              </a:rPr>
              <a:t>人民币。注册资本应当是实缴资本。 </a:t>
            </a:r>
            <a:br>
              <a:rPr lang="zh-CN" altLang="en-US" sz="1800" dirty="0">
                <a:solidFill>
                  <a:schemeClr val="tx1"/>
                </a:solidFill>
                <a:ea typeface="宋体" panose="02010600030101010101" pitchFamily="2" charset="-122"/>
              </a:rPr>
            </a:br>
            <a:r>
              <a:rPr lang="zh-CN" altLang="en-US" sz="1800" dirty="0">
                <a:solidFill>
                  <a:schemeClr val="tx1"/>
                </a:solidFill>
                <a:ea typeface="宋体" panose="02010600030101010101" pitchFamily="2" charset="-122"/>
              </a:rPr>
              <a:t>　　国务院银行业监督管理机构根据审慎监管的要求</a:t>
            </a:r>
            <a:r>
              <a:rPr lang="zh-CN" altLang="en-US" sz="1800" dirty="0">
                <a:solidFill>
                  <a:srgbClr val="FF0000"/>
                </a:solidFill>
                <a:ea typeface="宋体" panose="02010600030101010101" pitchFamily="2" charset="-122"/>
              </a:rPr>
              <a:t>可以调整</a:t>
            </a:r>
            <a:r>
              <a:rPr lang="zh-CN" altLang="en-US" sz="1800" dirty="0">
                <a:solidFill>
                  <a:schemeClr val="tx1"/>
                </a:solidFill>
                <a:ea typeface="宋体" panose="02010600030101010101" pitchFamily="2" charset="-122"/>
              </a:rPr>
              <a:t>注册资本最低限额，但不得少于前款规定的限额。</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53636"/>
                                        </p:tgtEl>
                                        <p:attrNameLst>
                                          <p:attrName>style.visibility</p:attrName>
                                        </p:attrNameLst>
                                      </p:cBhvr>
                                      <p:to>
                                        <p:strVal val="visible"/>
                                      </p:to>
                                    </p:set>
                                    <p:animEffect transition="in" filter="box(in)">
                                      <p:cBhvr>
                                        <p:cTn id="7" dur="500"/>
                                        <p:tgtEl>
                                          <p:spTgt spid="45363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3637"/>
                                        </p:tgtEl>
                                        <p:attrNameLst>
                                          <p:attrName>style.visibility</p:attrName>
                                        </p:attrNameLst>
                                      </p:cBhvr>
                                      <p:to>
                                        <p:strVal val="visible"/>
                                      </p:to>
                                    </p:set>
                                    <p:animEffect transition="in" filter="box(in)">
                                      <p:cBhvr>
                                        <p:cTn id="12" dur="500"/>
                                        <p:tgtEl>
                                          <p:spTgt spid="45363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3639"/>
                                        </p:tgtEl>
                                        <p:attrNameLst>
                                          <p:attrName>style.visibility</p:attrName>
                                        </p:attrNameLst>
                                      </p:cBhvr>
                                      <p:to>
                                        <p:strVal val="visible"/>
                                      </p:to>
                                    </p:set>
                                    <p:animEffect transition="in" filter="box(in)">
                                      <p:cBhvr>
                                        <p:cTn id="17" dur="500"/>
                                        <p:tgtEl>
                                          <p:spTgt spid="45363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3642"/>
                                        </p:tgtEl>
                                        <p:attrNameLst>
                                          <p:attrName>style.visibility</p:attrName>
                                        </p:attrNameLst>
                                      </p:cBhvr>
                                      <p:to>
                                        <p:strVal val="visible"/>
                                      </p:to>
                                    </p:set>
                                    <p:animEffect transition="in" filter="box(in)">
                                      <p:cBhvr>
                                        <p:cTn id="22" dur="500"/>
                                        <p:tgtEl>
                                          <p:spTgt spid="453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6" grpId="0"/>
      <p:bldP spid="453637" grpId="0"/>
      <p:bldP spid="453639" grpId="0"/>
      <p:bldP spid="453642"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9938"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日常经营监管</a:t>
            </a:r>
            <a:endParaRPr lang="zh-CN" altLang="en-US" dirty="0">
              <a:solidFill>
                <a:schemeClr val="tx1"/>
              </a:solidFill>
            </a:endParaRPr>
          </a:p>
        </p:txBody>
      </p:sp>
      <p:sp>
        <p:nvSpPr>
          <p:cNvPr id="39939"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54660" name="Text Box 4"/>
          <p:cNvSpPr txBox="1"/>
          <p:nvPr/>
        </p:nvSpPr>
        <p:spPr>
          <a:xfrm>
            <a:off x="762000" y="1524000"/>
            <a:ext cx="5257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组织架构</a:t>
            </a:r>
            <a:r>
              <a:rPr lang="zh-CN" altLang="en-US" sz="1800" b="0" dirty="0">
                <a:solidFill>
                  <a:schemeClr val="tx1"/>
                </a:solidFill>
                <a:ea typeface="宋体" panose="02010600030101010101" pitchFamily="2" charset="-122"/>
              </a:rPr>
              <a:t>  </a:t>
            </a:r>
            <a:endParaRPr lang="zh-CN" altLang="en-US" sz="1800" b="0" dirty="0">
              <a:solidFill>
                <a:schemeClr val="tx1"/>
              </a:solidFill>
              <a:ea typeface="宋体" panose="02010600030101010101" pitchFamily="2" charset="-122"/>
            </a:endParaRPr>
          </a:p>
        </p:txBody>
      </p:sp>
      <p:sp>
        <p:nvSpPr>
          <p:cNvPr id="454661" name="Text Box 5"/>
          <p:cNvSpPr txBox="1"/>
          <p:nvPr/>
        </p:nvSpPr>
        <p:spPr>
          <a:xfrm>
            <a:off x="762000" y="2057400"/>
            <a:ext cx="5334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风险管理能力、内部控制机制</a:t>
            </a:r>
            <a:endParaRPr lang="en-US" altLang="zh-CN" sz="1800" dirty="0">
              <a:solidFill>
                <a:schemeClr val="tx1"/>
              </a:solidFill>
              <a:ea typeface="宋体" panose="02010600030101010101" pitchFamily="2" charset="-122"/>
            </a:endParaRPr>
          </a:p>
        </p:txBody>
      </p:sp>
      <p:sp>
        <p:nvSpPr>
          <p:cNvPr id="454662" name="Text Box 6"/>
          <p:cNvSpPr txBox="1"/>
          <p:nvPr/>
        </p:nvSpPr>
        <p:spPr>
          <a:xfrm>
            <a:off x="762000" y="25908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业务范围（分业与混业）</a:t>
            </a:r>
            <a:endParaRPr lang="zh-CN" altLang="en-US" sz="1800" dirty="0">
              <a:solidFill>
                <a:schemeClr val="tx1"/>
              </a:solidFill>
              <a:ea typeface="宋体" panose="02010600030101010101" pitchFamily="2" charset="-122"/>
            </a:endParaRPr>
          </a:p>
        </p:txBody>
      </p:sp>
      <p:sp>
        <p:nvSpPr>
          <p:cNvPr id="454663" name="Text Box 7"/>
          <p:cNvSpPr txBox="1"/>
          <p:nvPr/>
        </p:nvSpPr>
        <p:spPr>
          <a:xfrm>
            <a:off x="762000" y="3124200"/>
            <a:ext cx="3733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股东和高管资格</a:t>
            </a:r>
            <a:endParaRPr lang="zh-CN" altLang="en-US" sz="1800" dirty="0">
              <a:solidFill>
                <a:schemeClr val="tx1"/>
              </a:solidFill>
              <a:ea typeface="宋体" panose="02010600030101010101" pitchFamily="2" charset="-122"/>
            </a:endParaRPr>
          </a:p>
        </p:txBody>
      </p:sp>
      <p:sp>
        <p:nvSpPr>
          <p:cNvPr id="454664" name="Text Box 8"/>
          <p:cNvSpPr txBox="1"/>
          <p:nvPr/>
        </p:nvSpPr>
        <p:spPr>
          <a:xfrm>
            <a:off x="762000" y="3657600"/>
            <a:ext cx="31242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资本充足率监管</a:t>
            </a:r>
            <a:endParaRPr lang="zh-CN" altLang="en-US" sz="1800" dirty="0">
              <a:solidFill>
                <a:schemeClr val="tx1"/>
              </a:solidFill>
              <a:ea typeface="宋体" panose="02010600030101010101" pitchFamily="2" charset="-122"/>
            </a:endParaRPr>
          </a:p>
        </p:txBody>
      </p:sp>
      <p:sp>
        <p:nvSpPr>
          <p:cNvPr id="454665" name="Text Box 9"/>
          <p:cNvSpPr txBox="1"/>
          <p:nvPr/>
        </p:nvSpPr>
        <p:spPr>
          <a:xfrm>
            <a:off x="762000" y="4267200"/>
            <a:ext cx="32004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分立、合并</a:t>
            </a:r>
            <a:endParaRPr lang="zh-CN" altLang="en-US" sz="1800" dirty="0">
              <a:solidFill>
                <a:schemeClr val="tx1"/>
              </a:solidFill>
              <a:ea typeface="宋体" panose="02010600030101010101" pitchFamily="2" charset="-122"/>
            </a:endParaRPr>
          </a:p>
        </p:txBody>
      </p:sp>
      <p:sp>
        <p:nvSpPr>
          <p:cNvPr id="454666" name="Text Box 10"/>
          <p:cNvSpPr txBox="1"/>
          <p:nvPr/>
        </p:nvSpPr>
        <p:spPr>
          <a:xfrm>
            <a:off x="762000" y="4876800"/>
            <a:ext cx="6096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监管方法：现场监管、非现场监管</a:t>
            </a:r>
            <a:endParaRPr lang="en-US" altLang="zh-CN" sz="1800" dirty="0">
              <a:solidFill>
                <a:srgbClr val="FF0000"/>
              </a:solidFill>
              <a:ea typeface="宋体" panose="02010600030101010101" pitchFamily="2" charset="-122"/>
            </a:endParaRPr>
          </a:p>
        </p:txBody>
      </p:sp>
      <p:sp>
        <p:nvSpPr>
          <p:cNvPr id="454671" name="Text Box 15"/>
          <p:cNvSpPr txBox="1"/>
          <p:nvPr/>
        </p:nvSpPr>
        <p:spPr>
          <a:xfrm>
            <a:off x="762000" y="5486400"/>
            <a:ext cx="6096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监管内容：审慎监管、行为监管</a:t>
            </a:r>
            <a:endParaRPr lang="en-US" altLang="zh-CN" sz="18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54660"/>
                                        </p:tgtEl>
                                        <p:attrNameLst>
                                          <p:attrName>style.visibility</p:attrName>
                                        </p:attrNameLst>
                                      </p:cBhvr>
                                      <p:to>
                                        <p:strVal val="visible"/>
                                      </p:to>
                                    </p:set>
                                    <p:animEffect transition="in" filter="box(in)">
                                      <p:cBhvr>
                                        <p:cTn id="7" dur="500"/>
                                        <p:tgtEl>
                                          <p:spTgt spid="45466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4661"/>
                                        </p:tgtEl>
                                        <p:attrNameLst>
                                          <p:attrName>style.visibility</p:attrName>
                                        </p:attrNameLst>
                                      </p:cBhvr>
                                      <p:to>
                                        <p:strVal val="visible"/>
                                      </p:to>
                                    </p:set>
                                    <p:animEffect transition="in" filter="box(in)">
                                      <p:cBhvr>
                                        <p:cTn id="12" dur="500"/>
                                        <p:tgtEl>
                                          <p:spTgt spid="45466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4662"/>
                                        </p:tgtEl>
                                        <p:attrNameLst>
                                          <p:attrName>style.visibility</p:attrName>
                                        </p:attrNameLst>
                                      </p:cBhvr>
                                      <p:to>
                                        <p:strVal val="visible"/>
                                      </p:to>
                                    </p:set>
                                    <p:animEffect transition="in" filter="box(in)">
                                      <p:cBhvr>
                                        <p:cTn id="17" dur="500"/>
                                        <p:tgtEl>
                                          <p:spTgt spid="4546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4663"/>
                                        </p:tgtEl>
                                        <p:attrNameLst>
                                          <p:attrName>style.visibility</p:attrName>
                                        </p:attrNameLst>
                                      </p:cBhvr>
                                      <p:to>
                                        <p:strVal val="visible"/>
                                      </p:to>
                                    </p:set>
                                    <p:animEffect transition="in" filter="box(in)">
                                      <p:cBhvr>
                                        <p:cTn id="22" dur="500"/>
                                        <p:tgtEl>
                                          <p:spTgt spid="45466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4664"/>
                                        </p:tgtEl>
                                        <p:attrNameLst>
                                          <p:attrName>style.visibility</p:attrName>
                                        </p:attrNameLst>
                                      </p:cBhvr>
                                      <p:to>
                                        <p:strVal val="visible"/>
                                      </p:to>
                                    </p:set>
                                    <p:animEffect transition="in" filter="box(in)">
                                      <p:cBhvr>
                                        <p:cTn id="27" dur="500"/>
                                        <p:tgtEl>
                                          <p:spTgt spid="45466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54665"/>
                                        </p:tgtEl>
                                        <p:attrNameLst>
                                          <p:attrName>style.visibility</p:attrName>
                                        </p:attrNameLst>
                                      </p:cBhvr>
                                      <p:to>
                                        <p:strVal val="visible"/>
                                      </p:to>
                                    </p:set>
                                    <p:animEffect transition="in" filter="box(in)">
                                      <p:cBhvr>
                                        <p:cTn id="32" dur="500"/>
                                        <p:tgtEl>
                                          <p:spTgt spid="45466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54666"/>
                                        </p:tgtEl>
                                        <p:attrNameLst>
                                          <p:attrName>style.visibility</p:attrName>
                                        </p:attrNameLst>
                                      </p:cBhvr>
                                      <p:to>
                                        <p:strVal val="visible"/>
                                      </p:to>
                                    </p:set>
                                    <p:animEffect transition="in" filter="box(in)">
                                      <p:cBhvr>
                                        <p:cTn id="37" dur="500"/>
                                        <p:tgtEl>
                                          <p:spTgt spid="45466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54671"/>
                                        </p:tgtEl>
                                        <p:attrNameLst>
                                          <p:attrName>style.visibility</p:attrName>
                                        </p:attrNameLst>
                                      </p:cBhvr>
                                      <p:to>
                                        <p:strVal val="visible"/>
                                      </p:to>
                                    </p:set>
                                    <p:animEffect transition="in" filter="box(in)">
                                      <p:cBhvr>
                                        <p:cTn id="42" dur="500"/>
                                        <p:tgtEl>
                                          <p:spTgt spid="454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0" grpId="0"/>
      <p:bldP spid="454661" grpId="0"/>
      <p:bldP spid="454662" grpId="0"/>
      <p:bldP spid="454663" grpId="0"/>
      <p:bldP spid="454664" grpId="0"/>
      <p:bldP spid="454665" grpId="0"/>
      <p:bldP spid="454666" grpId="0"/>
      <p:bldP spid="45467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Rectangle 2"/>
          <p:cNvSpPr>
            <a:spLocks noGrp="1"/>
          </p:cNvSpPr>
          <p:nvPr>
            <p:ph type="title"/>
          </p:nvPr>
        </p:nvSpPr>
        <p:spPr>
          <a:xfrm>
            <a:off x="2057400" y="152400"/>
            <a:ext cx="5410200" cy="688975"/>
          </a:xfrm>
          <a:ln/>
        </p:spPr>
        <p:txBody>
          <a:bodyPr vert="horz" wrap="square" lIns="91440" tIns="36000" rIns="91440" bIns="45720" anchor="b" anchorCtr="1"/>
          <a:p>
            <a:r>
              <a:rPr lang="zh-CN" altLang="en-US" dirty="0">
                <a:solidFill>
                  <a:schemeClr val="tx1"/>
                </a:solidFill>
              </a:rPr>
              <a:t>市场退出监管</a:t>
            </a:r>
            <a:endParaRPr lang="zh-CN" altLang="en-US" dirty="0">
              <a:solidFill>
                <a:schemeClr val="tx1"/>
              </a:solidFill>
            </a:endParaRPr>
          </a:p>
        </p:txBody>
      </p:sp>
      <p:sp>
        <p:nvSpPr>
          <p:cNvPr id="40963" name="Rectangle 3"/>
          <p:cNvSpPr/>
          <p:nvPr>
            <p:ph idx="1"/>
          </p:nvPr>
        </p:nvSpPr>
        <p:spPr>
          <a:xfrm>
            <a:off x="2743200" y="4648200"/>
            <a:ext cx="8001000" cy="5410200"/>
          </a:xfrm>
          <a:ln/>
        </p:spPr>
        <p:txBody>
          <a:bodyPr vert="horz" wrap="square" lIns="91440" tIns="45720" rIns="91440" bIns="45720" anchor="t" anchorCtr="0"/>
          <a:p>
            <a:pPr marL="609600" indent="-609600">
              <a:lnSpc>
                <a:spcPct val="120000"/>
              </a:lnSpc>
              <a:buNone/>
            </a:pPr>
            <a:endParaRPr lang="zh-CN" altLang="en-US" dirty="0"/>
          </a:p>
          <a:p>
            <a:pPr marL="609600" indent="-609600">
              <a:lnSpc>
                <a:spcPct val="120000"/>
              </a:lnSpc>
              <a:buNone/>
            </a:pPr>
            <a:endParaRPr lang="zh-CN" altLang="en-US" sz="2800" dirty="0">
              <a:solidFill>
                <a:srgbClr val="91074F"/>
              </a:solidFill>
            </a:endParaRPr>
          </a:p>
        </p:txBody>
      </p:sp>
      <p:sp>
        <p:nvSpPr>
          <p:cNvPr id="455684" name="Text Box 4"/>
          <p:cNvSpPr txBox="1"/>
          <p:nvPr/>
        </p:nvSpPr>
        <p:spPr>
          <a:xfrm>
            <a:off x="762000" y="1524000"/>
            <a:ext cx="7620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市场退出必须以监管机构的同意为前提</a:t>
            </a:r>
            <a:r>
              <a:rPr lang="zh-CN" altLang="en-US" sz="1800" b="0" dirty="0">
                <a:solidFill>
                  <a:srgbClr val="F60404"/>
                </a:solidFill>
                <a:ea typeface="宋体" panose="02010600030101010101" pitchFamily="2" charset="-122"/>
              </a:rPr>
              <a:t> </a:t>
            </a:r>
            <a:r>
              <a:rPr lang="en-US" altLang="zh-CN" sz="1800" b="0" dirty="0">
                <a:solidFill>
                  <a:schemeClr val="tx1"/>
                </a:solidFill>
                <a:ea typeface="宋体" panose="02010600030101010101" pitchFamily="2" charset="-122"/>
              </a:rPr>
              <a:t>  </a:t>
            </a:r>
            <a:endParaRPr lang="en-US" altLang="zh-CN" sz="1800" b="0" dirty="0">
              <a:solidFill>
                <a:schemeClr val="tx1"/>
              </a:solidFill>
              <a:ea typeface="宋体" panose="02010600030101010101" pitchFamily="2" charset="-122"/>
            </a:endParaRPr>
          </a:p>
        </p:txBody>
      </p:sp>
      <p:sp>
        <p:nvSpPr>
          <p:cNvPr id="455685" name="Text Box 5"/>
          <p:cNvSpPr txBox="1"/>
          <p:nvPr/>
        </p:nvSpPr>
        <p:spPr>
          <a:xfrm>
            <a:off x="762000" y="2057400"/>
            <a:ext cx="5715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监管部门负责清算等行政处置程序</a:t>
            </a:r>
            <a:endParaRPr lang="zh-CN" altLang="en-US" sz="1800" dirty="0">
              <a:solidFill>
                <a:schemeClr val="tx1"/>
              </a:solidFill>
              <a:ea typeface="宋体" panose="02010600030101010101" pitchFamily="2" charset="-122"/>
            </a:endParaRPr>
          </a:p>
        </p:txBody>
      </p:sp>
      <p:sp>
        <p:nvSpPr>
          <p:cNvPr id="455686" name="Text Box 6"/>
          <p:cNvSpPr txBox="1"/>
          <p:nvPr/>
        </p:nvSpPr>
        <p:spPr>
          <a:xfrm>
            <a:off x="762000" y="2590800"/>
            <a:ext cx="6477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由监管部门向法院提起破产申请</a:t>
            </a:r>
            <a:endParaRPr lang="zh-CN" altLang="en-US" sz="1800" dirty="0">
              <a:solidFill>
                <a:schemeClr val="tx1"/>
              </a:solidFill>
              <a:ea typeface="宋体" panose="02010600030101010101" pitchFamily="2" charset="-122"/>
            </a:endParaRPr>
          </a:p>
        </p:txBody>
      </p:sp>
      <p:sp>
        <p:nvSpPr>
          <p:cNvPr id="455687" name="Text Box 7"/>
          <p:cNvSpPr txBox="1"/>
          <p:nvPr/>
        </p:nvSpPr>
        <p:spPr>
          <a:xfrm>
            <a:off x="762000" y="3124200"/>
            <a:ext cx="3733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司法程序中监管部门的影响力</a:t>
            </a:r>
            <a:endParaRPr lang="zh-CN" altLang="en-US" sz="1800" dirty="0">
              <a:solidFill>
                <a:schemeClr val="tx1"/>
              </a:solidFill>
              <a:ea typeface="宋体" panose="02010600030101010101" pitchFamily="2" charset="-122"/>
            </a:endParaRPr>
          </a:p>
        </p:txBody>
      </p:sp>
      <p:sp>
        <p:nvSpPr>
          <p:cNvPr id="455688" name="Text Box 8"/>
          <p:cNvSpPr txBox="1"/>
          <p:nvPr/>
        </p:nvSpPr>
        <p:spPr>
          <a:xfrm>
            <a:off x="762000" y="3657600"/>
            <a:ext cx="71628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行政部门主导的存款保险机制</a:t>
            </a:r>
            <a:r>
              <a:rPr lang="zh-CN" altLang="en-US" sz="1800" b="0" dirty="0">
                <a:solidFill>
                  <a:srgbClr val="F60404"/>
                </a:solidFill>
                <a:ea typeface="宋体" panose="02010600030101010101" pitchFamily="2" charset="-122"/>
              </a:rPr>
              <a:t> </a:t>
            </a:r>
            <a:endParaRPr lang="en-US" altLang="zh-CN" sz="1800" b="0" dirty="0">
              <a:solidFill>
                <a:srgbClr val="F60404"/>
              </a:solidFill>
              <a:ea typeface="宋体" panose="02010600030101010101" pitchFamily="2" charset="-122"/>
            </a:endParaRPr>
          </a:p>
        </p:txBody>
      </p:sp>
      <p:sp>
        <p:nvSpPr>
          <p:cNvPr id="455689" name="Text Box 9"/>
          <p:cNvSpPr txBox="1"/>
          <p:nvPr/>
        </p:nvSpPr>
        <p:spPr>
          <a:xfrm>
            <a:off x="762000" y="4343400"/>
            <a:ext cx="4419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rgbClr val="FF0000"/>
                </a:solidFill>
                <a:ea typeface="宋体" panose="02010600030101010101" pitchFamily="2" charset="-122"/>
              </a:rPr>
              <a:t>美国：联邦存款保险公司（</a:t>
            </a:r>
            <a:r>
              <a:rPr lang="en-US" altLang="zh-CN" sz="1800" dirty="0">
                <a:solidFill>
                  <a:srgbClr val="FF0000"/>
                </a:solidFill>
                <a:ea typeface="宋体" panose="02010600030101010101" pitchFamily="2" charset="-122"/>
              </a:rPr>
              <a:t>FDIC</a:t>
            </a:r>
            <a:r>
              <a:rPr lang="zh-CN" altLang="en-US" sz="1800" dirty="0">
                <a:solidFill>
                  <a:srgbClr val="FF0000"/>
                </a:solidFill>
                <a:ea typeface="宋体" panose="02010600030101010101" pitchFamily="2" charset="-122"/>
              </a:rPr>
              <a:t>）</a:t>
            </a:r>
            <a:endParaRPr lang="zh-CN" altLang="en-US" sz="1800" dirty="0">
              <a:solidFill>
                <a:srgbClr val="FF0000"/>
              </a:solidFill>
              <a:ea typeface="宋体" panose="02010600030101010101" pitchFamily="2" charset="-122"/>
            </a:endParaRPr>
          </a:p>
        </p:txBody>
      </p:sp>
      <p:sp>
        <p:nvSpPr>
          <p:cNvPr id="455690" name="Text Box 10"/>
          <p:cNvSpPr txBox="1"/>
          <p:nvPr/>
        </p:nvSpPr>
        <p:spPr>
          <a:xfrm>
            <a:off x="762000" y="4876800"/>
            <a:ext cx="53340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法院对银行破产案件没有管辖权</a:t>
            </a:r>
            <a:endParaRPr lang="zh-CN" altLang="en-US" sz="1800" dirty="0">
              <a:solidFill>
                <a:schemeClr val="tx1"/>
              </a:solidFill>
              <a:ea typeface="宋体" panose="02010600030101010101" pitchFamily="2" charset="-122"/>
            </a:endParaRPr>
          </a:p>
        </p:txBody>
      </p:sp>
      <p:sp>
        <p:nvSpPr>
          <p:cNvPr id="455691" name="Text Box 11"/>
          <p:cNvSpPr txBox="1"/>
          <p:nvPr/>
        </p:nvSpPr>
        <p:spPr>
          <a:xfrm>
            <a:off x="762000" y="5410200"/>
            <a:ext cx="7848600" cy="366713"/>
          </a:xfrm>
          <a:prstGeom prst="rect">
            <a:avLst/>
          </a:prstGeom>
          <a:noFill/>
          <a:ln w="38100">
            <a:noFill/>
          </a:ln>
        </p:spPr>
        <p:txBody>
          <a:bodyPr lIns="90000" tIns="46800" rIns="90000" bIns="46800">
            <a:spAutoFit/>
          </a:bodyPr>
          <a:lstStyle>
            <a:lvl1pPr marL="449580" indent="-449580" algn="l" rtl="0" eaLnBrk="0" fontAlgn="base" hangingPunct="0">
              <a:lnSpc>
                <a:spcPct val="110000"/>
              </a:lnSpc>
              <a:spcBef>
                <a:spcPct val="20000"/>
              </a:spcBef>
              <a:spcAft>
                <a:spcPct val="0"/>
              </a:spcAft>
              <a:buSzPct val="120000"/>
              <a:buBlip>
                <a:blip r:embed="rId1"/>
              </a:buBlip>
              <a:defRPr sz="2400" b="1">
                <a:solidFill>
                  <a:srgbClr val="133984"/>
                </a:solidFill>
                <a:latin typeface="+mn-lt"/>
                <a:ea typeface="+mn-ea"/>
                <a:cs typeface="+mn-cs"/>
              </a:defRPr>
            </a:lvl1pPr>
            <a:lvl2pPr marL="914400" indent="-285750" algn="l" rtl="0" eaLnBrk="0" fontAlgn="base" hangingPunct="0">
              <a:lnSpc>
                <a:spcPct val="110000"/>
              </a:lnSpc>
              <a:spcBef>
                <a:spcPct val="20000"/>
              </a:spcBef>
              <a:spcAft>
                <a:spcPct val="0"/>
              </a:spcAft>
              <a:buClr>
                <a:srgbClr val="A50021"/>
              </a:buClr>
              <a:buFont typeface="Arial" panose="020B0604020202020204" pitchFamily="34" charset="0"/>
              <a:buChar char="—"/>
              <a:defRPr sz="2000" b="1">
                <a:solidFill>
                  <a:srgbClr val="133984"/>
                </a:solidFill>
                <a:latin typeface="+mn-lt"/>
                <a:ea typeface="+mn-ea"/>
              </a:defRPr>
            </a:lvl2pPr>
            <a:lvl3pPr marL="1322705" indent="-228600" algn="l" rtl="0" eaLnBrk="0" fontAlgn="base" hangingPunct="0">
              <a:spcBef>
                <a:spcPct val="20000"/>
              </a:spcBef>
              <a:spcAft>
                <a:spcPct val="0"/>
              </a:spcAft>
              <a:buChar char="•"/>
              <a:defRPr sz="2400" b="1">
                <a:solidFill>
                  <a:srgbClr val="133984"/>
                </a:solidFill>
                <a:latin typeface="+mn-lt"/>
                <a:ea typeface="+mn-ea"/>
              </a:defRPr>
            </a:lvl3pPr>
            <a:lvl4pPr marL="173037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13868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lnSpc>
                <a:spcPct val="100000"/>
              </a:lnSpc>
              <a:spcBef>
                <a:spcPct val="50000"/>
              </a:spcBef>
              <a:buSzTx/>
              <a:buNone/>
            </a:pPr>
            <a:r>
              <a:rPr lang="zh-CN" altLang="en-US" sz="1800" dirty="0">
                <a:solidFill>
                  <a:schemeClr val="tx1"/>
                </a:solidFill>
                <a:ea typeface="宋体" panose="02010600030101010101" pitchFamily="2" charset="-122"/>
              </a:rPr>
              <a:t>高效的行政处置工作：“周五～周一模式”</a:t>
            </a:r>
            <a:r>
              <a:rPr lang="zh-CN" altLang="en-US" sz="1800" b="0" dirty="0">
                <a:solidFill>
                  <a:srgbClr val="F60404"/>
                </a:solidFill>
                <a:ea typeface="宋体" panose="02010600030101010101" pitchFamily="2" charset="-122"/>
              </a:rPr>
              <a:t> </a:t>
            </a:r>
            <a:endParaRPr lang="zh-CN" altLang="en-US" sz="1800" b="0" dirty="0">
              <a:solidFill>
                <a:srgbClr val="F60404"/>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Pct val="0"/>
                                  </p:iterate>
                                  <p:childTnLst>
                                    <p:set>
                                      <p:cBhvr>
                                        <p:cTn id="6" dur="1" fill="hold">
                                          <p:stCondLst>
                                            <p:cond delay="0"/>
                                          </p:stCondLst>
                                        </p:cTn>
                                        <p:tgtEl>
                                          <p:spTgt spid="455684"/>
                                        </p:tgtEl>
                                        <p:attrNameLst>
                                          <p:attrName>style.visibility</p:attrName>
                                        </p:attrNameLst>
                                      </p:cBhvr>
                                      <p:to>
                                        <p:strVal val="visible"/>
                                      </p:to>
                                    </p:set>
                                    <p:animEffect transition="in" filter="box(in)">
                                      <p:cBhvr>
                                        <p:cTn id="7" dur="500"/>
                                        <p:tgtEl>
                                          <p:spTgt spid="45568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5685"/>
                                        </p:tgtEl>
                                        <p:attrNameLst>
                                          <p:attrName>style.visibility</p:attrName>
                                        </p:attrNameLst>
                                      </p:cBhvr>
                                      <p:to>
                                        <p:strVal val="visible"/>
                                      </p:to>
                                    </p:set>
                                    <p:animEffect transition="in" filter="box(in)">
                                      <p:cBhvr>
                                        <p:cTn id="12" dur="500"/>
                                        <p:tgtEl>
                                          <p:spTgt spid="45568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5686"/>
                                        </p:tgtEl>
                                        <p:attrNameLst>
                                          <p:attrName>style.visibility</p:attrName>
                                        </p:attrNameLst>
                                      </p:cBhvr>
                                      <p:to>
                                        <p:strVal val="visible"/>
                                      </p:to>
                                    </p:set>
                                    <p:animEffect transition="in" filter="box(in)">
                                      <p:cBhvr>
                                        <p:cTn id="17" dur="500"/>
                                        <p:tgtEl>
                                          <p:spTgt spid="45568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55687"/>
                                        </p:tgtEl>
                                        <p:attrNameLst>
                                          <p:attrName>style.visibility</p:attrName>
                                        </p:attrNameLst>
                                      </p:cBhvr>
                                      <p:to>
                                        <p:strVal val="visible"/>
                                      </p:to>
                                    </p:set>
                                    <p:animEffect transition="in" filter="box(in)">
                                      <p:cBhvr>
                                        <p:cTn id="22" dur="500"/>
                                        <p:tgtEl>
                                          <p:spTgt spid="45568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5688"/>
                                        </p:tgtEl>
                                        <p:attrNameLst>
                                          <p:attrName>style.visibility</p:attrName>
                                        </p:attrNameLst>
                                      </p:cBhvr>
                                      <p:to>
                                        <p:strVal val="visible"/>
                                      </p:to>
                                    </p:set>
                                    <p:animEffect transition="in" filter="box(in)">
                                      <p:cBhvr>
                                        <p:cTn id="27" dur="500"/>
                                        <p:tgtEl>
                                          <p:spTgt spid="45568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55689"/>
                                        </p:tgtEl>
                                        <p:attrNameLst>
                                          <p:attrName>style.visibility</p:attrName>
                                        </p:attrNameLst>
                                      </p:cBhvr>
                                      <p:to>
                                        <p:strVal val="visible"/>
                                      </p:to>
                                    </p:set>
                                    <p:animEffect transition="in" filter="box(in)">
                                      <p:cBhvr>
                                        <p:cTn id="32" dur="500"/>
                                        <p:tgtEl>
                                          <p:spTgt spid="45568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455690"/>
                                        </p:tgtEl>
                                        <p:attrNameLst>
                                          <p:attrName>style.visibility</p:attrName>
                                        </p:attrNameLst>
                                      </p:cBhvr>
                                      <p:to>
                                        <p:strVal val="visible"/>
                                      </p:to>
                                    </p:set>
                                    <p:animEffect transition="in" filter="box(in)">
                                      <p:cBhvr>
                                        <p:cTn id="37" dur="500"/>
                                        <p:tgtEl>
                                          <p:spTgt spid="45569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55691"/>
                                        </p:tgtEl>
                                        <p:attrNameLst>
                                          <p:attrName>style.visibility</p:attrName>
                                        </p:attrNameLst>
                                      </p:cBhvr>
                                      <p:to>
                                        <p:strVal val="visible"/>
                                      </p:to>
                                    </p:set>
                                    <p:animEffect transition="in" filter="box(in)">
                                      <p:cBhvr>
                                        <p:cTn id="42" dur="500"/>
                                        <p:tgtEl>
                                          <p:spTgt spid="455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4" grpId="0"/>
      <p:bldP spid="455685" grpId="0"/>
      <p:bldP spid="455686" grpId="0"/>
      <p:bldP spid="455687" grpId="0"/>
      <p:bldP spid="455688" grpId="0"/>
      <p:bldP spid="455689" grpId="0"/>
      <p:bldP spid="455690" grpId="0"/>
      <p:bldP spid="45569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457200" y="274638"/>
            <a:ext cx="8229600" cy="850900"/>
          </a:xfrm>
          <a:ln/>
        </p:spPr>
        <p:txBody>
          <a:bodyPr vert="horz" wrap="square" lIns="91440" tIns="36000" rIns="91440" bIns="45720" anchor="b" anchorCtr="1"/>
          <a:p>
            <a:pPr>
              <a:buNone/>
            </a:pPr>
            <a:r>
              <a:rPr lang="en-US" altLang="zh-CN" sz="3600" dirty="0">
                <a:solidFill>
                  <a:srgbClr val="0000FF"/>
                </a:solidFill>
              </a:rPr>
              <a:t>SVB</a:t>
            </a:r>
            <a:r>
              <a:rPr lang="zh-CN" altLang="en-US" sz="3600" dirty="0">
                <a:solidFill>
                  <a:srgbClr val="0000FF"/>
                </a:solidFill>
              </a:rPr>
              <a:t>：“周五</a:t>
            </a:r>
            <a:r>
              <a:rPr lang="en-US" altLang="zh-CN" sz="3600" dirty="0">
                <a:solidFill>
                  <a:srgbClr val="0000FF"/>
                </a:solidFill>
              </a:rPr>
              <a:t>~</a:t>
            </a:r>
            <a:r>
              <a:rPr lang="zh-CN" altLang="en-US" sz="3600" dirty="0">
                <a:solidFill>
                  <a:srgbClr val="0000FF"/>
                </a:solidFill>
              </a:rPr>
              <a:t>周一”模式</a:t>
            </a:r>
            <a:endParaRPr lang="zh-CN" altLang="en-US" sz="3600" dirty="0">
              <a:solidFill>
                <a:srgbClr val="0000FF"/>
              </a:solidFill>
            </a:endParaRPr>
          </a:p>
        </p:txBody>
      </p:sp>
      <p:pic>
        <p:nvPicPr>
          <p:cNvPr id="41987" name="Picture 2" descr="E:\交大201709\会议\20230818 国际金融法专委会\SVB\SVB.png"/>
          <p:cNvPicPr>
            <a:picLocks noChangeAspect="1"/>
          </p:cNvPicPr>
          <p:nvPr/>
        </p:nvPicPr>
        <p:blipFill>
          <a:blip r:embed="rId1"/>
          <a:stretch>
            <a:fillRect/>
          </a:stretch>
        </p:blipFill>
        <p:spPr>
          <a:xfrm>
            <a:off x="1042988" y="1268413"/>
            <a:ext cx="7345362" cy="5491162"/>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3010" name="Rectangle 3"/>
          <p:cNvSpPr/>
          <p:nvPr>
            <p:ph idx="1"/>
          </p:nvPr>
        </p:nvSpPr>
        <p:spPr>
          <a:ln/>
        </p:spPr>
        <p:txBody>
          <a:bodyPr vert="horz" wrap="square" lIns="91440" tIns="45720" rIns="91440" bIns="45720" anchor="t" anchorCtr="0"/>
          <a:p>
            <a:pPr algn="ctr">
              <a:buNone/>
            </a:pPr>
            <a:endParaRPr lang="en-US" altLang="zh-CN" sz="6600" dirty="0"/>
          </a:p>
          <a:p>
            <a:pPr algn="ctr">
              <a:buNone/>
            </a:pPr>
            <a:r>
              <a:rPr lang="en-US" altLang="zh-CN" sz="8000" dirty="0">
                <a:solidFill>
                  <a:srgbClr val="FF0000"/>
                </a:solidFill>
              </a:rPr>
              <a:t>THE END</a:t>
            </a:r>
            <a:endParaRPr lang="en-US" altLang="zh-CN" sz="8000" dirty="0">
              <a:solidFill>
                <a:srgbClr val="FF0000"/>
              </a:solidFill>
            </a:endParaRPr>
          </a:p>
        </p:txBody>
      </p:sp>
    </p:spTree>
  </p:cSld>
  <p:clrMapOvr>
    <a:masterClrMapping/>
  </p:clrMapOvr>
</p:sld>
</file>

<file path=ppt/theme/theme1.xml><?xml version="1.0" encoding="utf-8"?>
<a:theme xmlns:a="http://schemas.openxmlformats.org/drawingml/2006/main" name="中国发展论坛张杰校长报告070930">
  <a:themeElements>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国发展论坛张杰校长报告070930">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3000" b="1" i="0" u="none" strike="noStrike" cap="none" normalizeH="0" baseline="0" smtClean="0">
            <a:ln>
              <a:noFill/>
            </a:ln>
            <a:solidFill>
              <a:srgbClr val="133984"/>
            </a:solidFill>
            <a:effectLst/>
            <a:latin typeface="Book Antiqua" panose="02040602050305030304" pitchFamily="18"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3000" b="1" i="0" u="none" strike="noStrike" cap="none" normalizeH="0" baseline="0" smtClean="0">
            <a:ln>
              <a:noFill/>
            </a:ln>
            <a:solidFill>
              <a:srgbClr val="133984"/>
            </a:solidFill>
            <a:effectLst/>
            <a:latin typeface="Book Antiqua" panose="02040602050305030304" pitchFamily="18" charset="0"/>
            <a:ea typeface="黑体" panose="02010609060101010101" pitchFamily="49" charset="-122"/>
          </a:defRPr>
        </a:defPPr>
      </a:lstStyle>
    </a:lnDef>
  </a:objectDefaults>
  <a:extraClrSchemeLst>
    <a:extraClrScheme>
      <a:clrScheme name="中国发展论坛张杰校长报告07093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国发展论坛张杰校长报告07093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国发展论坛张杰校长报告07093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国发展论坛张杰校长报告07093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国发展论坛张杰校长报告07093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国发展论坛张杰校长报告07093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国发展论坛张杰校长报告07093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国发展论坛张杰校长报告07093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国发展论坛张杰校长报告07093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国发展论坛张杰校长报告07093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国发展论坛张杰校长报告07093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国发展论坛张杰校长报告07093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3125</Words>
  <Application>WPS 演示</Application>
  <PresentationFormat>全屏显示(4:3)</PresentationFormat>
  <Paragraphs>316</Paragraphs>
  <Slides>25</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宋体</vt:lpstr>
      <vt:lpstr>Wingdings</vt:lpstr>
      <vt:lpstr>黑体</vt:lpstr>
      <vt:lpstr>Book Antiqua</vt:lpstr>
      <vt:lpstr>楷体</vt:lpstr>
      <vt:lpstr>Times New Roman</vt:lpstr>
      <vt:lpstr>Comic Sans MS</vt:lpstr>
      <vt:lpstr>华文行楷</vt:lpstr>
      <vt:lpstr>华文新魏</vt:lpstr>
      <vt:lpstr>微软雅黑</vt:lpstr>
      <vt:lpstr>Arial Unicode MS</vt:lpstr>
      <vt:lpstr>中国发展论坛张杰校长报告070930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waxyu</dc:creator>
  <cp:lastModifiedBy>王彦成</cp:lastModifiedBy>
  <cp:revision>1699</cp:revision>
  <dcterms:created xsi:type="dcterms:W3CDTF">2009-02-19T15:03:50Z</dcterms:created>
  <dcterms:modified xsi:type="dcterms:W3CDTF">2026-06-20T15:55:49Z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2052-12.1.0.17147</vt:lpwstr>
  </property>
  <property fmtid="{D5CDD505-2E9C-101B-9397-08002B2CF9AE}" pid="4" name="ICV">
    <vt:lpwstr>0B40FEF51EFF452DAF4C42BEC104626B_13</vt:lpwstr>
  </property>
</Properties>
</file>