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2"/>
  </p:handoutMasterIdLst>
  <p:sldIdLst>
    <p:sldId id="256" r:id="rId3"/>
    <p:sldId id="511" r:id="rId5"/>
    <p:sldId id="512" r:id="rId6"/>
    <p:sldId id="513" r:id="rId7"/>
    <p:sldId id="548" r:id="rId8"/>
    <p:sldId id="547" r:id="rId9"/>
    <p:sldId id="514" r:id="rId10"/>
    <p:sldId id="516" r:id="rId11"/>
    <p:sldId id="517" r:id="rId12"/>
    <p:sldId id="518" r:id="rId13"/>
    <p:sldId id="549" r:id="rId14"/>
    <p:sldId id="550" r:id="rId15"/>
    <p:sldId id="551" r:id="rId16"/>
    <p:sldId id="552" r:id="rId17"/>
    <p:sldId id="555" r:id="rId18"/>
    <p:sldId id="556" r:id="rId19"/>
    <p:sldId id="554" r:id="rId20"/>
    <p:sldId id="553" r:id="rId21"/>
  </p:sldIdLst>
  <p:sldSz cx="9144000" cy="6858000" type="screen4x3"/>
  <p:notesSz cx="6858000" cy="9144000"/>
  <p:custDataLst>
    <p:tags r:id="rId26"/>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rgbClr val="F60404"/>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rgbClr val="F60404"/>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rgbClr val="F60404"/>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rgbClr val="F60404"/>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rgbClr val="F60404"/>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rgbClr val="F60404"/>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rgbClr val="F60404"/>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rgbClr val="F60404"/>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rgbClr val="F60404"/>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968" userDrawn="1">
          <p15:clr>
            <a:srgbClr val="A4A3A4"/>
          </p15:clr>
        </p15:guide>
        <p15:guide id="2" pos="288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CC3300"/>
    <a:srgbClr val="FFFF00"/>
    <a:srgbClr val="00FFCC"/>
    <a:srgbClr val="66FF99"/>
    <a:srgbClr val="00FF99"/>
    <a:srgbClr val="006699"/>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6108"/>
    <p:restoredTop sz="95218"/>
  </p:normalViewPr>
  <p:slideViewPr>
    <p:cSldViewPr showGuides="1">
      <p:cViewPr varScale="1">
        <p:scale>
          <a:sx n="63" d="100"/>
          <a:sy n="63" d="100"/>
        </p:scale>
        <p:origin x="1360" y="32"/>
      </p:cViewPr>
      <p:guideLst>
        <p:guide orient="horz" pos="1968"/>
        <p:guide pos="2887"/>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6199" cy="76199"/>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gs" Target="tags/tag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handoutMaster" Target="handoutMasters/handoutMaster1.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5155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0" hangingPunct="0">
              <a:spcBef>
                <a:spcPct val="0"/>
              </a:spcBef>
              <a:defRPr sz="1200" b="1">
                <a:solidFill>
                  <a:srgbClr val="133984"/>
                </a:solidFill>
                <a:latin typeface="Book Antiqua" panose="02040602050305030304" pitchFamily="18" charset="0"/>
                <a:ea typeface="黑体" panose="02010609060101010101" pitchFamily="49"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133984"/>
              </a:solidFill>
              <a:effectLst/>
              <a:uLnTx/>
              <a:uFillTx/>
              <a:latin typeface="Book Antiqua" panose="02040602050305030304" pitchFamily="18" charset="0"/>
              <a:ea typeface="黑体" panose="02010609060101010101" pitchFamily="49" charset="-122"/>
              <a:cs typeface="+mn-cs"/>
            </a:endParaRPr>
          </a:p>
        </p:txBody>
      </p:sp>
      <p:sp>
        <p:nvSpPr>
          <p:cNvPr id="151555"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0" hangingPunct="0">
              <a:spcBef>
                <a:spcPct val="0"/>
              </a:spcBef>
              <a:defRPr sz="1200" b="1">
                <a:solidFill>
                  <a:srgbClr val="133984"/>
                </a:solidFill>
                <a:latin typeface="Book Antiqua" panose="02040602050305030304" pitchFamily="18" charset="0"/>
                <a:ea typeface="黑体" panose="02010609060101010101" pitchFamily="49"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0839A713-3CA8-433E-AAE6-BE3B81F778D6}" type="datetime1">
              <a:rPr kumimoji="0" lang="zh-CN" altLang="en-US" sz="1200" b="1" i="0" u="none" strike="noStrike" kern="1200" cap="none" spc="0" normalizeH="0" baseline="0" noProof="0">
                <a:ln>
                  <a:noFill/>
                </a:ln>
                <a:solidFill>
                  <a:srgbClr val="133984"/>
                </a:solidFill>
                <a:effectLst/>
                <a:uLnTx/>
                <a:uFillTx/>
                <a:latin typeface="Book Antiqua" panose="02040602050305030304" pitchFamily="18" charset="0"/>
                <a:ea typeface="黑体" panose="02010609060101010101" pitchFamily="49" charset="-122"/>
                <a:cs typeface="+mn-cs"/>
              </a:rPr>
            </a:fld>
            <a:endParaRPr kumimoji="0" lang="en-US" altLang="zh-CN" sz="1200" b="1" i="0" u="none" strike="noStrike" kern="1200" cap="none" spc="0" normalizeH="0" baseline="0" noProof="0">
              <a:ln>
                <a:noFill/>
              </a:ln>
              <a:solidFill>
                <a:srgbClr val="133984"/>
              </a:solidFill>
              <a:effectLst/>
              <a:uLnTx/>
              <a:uFillTx/>
              <a:latin typeface="Book Antiqua" panose="02040602050305030304" pitchFamily="18" charset="0"/>
              <a:ea typeface="黑体" panose="02010609060101010101" pitchFamily="49" charset="-122"/>
              <a:cs typeface="+mn-cs"/>
            </a:endParaRPr>
          </a:p>
        </p:txBody>
      </p:sp>
      <p:sp>
        <p:nvSpPr>
          <p:cNvPr id="151556"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0" hangingPunct="0">
              <a:spcBef>
                <a:spcPct val="0"/>
              </a:spcBef>
              <a:defRPr sz="1200" b="1">
                <a:solidFill>
                  <a:srgbClr val="133984"/>
                </a:solidFill>
                <a:latin typeface="Book Antiqua" panose="02040602050305030304" pitchFamily="18" charset="0"/>
                <a:ea typeface="黑体" panose="02010609060101010101" pitchFamily="49"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1" i="0" u="none" strike="noStrike" kern="1200" cap="none" spc="0" normalizeH="0" baseline="0" noProof="0">
              <a:ln>
                <a:noFill/>
              </a:ln>
              <a:solidFill>
                <a:srgbClr val="133984"/>
              </a:solidFill>
              <a:effectLst/>
              <a:uLnTx/>
              <a:uFillTx/>
              <a:latin typeface="Book Antiqua" panose="02040602050305030304" pitchFamily="18" charset="0"/>
              <a:ea typeface="黑体" panose="02010609060101010101" pitchFamily="49" charset="-122"/>
              <a:cs typeface="+mn-cs"/>
            </a:endParaRPr>
          </a:p>
        </p:txBody>
      </p:sp>
      <p:sp>
        <p:nvSpPr>
          <p:cNvPr id="151557"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a:spcBef>
                <a:spcPct val="0"/>
              </a:spcBef>
            </a:pPr>
            <a:fld id="{9A0DB2DC-4C9A-4742-B13C-FB6460FD3503}" type="slidenum">
              <a:rPr lang="zh-CN" altLang="en-US" sz="1200" b="1" dirty="0">
                <a:solidFill>
                  <a:srgbClr val="133984"/>
                </a:solidFill>
                <a:latin typeface="Book Antiqua" panose="02040602050305030304" pitchFamily="18" charset="0"/>
                <a:ea typeface="黑体" panose="02010609060101010101" pitchFamily="49" charset="-122"/>
              </a:rPr>
            </a:fld>
            <a:endParaRPr lang="zh-CN" altLang="en-US" sz="1200" b="1" dirty="0">
              <a:solidFill>
                <a:srgbClr val="133984"/>
              </a:solidFill>
              <a:latin typeface="Book Antiqua" panose="02040602050305030304" pitchFamily="18" charset="0"/>
              <a:ea typeface="黑体" panose="02010609060101010101" pitchFamily="49"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spcBef>
                <a:spcPct val="0"/>
              </a:spcBef>
              <a:defRPr sz="120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sz="120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BD2B97F8-B04E-44E8-9CE3-6BEAC84EEE9E}" type="datetime1">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2" name="Rectangle 4"/>
          <p:cNvSpPr>
            <a:spLocks noRot="1"/>
          </p:cNvSpPr>
          <p:nvPr>
            <p:ph type="sldImg" idx="2"/>
          </p:nvPr>
        </p:nvSpPr>
        <p:spPr>
          <a:xfrm>
            <a:off x="1143000" y="685800"/>
            <a:ext cx="4572000" cy="3429000"/>
          </a:xfrm>
          <a:prstGeom prst="rect">
            <a:avLst/>
          </a:prstGeom>
          <a:noFill/>
          <a:ln w="9525">
            <a:noFill/>
          </a:ln>
        </p:spPr>
      </p:sp>
      <p:sp>
        <p:nvSpPr>
          <p:cNvPr id="3077" name="Rectangle 5"/>
          <p:cNvSpPr>
            <a:spLocks noGrp="1" noRot="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spcBef>
                <a:spcPct val="0"/>
              </a:spcBef>
              <a:defRPr sz="120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spcBef>
                <a:spcPct val="0"/>
              </a:spcBef>
            </a:pPr>
            <a:fld id="{9A0DB2DC-4C9A-4742-B13C-FB6460FD3503}" type="slidenum">
              <a:rPr lang="zh-CN" altLang="en-US" sz="1200" dirty="0">
                <a:solidFill>
                  <a:schemeClr val="tx1"/>
                </a:solidFill>
              </a:rPr>
            </a:fld>
            <a:endParaRPr lang="zh-CN" altLang="en-US" sz="1200" dirty="0">
              <a:solidFill>
                <a:schemeClr val="tx1"/>
              </a:solidFill>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5122" name="Rectangle 2"/>
          <p:cNvSpPr>
            <a:spLocks noRot="1" noTextEdit="1"/>
          </p:cNvSpPr>
          <p:nvPr>
            <p:ph type="sldImg"/>
          </p:nvPr>
        </p:nvSpPr>
        <p:spPr>
          <a:ln/>
        </p:spPr>
      </p:sp>
      <p:sp>
        <p:nvSpPr>
          <p:cNvPr id="5123" name="Rectangle 3"/>
          <p:cNvSpPr>
            <a:spLocks noRot="1"/>
          </p:cNvSpPr>
          <p:nvPr>
            <p:ph type="body" idx="1"/>
          </p:nvPr>
        </p:nvSpPr>
        <p:spPr>
          <a:ln/>
        </p:spPr>
        <p:txBody>
          <a:bodyPr wrap="square" lIns="91440" tIns="45720" rIns="91440" bIns="45720" anchor="ctr" anchorCtr="0"/>
          <a:p>
            <a:pPr lvl="0" eaLnBrk="1" hangingPunct="1">
              <a:lnSpc>
                <a:spcPct val="140000"/>
              </a:lnSpc>
            </a:pP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5598DAE0-8D92-48C3-9589-AFC9BB4A22B9}"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spcBef>
                <a:spcPct val="5000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5598DAE0-8D92-48C3-9589-AFC9BB4A22B9}"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spcBef>
                <a:spcPct val="5000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5598DAE0-8D92-48C3-9589-AFC9BB4A22B9}"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spcBef>
                <a:spcPct val="5000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5598DAE0-8D92-48C3-9589-AFC9BB4A22B9}"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spcBef>
                <a:spcPct val="5000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5598DAE0-8D92-48C3-9589-AFC9BB4A22B9}"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spcBef>
                <a:spcPct val="5000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5598DAE0-8D92-48C3-9589-AFC9BB4A22B9}"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spcBef>
                <a:spcPct val="5000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5598DAE0-8D92-48C3-9589-AFC9BB4A22B9}"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spcBef>
                <a:spcPct val="5000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5598DAE0-8D92-48C3-9589-AFC9BB4A22B9}"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spcBef>
                <a:spcPct val="5000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5598DAE0-8D92-48C3-9589-AFC9BB4A22B9}"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spcBef>
                <a:spcPct val="5000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5598DAE0-8D92-48C3-9589-AFC9BB4A22B9}"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spcBef>
                <a:spcPct val="5000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5598DAE0-8D92-48C3-9589-AFC9BB4A22B9}"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spcBef>
                <a:spcPct val="5000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标题占位符 1"/>
          <p:cNvSpPr>
            <a:spLocks noGrp="1"/>
          </p:cNvSpPr>
          <p:nvPr>
            <p:ph type="title"/>
          </p:nvPr>
        </p:nvSpPr>
        <p:spPr>
          <a:xfrm>
            <a:off x="457200" y="274638"/>
            <a:ext cx="82296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文本占位符 2"/>
          <p:cNvSpPr>
            <a:spLocks noGrp="1"/>
          </p:cNvSpPr>
          <p:nvPr>
            <p:ph type="body" idx="1"/>
          </p:nvPr>
        </p:nvSpPr>
        <p:spPr>
          <a:xfrm>
            <a:off x="457200" y="1600200"/>
            <a:ext cx="8229600" cy="452596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50000"/>
              </a:spcBef>
              <a:spcAft>
                <a:spcPct val="0"/>
              </a:spcAft>
              <a:buClrTx/>
              <a:buSzTx/>
              <a:buFontTx/>
              <a:buNone/>
              <a:defRPr/>
            </a:pPr>
            <a:fld id="{5598DAE0-8D92-48C3-9589-AFC9BB4A22B9}"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lvl="0" eaLnBrk="1" hangingPunct="1">
              <a:spcBef>
                <a:spcPct val="5000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pic>
        <p:nvPicPr>
          <p:cNvPr id="1031" name="Picture 2" descr="图片6"/>
          <p:cNvPicPr>
            <a:picLocks noChangeAspect="1"/>
          </p:cNvPicPr>
          <p:nvPr userDrawn="1"/>
        </p:nvPicPr>
        <p:blipFill>
          <a:blip r:embed="rId12"/>
          <a:stretch>
            <a:fillRect/>
          </a:stretch>
        </p:blipFill>
        <p:spPr>
          <a:xfrm>
            <a:off x="0" y="0"/>
            <a:ext cx="9144000" cy="6858000"/>
          </a:xfrm>
          <a:prstGeom prst="rect">
            <a:avLst/>
          </a:prstGeom>
          <a:noFill/>
          <a:ln w="9525">
            <a:noFill/>
          </a:ln>
        </p:spPr>
      </p:pic>
      <p:sp>
        <p:nvSpPr>
          <p:cNvPr id="1032" name="Line 3"/>
          <p:cNvSpPr/>
          <p:nvPr userDrawn="1"/>
        </p:nvSpPr>
        <p:spPr>
          <a:xfrm>
            <a:off x="573088" y="941388"/>
            <a:ext cx="6478587" cy="0"/>
          </a:xfrm>
          <a:prstGeom prst="line">
            <a:avLst/>
          </a:prstGeom>
          <a:ln w="15875" cap="flat" cmpd="thinThick">
            <a:solidFill>
              <a:srgbClr val="8F1120"/>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098" name="Rectangle 2"/>
          <p:cNvSpPr>
            <a:spLocks noGrp="1"/>
          </p:cNvSpPr>
          <p:nvPr>
            <p:ph type="ctrTitle"/>
          </p:nvPr>
        </p:nvSpPr>
        <p:spPr>
          <a:xfrm>
            <a:off x="152400" y="1066800"/>
            <a:ext cx="8686800" cy="1981200"/>
          </a:xfrm>
          <a:ln/>
          <a:effectLst>
            <a:outerShdw dist="35921" dir="2699999" algn="ctr" rotWithShape="0">
              <a:schemeClr val="bg1">
                <a:alpha val="50000"/>
              </a:schemeClr>
            </a:outerShdw>
          </a:effectLst>
        </p:spPr>
        <p:txBody>
          <a:bodyPr vert="horz" wrap="square" lIns="91440" tIns="45720" rIns="91440" bIns="45720" anchor="ctr" anchorCtr="0"/>
          <a:p>
            <a:pPr eaLnBrk="1" hangingPunct="1">
              <a:lnSpc>
                <a:spcPct val="140000"/>
              </a:lnSpc>
              <a:buClrTx/>
              <a:buSzTx/>
              <a:buFontTx/>
            </a:pPr>
            <a:r>
              <a:rPr lang="zh-CN" altLang="en-US" dirty="0">
                <a:solidFill>
                  <a:srgbClr val="CC0000"/>
                </a:solidFill>
                <a:ea typeface="黑体" panose="02010609060101010101" pitchFamily="49" charset="-122"/>
              </a:rPr>
              <a:t>    </a:t>
            </a:r>
            <a:endParaRPr lang="zh-CN" altLang="en-US" dirty="0">
              <a:solidFill>
                <a:srgbClr val="CC0000"/>
              </a:solidFill>
              <a:ea typeface="黑体" panose="02010609060101010101" pitchFamily="49" charset="-122"/>
            </a:endParaRPr>
          </a:p>
        </p:txBody>
      </p:sp>
      <p:sp>
        <p:nvSpPr>
          <p:cNvPr id="4099" name="Rectangle 3"/>
          <p:cNvSpPr>
            <a:spLocks noGrp="1"/>
          </p:cNvSpPr>
          <p:nvPr>
            <p:ph type="subTitle" idx="1"/>
          </p:nvPr>
        </p:nvSpPr>
        <p:spPr>
          <a:xfrm>
            <a:off x="609600" y="2209800"/>
            <a:ext cx="8001000" cy="2133600"/>
          </a:xfrm>
          <a:ln/>
        </p:spPr>
        <p:txBody>
          <a:bodyPr vert="horz" wrap="square" lIns="91440" tIns="45720" rIns="91440" bIns="45720" anchor="t" anchorCtr="0"/>
          <a:p>
            <a:pPr eaLnBrk="1" hangingPunct="1">
              <a:lnSpc>
                <a:spcPct val="90000"/>
              </a:lnSpc>
              <a:buClrTx/>
              <a:buSzTx/>
            </a:pPr>
            <a:r>
              <a:rPr lang="zh-CN" altLang="en-US" sz="4400" b="1" kern="1200" dirty="0">
                <a:solidFill>
                  <a:srgbClr val="3333FF"/>
                </a:solidFill>
                <a:latin typeface="+mn-lt"/>
                <a:ea typeface="+mn-ea"/>
                <a:cs typeface="+mn-cs"/>
              </a:rPr>
              <a:t>第五讲</a:t>
            </a:r>
            <a:endParaRPr lang="en-US" altLang="zh-CN" sz="4400" b="1" kern="1200" dirty="0">
              <a:solidFill>
                <a:srgbClr val="3333FF"/>
              </a:solidFill>
              <a:latin typeface="+mn-lt"/>
              <a:ea typeface="+mn-ea"/>
              <a:cs typeface="+mn-cs"/>
            </a:endParaRPr>
          </a:p>
          <a:p>
            <a:pPr eaLnBrk="1" hangingPunct="1">
              <a:lnSpc>
                <a:spcPct val="90000"/>
              </a:lnSpc>
              <a:buClrTx/>
              <a:buSzTx/>
            </a:pPr>
            <a:r>
              <a:rPr lang="zh-CN" altLang="en-US" sz="2800" b="1" kern="1200" dirty="0">
                <a:solidFill>
                  <a:srgbClr val="3333FF"/>
                </a:solidFill>
                <a:latin typeface="+mn-lt"/>
                <a:ea typeface="+mn-ea"/>
                <a:cs typeface="+mn-cs"/>
              </a:rPr>
              <a:t> </a:t>
            </a:r>
            <a:endParaRPr lang="en-US" altLang="zh-CN" sz="2800" b="1" kern="1200" dirty="0">
              <a:solidFill>
                <a:srgbClr val="3333FF"/>
              </a:solidFill>
              <a:latin typeface="+mn-lt"/>
              <a:ea typeface="+mn-ea"/>
              <a:cs typeface="+mn-cs"/>
            </a:endParaRPr>
          </a:p>
          <a:p>
            <a:pPr eaLnBrk="1" hangingPunct="1">
              <a:lnSpc>
                <a:spcPct val="90000"/>
              </a:lnSpc>
              <a:buClrTx/>
              <a:buSzTx/>
            </a:pPr>
            <a:r>
              <a:rPr lang="zh-CN" altLang="en-US" sz="4400" b="1" kern="1200" dirty="0">
                <a:solidFill>
                  <a:srgbClr val="3333FF"/>
                </a:solidFill>
                <a:latin typeface="+mn-lt"/>
                <a:ea typeface="+mn-ea"/>
                <a:cs typeface="+mn-cs"/>
              </a:rPr>
              <a:t>风险、法律与公共政策</a:t>
            </a:r>
            <a:endParaRPr lang="zh-CN" altLang="en-US" sz="4400" b="1" kern="1200" dirty="0">
              <a:solidFill>
                <a:srgbClr val="3333FF"/>
              </a:solidFill>
              <a:latin typeface="+mn-lt"/>
              <a:ea typeface="+mn-ea"/>
              <a:cs typeface="+mn-cs"/>
            </a:endParaRPr>
          </a:p>
        </p:txBody>
      </p:sp>
      <p:pic>
        <p:nvPicPr>
          <p:cNvPr id="4100" name="Picture 4" descr="C:\Users\y\Desktop\黄韬微信公众号.jpg"/>
          <p:cNvPicPr>
            <a:picLocks noChangeAspect="1"/>
          </p:cNvPicPr>
          <p:nvPr/>
        </p:nvPicPr>
        <p:blipFill>
          <a:blip r:embed="rId1"/>
          <a:stretch>
            <a:fillRect/>
          </a:stretch>
        </p:blipFill>
        <p:spPr>
          <a:xfrm>
            <a:off x="7610475" y="0"/>
            <a:ext cx="1533525" cy="1533525"/>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146" name="Rectangle 2"/>
          <p:cNvSpPr>
            <a:spLocks noGrp="1"/>
          </p:cNvSpPr>
          <p:nvPr>
            <p:ph type="title"/>
          </p:nvPr>
        </p:nvSpPr>
        <p:spPr>
          <a:xfrm>
            <a:off x="2057400" y="381000"/>
            <a:ext cx="5410200" cy="688975"/>
          </a:xfrm>
          <a:ln/>
        </p:spPr>
        <p:txBody>
          <a:bodyPr vert="horz" wrap="square" lIns="91440" tIns="45720" rIns="91440" bIns="45720" anchor="ctr" anchorCtr="0"/>
          <a:p>
            <a:pPr eaLnBrk="1" hangingPunct="1"/>
            <a:r>
              <a:rPr lang="zh-CN" altLang="en-US" sz="2800" b="1" dirty="0">
                <a:solidFill>
                  <a:srgbClr val="3333FF"/>
                </a:solidFill>
              </a:rPr>
              <a:t>讨论一个案例</a:t>
            </a:r>
            <a:endParaRPr lang="zh-CN" altLang="en-US" sz="2800" b="1" dirty="0">
              <a:solidFill>
                <a:srgbClr val="3333FF"/>
              </a:solidFill>
            </a:endParaRPr>
          </a:p>
        </p:txBody>
      </p:sp>
      <p:sp>
        <p:nvSpPr>
          <p:cNvPr id="6147" name="Rectangle 3"/>
          <p:cNvSpPr>
            <a:spLocks noGrp="1"/>
          </p:cNvSpPr>
          <p:nvPr>
            <p:ph idx="1"/>
          </p:nvPr>
        </p:nvSpPr>
        <p:spPr>
          <a:xfrm>
            <a:off x="2743200" y="4648200"/>
            <a:ext cx="8001000" cy="5410200"/>
          </a:xfrm>
          <a:ln/>
        </p:spPr>
        <p:txBody>
          <a:bodyPr vert="horz" wrap="square" lIns="91440" tIns="45720" rIns="91440" bIns="45720" anchor="t" anchorCtr="0"/>
          <a:p>
            <a:pPr marL="609600" indent="-609600" eaLnBrk="1" hangingPunct="1">
              <a:lnSpc>
                <a:spcPct val="120000"/>
              </a:lnSpc>
              <a:buFontTx/>
              <a:buNone/>
            </a:pPr>
            <a:endParaRPr lang="zh-CN" altLang="en-US" dirty="0"/>
          </a:p>
          <a:p>
            <a:pPr marL="609600" indent="-609600" eaLnBrk="1" hangingPunct="1">
              <a:lnSpc>
                <a:spcPct val="120000"/>
              </a:lnSpc>
              <a:buFontTx/>
              <a:buNone/>
            </a:pPr>
            <a:endParaRPr lang="zh-CN" altLang="en-US" sz="2800" dirty="0">
              <a:solidFill>
                <a:srgbClr val="91074F"/>
              </a:solidFill>
            </a:endParaRPr>
          </a:p>
        </p:txBody>
      </p:sp>
      <p:sp>
        <p:nvSpPr>
          <p:cNvPr id="223237" name="Text Box 5"/>
          <p:cNvSpPr txBox="1"/>
          <p:nvPr/>
        </p:nvSpPr>
        <p:spPr>
          <a:xfrm>
            <a:off x="762000" y="1524000"/>
            <a:ext cx="7848600" cy="2289175"/>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en-US" altLang="zh-CN" sz="1800" b="1" dirty="0">
                <a:latin typeface="Arial" panose="020B0604020202020204" pitchFamily="34" charset="0"/>
              </a:rPr>
              <a:t>       2002 </a:t>
            </a:r>
            <a:r>
              <a:rPr lang="zh-CN" altLang="en-US" sz="1800" b="1" dirty="0">
                <a:latin typeface="Arial" panose="020B0604020202020204" pitchFamily="34" charset="0"/>
              </a:rPr>
              <a:t>年</a:t>
            </a:r>
            <a:r>
              <a:rPr lang="en-US" altLang="zh-CN" sz="1800" b="1" dirty="0">
                <a:latin typeface="Arial" panose="020B0604020202020204" pitchFamily="34" charset="0"/>
              </a:rPr>
              <a:t>1</a:t>
            </a:r>
            <a:r>
              <a:rPr lang="zh-CN" altLang="en-US" sz="1800" b="1" dirty="0">
                <a:latin typeface="Arial" panose="020B0604020202020204" pitchFamily="34" charset="0"/>
              </a:rPr>
              <a:t>月，原告王静在南京市某医院做子宫肌瘤切除手术，在手术中接受输血</a:t>
            </a:r>
            <a:r>
              <a:rPr lang="en-US" altLang="zh-CN" sz="1800" b="1" dirty="0">
                <a:latin typeface="Arial" panose="020B0604020202020204" pitchFamily="34" charset="0"/>
              </a:rPr>
              <a:t>2000 </a:t>
            </a:r>
            <a:r>
              <a:rPr lang="zh-CN" altLang="en-US" sz="1800" b="1" dirty="0">
                <a:latin typeface="Arial" panose="020B0604020202020204" pitchFamily="34" charset="0"/>
              </a:rPr>
              <a:t>毫升</a:t>
            </a:r>
            <a:r>
              <a:rPr lang="en-US" altLang="zh-CN" sz="1800" b="1" dirty="0">
                <a:latin typeface="Arial" panose="020B0604020202020204" pitchFamily="34" charset="0"/>
              </a:rPr>
              <a:t>, </a:t>
            </a:r>
            <a:r>
              <a:rPr lang="zh-CN" altLang="en-US" sz="1800" b="1" dirty="0">
                <a:latin typeface="Arial" panose="020B0604020202020204" pitchFamily="34" charset="0"/>
              </a:rPr>
              <a:t>原告所输血液是由医院从南京市某血液中心购进的。手术后不久，王静被确诊患病毒性丙型肝炎。王静认为</a:t>
            </a:r>
            <a:r>
              <a:rPr lang="en-US" altLang="zh-CN" sz="1800" b="1" dirty="0">
                <a:latin typeface="Arial" panose="020B0604020202020204" pitchFamily="34" charset="0"/>
              </a:rPr>
              <a:t>, </a:t>
            </a:r>
            <a:r>
              <a:rPr lang="zh-CN" altLang="en-US" sz="1800" b="1" dirty="0">
                <a:latin typeface="Arial" panose="020B0604020202020204" pitchFamily="34" charset="0"/>
              </a:rPr>
              <a:t>在医院输血使她感染了丙肝病毒</a:t>
            </a:r>
            <a:r>
              <a:rPr lang="en-US" altLang="zh-CN" sz="1800" b="1" dirty="0">
                <a:latin typeface="Arial" panose="020B0604020202020204" pitchFamily="34" charset="0"/>
              </a:rPr>
              <a:t>, </a:t>
            </a:r>
            <a:r>
              <a:rPr lang="zh-CN" altLang="en-US" sz="1800" b="1" dirty="0">
                <a:solidFill>
                  <a:srgbClr val="CC3300"/>
                </a:solidFill>
                <a:latin typeface="Arial" panose="020B0604020202020204" pitchFamily="34" charset="0"/>
              </a:rPr>
              <a:t>血液中心提供的血液肯定含有丙肝病毒</a:t>
            </a:r>
            <a:r>
              <a:rPr lang="en-US" altLang="zh-CN" sz="1800" b="1" dirty="0">
                <a:solidFill>
                  <a:srgbClr val="CC3300"/>
                </a:solidFill>
                <a:latin typeface="Arial" panose="020B0604020202020204" pitchFamily="34" charset="0"/>
              </a:rPr>
              <a:t>, </a:t>
            </a:r>
            <a:r>
              <a:rPr lang="zh-CN" altLang="en-US" sz="1800" b="1" dirty="0">
                <a:solidFill>
                  <a:srgbClr val="CC3300"/>
                </a:solidFill>
                <a:latin typeface="Arial" panose="020B0604020202020204" pitchFamily="34" charset="0"/>
              </a:rPr>
              <a:t>而医院在输血前也未对血液进行全面复检</a:t>
            </a:r>
            <a:r>
              <a:rPr lang="en-US" altLang="zh-CN" sz="1800" b="1" dirty="0">
                <a:latin typeface="Arial" panose="020B0604020202020204" pitchFamily="34" charset="0"/>
              </a:rPr>
              <a:t>, </a:t>
            </a:r>
            <a:r>
              <a:rPr lang="zh-CN" altLang="en-US" sz="1800" b="1" dirty="0">
                <a:latin typeface="Arial" panose="020B0604020202020204" pitchFamily="34" charset="0"/>
              </a:rPr>
              <a:t>故血液中心和医院的行为已构成医疗事故。据此</a:t>
            </a:r>
            <a:r>
              <a:rPr lang="en-US" altLang="zh-CN" sz="1800" b="1" dirty="0">
                <a:latin typeface="Arial" panose="020B0604020202020204" pitchFamily="34" charset="0"/>
              </a:rPr>
              <a:t>, </a:t>
            </a:r>
            <a:r>
              <a:rPr lang="zh-CN" altLang="en-US" sz="1800" b="1" dirty="0">
                <a:latin typeface="Arial" panose="020B0604020202020204" pitchFamily="34" charset="0"/>
              </a:rPr>
              <a:t>王静将医院和血液中心诉至法院并提出赔偿请求。血液中心和医院辩称：手术中使用的血液在经过了所有法定检测程序和检测项目之后未见异常</a:t>
            </a:r>
            <a:r>
              <a:rPr lang="en-US" altLang="zh-CN" sz="1800" b="1" dirty="0">
                <a:latin typeface="Arial" panose="020B0604020202020204" pitchFamily="34" charset="0"/>
              </a:rPr>
              <a:t>, </a:t>
            </a:r>
            <a:r>
              <a:rPr lang="zh-CN" altLang="en-US" sz="1800" b="1" dirty="0">
                <a:latin typeface="Arial" panose="020B0604020202020204" pitchFamily="34" charset="0"/>
              </a:rPr>
              <a:t>医院和血液中心均无过错</a:t>
            </a:r>
            <a:r>
              <a:rPr lang="en-US" altLang="zh-CN" sz="1800" b="1" dirty="0">
                <a:latin typeface="Arial" panose="020B0604020202020204" pitchFamily="34" charset="0"/>
              </a:rPr>
              <a:t>, </a:t>
            </a:r>
            <a:r>
              <a:rPr lang="zh-CN" altLang="en-US" sz="1800" b="1" dirty="0">
                <a:latin typeface="Arial" panose="020B0604020202020204" pitchFamily="34" charset="0"/>
              </a:rPr>
              <a:t>因此不承担赔偿责任。</a:t>
            </a:r>
            <a:r>
              <a:rPr lang="en-US" altLang="zh-CN" sz="1800" dirty="0">
                <a:latin typeface="Arial" panose="020B0604020202020204" pitchFamily="34" charset="0"/>
              </a:rPr>
              <a:t>  </a:t>
            </a:r>
            <a:endParaRPr lang="en-US" altLang="zh-CN" sz="1800" dirty="0">
              <a:latin typeface="Arial" panose="020B0604020202020204" pitchFamily="34" charset="0"/>
            </a:endParaRPr>
          </a:p>
        </p:txBody>
      </p:sp>
      <p:sp>
        <p:nvSpPr>
          <p:cNvPr id="223242" name="Text Box 10"/>
          <p:cNvSpPr txBox="1"/>
          <p:nvPr/>
        </p:nvSpPr>
        <p:spPr>
          <a:xfrm>
            <a:off x="762000" y="4267200"/>
            <a:ext cx="8077200" cy="146526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zh-CN" altLang="en-US" sz="1800" b="1" dirty="0">
                <a:latin typeface="Arial" panose="020B0604020202020204" pitchFamily="34" charset="0"/>
              </a:rPr>
              <a:t>       南京市某法院在审理后查明</a:t>
            </a:r>
            <a:r>
              <a:rPr lang="en-US" altLang="zh-CN" sz="1800" b="1" dirty="0">
                <a:latin typeface="Arial" panose="020B0604020202020204" pitchFamily="34" charset="0"/>
              </a:rPr>
              <a:t>: </a:t>
            </a:r>
            <a:r>
              <a:rPr lang="zh-CN" altLang="en-US" sz="1800" b="1" dirty="0">
                <a:latin typeface="Arial" panose="020B0604020202020204" pitchFamily="34" charset="0"/>
              </a:rPr>
              <a:t>血液中心在采供血过程中以及医院在整个医疗过程中</a:t>
            </a:r>
            <a:r>
              <a:rPr lang="zh-CN" altLang="en-US" sz="1800" b="1" dirty="0">
                <a:solidFill>
                  <a:srgbClr val="CC3300"/>
                </a:solidFill>
                <a:latin typeface="Arial" panose="020B0604020202020204" pitchFamily="34" charset="0"/>
              </a:rPr>
              <a:t>均无过错</a:t>
            </a:r>
            <a:r>
              <a:rPr lang="en-US" altLang="zh-CN" sz="1800" b="1" dirty="0">
                <a:latin typeface="Arial" panose="020B0604020202020204" pitchFamily="34" charset="0"/>
              </a:rPr>
              <a:t>, </a:t>
            </a:r>
            <a:r>
              <a:rPr lang="zh-CN" altLang="en-US" sz="1800" b="1" dirty="0">
                <a:latin typeface="Arial" panose="020B0604020202020204" pitchFamily="34" charset="0"/>
              </a:rPr>
              <a:t>手术中使用的血液在经过了所有法定检测程序和检测项目之后未见异常</a:t>
            </a:r>
            <a:r>
              <a:rPr lang="en-US" altLang="zh-CN" sz="1800" b="1" dirty="0">
                <a:latin typeface="Arial" panose="020B0604020202020204" pitchFamily="34" charset="0"/>
              </a:rPr>
              <a:t>, </a:t>
            </a:r>
            <a:r>
              <a:rPr lang="zh-CN" altLang="en-US" sz="1800" b="1" dirty="0">
                <a:latin typeface="Arial" panose="020B0604020202020204" pitchFamily="34" charset="0"/>
              </a:rPr>
              <a:t>并且血液中心使用的验血试剂以及医院输血使用的一次性器具均达到国家部颁标准；但最终</a:t>
            </a:r>
            <a:r>
              <a:rPr lang="zh-CN" altLang="en-US" sz="1800" b="1" dirty="0">
                <a:solidFill>
                  <a:srgbClr val="CC3300"/>
                </a:solidFill>
                <a:latin typeface="Arial" panose="020B0604020202020204" pitchFamily="34" charset="0"/>
              </a:rPr>
              <a:t>适用公平责任</a:t>
            </a:r>
            <a:r>
              <a:rPr lang="zh-CN" altLang="en-US" sz="1800" b="1" dirty="0">
                <a:latin typeface="Arial" panose="020B0604020202020204" pitchFamily="34" charset="0"/>
              </a:rPr>
              <a:t>判决医院和血液中心承担一定比例的事故损失。</a:t>
            </a:r>
            <a:endParaRPr lang="en-US" altLang="zh-CN" sz="1800" b="1"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iterate type="lt">
                                    <p:tmPct val="0"/>
                                  </p:iterate>
                                  <p:childTnLst>
                                    <p:set>
                                      <p:cBhvr>
                                        <p:cTn id="6" dur="1" fill="hold">
                                          <p:stCondLst>
                                            <p:cond delay="0"/>
                                          </p:stCondLst>
                                        </p:cTn>
                                        <p:tgtEl>
                                          <p:spTgt spid="223237"/>
                                        </p:tgtEl>
                                        <p:attrNameLst>
                                          <p:attrName>style.visibility</p:attrName>
                                        </p:attrNameLst>
                                      </p:cBhvr>
                                      <p:to>
                                        <p:strVal val="visible"/>
                                      </p:to>
                                    </p:set>
                                    <p:animEffect transition="in" filter="box(in)">
                                      <p:cBhvr>
                                        <p:cTn id="7" dur="500"/>
                                        <p:tgtEl>
                                          <p:spTgt spid="22323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23242"/>
                                        </p:tgtEl>
                                        <p:attrNameLst>
                                          <p:attrName>style.visibility</p:attrName>
                                        </p:attrNameLst>
                                      </p:cBhvr>
                                      <p:to>
                                        <p:strVal val="visible"/>
                                      </p:to>
                                    </p:set>
                                    <p:animEffect transition="in" filter="box(in)">
                                      <p:cBhvr>
                                        <p:cTn id="12" dur="500"/>
                                        <p:tgtEl>
                                          <p:spTgt spid="223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7" grpId="0"/>
      <p:bldP spid="223242"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170" name="Rectangle 2"/>
          <p:cNvSpPr>
            <a:spLocks noGrp="1"/>
          </p:cNvSpPr>
          <p:nvPr>
            <p:ph type="title"/>
          </p:nvPr>
        </p:nvSpPr>
        <p:spPr>
          <a:xfrm>
            <a:off x="2057400" y="381000"/>
            <a:ext cx="5410200" cy="688975"/>
          </a:xfrm>
          <a:ln/>
        </p:spPr>
        <p:txBody>
          <a:bodyPr vert="horz" wrap="square" lIns="91440" tIns="45720" rIns="91440" bIns="45720" anchor="ctr" anchorCtr="0"/>
          <a:p>
            <a:pPr eaLnBrk="1" hangingPunct="1"/>
            <a:r>
              <a:rPr lang="zh-CN" altLang="en-US" sz="2800" b="1" dirty="0">
                <a:solidFill>
                  <a:srgbClr val="3333FF"/>
                </a:solidFill>
              </a:rPr>
              <a:t>汉德公式（</a:t>
            </a:r>
            <a:r>
              <a:rPr lang="en-US" altLang="zh-CN" sz="2800" b="1" dirty="0">
                <a:solidFill>
                  <a:srgbClr val="3333FF"/>
                </a:solidFill>
              </a:rPr>
              <a:t>Hand Formula</a:t>
            </a:r>
            <a:r>
              <a:rPr lang="zh-CN" altLang="en-US" sz="2800" b="1" dirty="0">
                <a:solidFill>
                  <a:srgbClr val="3333FF"/>
                </a:solidFill>
              </a:rPr>
              <a:t>）</a:t>
            </a:r>
            <a:endParaRPr lang="zh-CN" altLang="en-US" sz="2800" b="1" dirty="0">
              <a:solidFill>
                <a:srgbClr val="3333FF"/>
              </a:solidFill>
            </a:endParaRPr>
          </a:p>
        </p:txBody>
      </p:sp>
      <p:sp>
        <p:nvSpPr>
          <p:cNvPr id="7171" name="Rectangle 3"/>
          <p:cNvSpPr>
            <a:spLocks noGrp="1"/>
          </p:cNvSpPr>
          <p:nvPr>
            <p:ph idx="1"/>
          </p:nvPr>
        </p:nvSpPr>
        <p:spPr>
          <a:xfrm>
            <a:off x="2743200" y="4648200"/>
            <a:ext cx="8001000" cy="5410200"/>
          </a:xfrm>
          <a:ln/>
        </p:spPr>
        <p:txBody>
          <a:bodyPr vert="horz" wrap="square" lIns="91440" tIns="45720" rIns="91440" bIns="45720" anchor="t" anchorCtr="0"/>
          <a:p>
            <a:pPr marL="609600" indent="-609600" eaLnBrk="1" hangingPunct="1">
              <a:lnSpc>
                <a:spcPct val="120000"/>
              </a:lnSpc>
              <a:buFontTx/>
              <a:buNone/>
            </a:pPr>
            <a:endParaRPr lang="zh-CN" altLang="en-US" dirty="0"/>
          </a:p>
          <a:p>
            <a:pPr marL="609600" indent="-609600" eaLnBrk="1" hangingPunct="1">
              <a:lnSpc>
                <a:spcPct val="120000"/>
              </a:lnSpc>
              <a:buFontTx/>
              <a:buNone/>
            </a:pPr>
            <a:endParaRPr lang="zh-CN" altLang="en-US" sz="2800" dirty="0">
              <a:solidFill>
                <a:srgbClr val="91074F"/>
              </a:solidFill>
            </a:endParaRPr>
          </a:p>
        </p:txBody>
      </p:sp>
      <p:sp>
        <p:nvSpPr>
          <p:cNvPr id="438276" name="Text Box 4"/>
          <p:cNvSpPr txBox="1"/>
          <p:nvPr/>
        </p:nvSpPr>
        <p:spPr>
          <a:xfrm>
            <a:off x="762000" y="1524000"/>
            <a:ext cx="7543800" cy="36671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zh-CN" altLang="en-US" sz="1800" b="1" dirty="0">
                <a:solidFill>
                  <a:srgbClr val="CC3300"/>
                </a:solidFill>
                <a:latin typeface="Arial" panose="020B0604020202020204" pitchFamily="34" charset="0"/>
              </a:rPr>
              <a:t>美利坚合众国诉卡罗尔拖船公司案</a:t>
            </a:r>
            <a:r>
              <a:rPr lang="zh-CN" altLang="en-US" sz="1800" b="1" dirty="0">
                <a:latin typeface="Arial" panose="020B0604020202020204" pitchFamily="34" charset="0"/>
              </a:rPr>
              <a:t>      </a:t>
            </a:r>
            <a:r>
              <a:rPr lang="en-US" altLang="zh-CN" sz="1800" b="1" dirty="0">
                <a:latin typeface="Arial" panose="020B0604020202020204" pitchFamily="34" charset="0"/>
              </a:rPr>
              <a:t>159 F. 2d 169 (2d. Cir. 1947)</a:t>
            </a:r>
            <a:endParaRPr lang="zh-CN" altLang="en-US" sz="1800" dirty="0">
              <a:latin typeface="Arial" panose="020B0604020202020204" pitchFamily="34" charset="0"/>
            </a:endParaRPr>
          </a:p>
        </p:txBody>
      </p:sp>
      <p:sp>
        <p:nvSpPr>
          <p:cNvPr id="438277" name="Text Box 5"/>
          <p:cNvSpPr txBox="1"/>
          <p:nvPr/>
        </p:nvSpPr>
        <p:spPr>
          <a:xfrm>
            <a:off x="762000" y="2057400"/>
            <a:ext cx="7772400" cy="915988"/>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zh-CN" altLang="en-US" sz="1800" b="1" dirty="0">
                <a:latin typeface="Arial" panose="020B0604020202020204" pitchFamily="34" charset="0"/>
              </a:rPr>
              <a:t>一艘拖船准备将一艘驳船拖出港口，为了松开驳船系在码头上的绳子，由于驳船船员不在船上，拖船的船员自己去调整绳子，导致撞上另外一条船，造成船货的损失</a:t>
            </a:r>
            <a:endParaRPr lang="zh-CN" altLang="en-US" sz="1800" b="1" dirty="0">
              <a:latin typeface="Arial" panose="020B0604020202020204" pitchFamily="34" charset="0"/>
            </a:endParaRPr>
          </a:p>
        </p:txBody>
      </p:sp>
      <p:sp>
        <p:nvSpPr>
          <p:cNvPr id="438279" name="Text Box 7"/>
          <p:cNvSpPr txBox="1"/>
          <p:nvPr/>
        </p:nvSpPr>
        <p:spPr>
          <a:xfrm>
            <a:off x="762000" y="3124200"/>
            <a:ext cx="7086600" cy="36671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zh-CN" altLang="en-US" sz="1800" b="1" dirty="0">
                <a:latin typeface="Arial" panose="020B0604020202020204" pitchFamily="34" charset="0"/>
              </a:rPr>
              <a:t>被告拖船船主要求法官认定驳船船主承担连带责任</a:t>
            </a:r>
            <a:endParaRPr lang="zh-CN" altLang="en-US" sz="1800" b="1" dirty="0">
              <a:latin typeface="Arial" panose="020B0604020202020204" pitchFamily="34" charset="0"/>
            </a:endParaRPr>
          </a:p>
        </p:txBody>
      </p:sp>
      <p:sp>
        <p:nvSpPr>
          <p:cNvPr id="438280" name="Text Box 8"/>
          <p:cNvSpPr txBox="1"/>
          <p:nvPr/>
        </p:nvSpPr>
        <p:spPr>
          <a:xfrm>
            <a:off x="762000" y="3657600"/>
            <a:ext cx="8382000" cy="36671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en-US" altLang="zh-CN" sz="1800" b="1" dirty="0">
                <a:latin typeface="Arial" panose="020B0604020202020204" pitchFamily="34" charset="0"/>
              </a:rPr>
              <a:t>Learned Hand </a:t>
            </a:r>
            <a:r>
              <a:rPr lang="zh-CN" altLang="en-US" sz="1800" b="1" dirty="0">
                <a:latin typeface="Arial" panose="020B0604020202020204" pitchFamily="34" charset="0"/>
              </a:rPr>
              <a:t>法官认为，判断驳船船主是否有过失，需要考虑三个变量：</a:t>
            </a:r>
            <a:endParaRPr lang="zh-CN" altLang="en-US" sz="1800" b="1" dirty="0">
              <a:latin typeface="Arial" panose="020B0604020202020204" pitchFamily="34" charset="0"/>
            </a:endParaRPr>
          </a:p>
        </p:txBody>
      </p:sp>
      <p:sp>
        <p:nvSpPr>
          <p:cNvPr id="438281" name="Text Box 9"/>
          <p:cNvSpPr txBox="1"/>
          <p:nvPr/>
        </p:nvSpPr>
        <p:spPr>
          <a:xfrm>
            <a:off x="762000" y="4267200"/>
            <a:ext cx="6477000" cy="36671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en-US" altLang="zh-CN" sz="1800" b="1" dirty="0">
                <a:latin typeface="Arial" panose="020B0604020202020204" pitchFamily="34" charset="0"/>
              </a:rPr>
              <a:t>1. </a:t>
            </a:r>
            <a:r>
              <a:rPr lang="zh-CN" altLang="en-US" sz="1800" b="1" dirty="0">
                <a:latin typeface="Arial" panose="020B0604020202020204" pitchFamily="34" charset="0"/>
              </a:rPr>
              <a:t>船脱锚的可能性    </a:t>
            </a:r>
            <a:r>
              <a:rPr lang="en-US" altLang="zh-CN" sz="1800" b="1" dirty="0">
                <a:latin typeface="Arial" panose="020B0604020202020204" pitchFamily="34" charset="0"/>
              </a:rPr>
              <a:t>probability     </a:t>
            </a:r>
            <a:r>
              <a:rPr lang="en-US" altLang="zh-CN" sz="1800" b="1" dirty="0">
                <a:solidFill>
                  <a:srgbClr val="CC3300"/>
                </a:solidFill>
                <a:latin typeface="Arial" panose="020B0604020202020204" pitchFamily="34" charset="0"/>
              </a:rPr>
              <a:t>P </a:t>
            </a:r>
            <a:endParaRPr lang="en-US" altLang="zh-CN" sz="1800" b="1" dirty="0">
              <a:solidFill>
                <a:srgbClr val="CC3300"/>
              </a:solidFill>
              <a:latin typeface="Arial" panose="020B0604020202020204" pitchFamily="34" charset="0"/>
            </a:endParaRPr>
          </a:p>
        </p:txBody>
      </p:sp>
      <p:sp>
        <p:nvSpPr>
          <p:cNvPr id="438282" name="Text Box 10"/>
          <p:cNvSpPr txBox="1"/>
          <p:nvPr/>
        </p:nvSpPr>
        <p:spPr>
          <a:xfrm>
            <a:off x="762000" y="4876800"/>
            <a:ext cx="8077200" cy="36671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en-US" altLang="zh-CN" sz="1800" b="1" dirty="0">
                <a:latin typeface="Arial" panose="020B0604020202020204" pitchFamily="34" charset="0"/>
              </a:rPr>
              <a:t>2. </a:t>
            </a:r>
            <a:r>
              <a:rPr lang="zh-CN" altLang="en-US" sz="1800" b="1" dirty="0">
                <a:latin typeface="Arial" panose="020B0604020202020204" pitchFamily="34" charset="0"/>
              </a:rPr>
              <a:t>船脱锚之后给其他船舶造成的损失  </a:t>
            </a:r>
            <a:r>
              <a:rPr lang="en-US" altLang="zh-CN" sz="1800" b="1" dirty="0">
                <a:latin typeface="Arial" panose="020B0604020202020204" pitchFamily="34" charset="0"/>
              </a:rPr>
              <a:t>Loss     </a:t>
            </a:r>
            <a:r>
              <a:rPr lang="en-US" altLang="zh-CN" sz="1800" b="1" dirty="0">
                <a:solidFill>
                  <a:srgbClr val="CC3300"/>
                </a:solidFill>
                <a:latin typeface="Arial" panose="020B0604020202020204" pitchFamily="34" charset="0"/>
              </a:rPr>
              <a:t>L</a:t>
            </a:r>
            <a:endParaRPr lang="en-US" altLang="zh-CN" sz="1800" b="1" dirty="0">
              <a:solidFill>
                <a:srgbClr val="CC3300"/>
              </a:solidFill>
              <a:latin typeface="Arial" panose="020B0604020202020204" pitchFamily="34" charset="0"/>
            </a:endParaRPr>
          </a:p>
        </p:txBody>
      </p:sp>
      <p:sp>
        <p:nvSpPr>
          <p:cNvPr id="438283" name="Text Box 11"/>
          <p:cNvSpPr txBox="1"/>
          <p:nvPr/>
        </p:nvSpPr>
        <p:spPr>
          <a:xfrm>
            <a:off x="762000" y="5486400"/>
            <a:ext cx="8001000" cy="36671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en-US" altLang="zh-CN" sz="1800" b="1" dirty="0">
                <a:latin typeface="Arial" panose="020B0604020202020204" pitchFamily="34" charset="0"/>
              </a:rPr>
              <a:t>3. </a:t>
            </a:r>
            <a:r>
              <a:rPr lang="zh-CN" altLang="en-US" sz="1800" b="1" dirty="0">
                <a:latin typeface="Arial" panose="020B0604020202020204" pitchFamily="34" charset="0"/>
              </a:rPr>
              <a:t>为了防止事故而采取预防措施而给船主带来的负担    </a:t>
            </a:r>
            <a:r>
              <a:rPr lang="en-US" altLang="zh-CN" sz="1800" b="1" dirty="0">
                <a:latin typeface="Arial" panose="020B0604020202020204" pitchFamily="34" charset="0"/>
              </a:rPr>
              <a:t>Burden     </a:t>
            </a:r>
            <a:r>
              <a:rPr lang="en-US" altLang="zh-CN" sz="1800" b="1" dirty="0">
                <a:solidFill>
                  <a:srgbClr val="CC3300"/>
                </a:solidFill>
                <a:latin typeface="Arial" panose="020B0604020202020204" pitchFamily="34" charset="0"/>
              </a:rPr>
              <a:t>B</a:t>
            </a:r>
            <a:endParaRPr lang="en-US" altLang="zh-CN" sz="1800" b="1" dirty="0">
              <a:solidFill>
                <a:srgbClr val="CC3300"/>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iterate type="lt">
                                    <p:tmPct val="0"/>
                                  </p:iterate>
                                  <p:childTnLst>
                                    <p:set>
                                      <p:cBhvr>
                                        <p:cTn id="6" dur="1" fill="hold">
                                          <p:stCondLst>
                                            <p:cond delay="0"/>
                                          </p:stCondLst>
                                        </p:cTn>
                                        <p:tgtEl>
                                          <p:spTgt spid="438276"/>
                                        </p:tgtEl>
                                        <p:attrNameLst>
                                          <p:attrName>style.visibility</p:attrName>
                                        </p:attrNameLst>
                                      </p:cBhvr>
                                      <p:to>
                                        <p:strVal val="visible"/>
                                      </p:to>
                                    </p:set>
                                    <p:animEffect transition="in" filter="box(in)">
                                      <p:cBhvr>
                                        <p:cTn id="7" dur="500"/>
                                        <p:tgtEl>
                                          <p:spTgt spid="43827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38277"/>
                                        </p:tgtEl>
                                        <p:attrNameLst>
                                          <p:attrName>style.visibility</p:attrName>
                                        </p:attrNameLst>
                                      </p:cBhvr>
                                      <p:to>
                                        <p:strVal val="visible"/>
                                      </p:to>
                                    </p:set>
                                    <p:animEffect transition="in" filter="box(in)">
                                      <p:cBhvr>
                                        <p:cTn id="12" dur="500"/>
                                        <p:tgtEl>
                                          <p:spTgt spid="43827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38279"/>
                                        </p:tgtEl>
                                        <p:attrNameLst>
                                          <p:attrName>style.visibility</p:attrName>
                                        </p:attrNameLst>
                                      </p:cBhvr>
                                      <p:to>
                                        <p:strVal val="visible"/>
                                      </p:to>
                                    </p:set>
                                    <p:animEffect transition="in" filter="box(in)">
                                      <p:cBhvr>
                                        <p:cTn id="17" dur="500"/>
                                        <p:tgtEl>
                                          <p:spTgt spid="438279"/>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38280"/>
                                        </p:tgtEl>
                                        <p:attrNameLst>
                                          <p:attrName>style.visibility</p:attrName>
                                        </p:attrNameLst>
                                      </p:cBhvr>
                                      <p:to>
                                        <p:strVal val="visible"/>
                                      </p:to>
                                    </p:set>
                                    <p:animEffect transition="in" filter="box(in)">
                                      <p:cBhvr>
                                        <p:cTn id="22" dur="500"/>
                                        <p:tgtEl>
                                          <p:spTgt spid="438280"/>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38281"/>
                                        </p:tgtEl>
                                        <p:attrNameLst>
                                          <p:attrName>style.visibility</p:attrName>
                                        </p:attrNameLst>
                                      </p:cBhvr>
                                      <p:to>
                                        <p:strVal val="visible"/>
                                      </p:to>
                                    </p:set>
                                    <p:animEffect transition="in" filter="box(in)">
                                      <p:cBhvr>
                                        <p:cTn id="27" dur="500"/>
                                        <p:tgtEl>
                                          <p:spTgt spid="438281"/>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438282"/>
                                        </p:tgtEl>
                                        <p:attrNameLst>
                                          <p:attrName>style.visibility</p:attrName>
                                        </p:attrNameLst>
                                      </p:cBhvr>
                                      <p:to>
                                        <p:strVal val="visible"/>
                                      </p:to>
                                    </p:set>
                                    <p:animEffect transition="in" filter="box(in)">
                                      <p:cBhvr>
                                        <p:cTn id="32" dur="500"/>
                                        <p:tgtEl>
                                          <p:spTgt spid="438282"/>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438283"/>
                                        </p:tgtEl>
                                        <p:attrNameLst>
                                          <p:attrName>style.visibility</p:attrName>
                                        </p:attrNameLst>
                                      </p:cBhvr>
                                      <p:to>
                                        <p:strVal val="visible"/>
                                      </p:to>
                                    </p:set>
                                    <p:animEffect transition="in" filter="box(in)">
                                      <p:cBhvr>
                                        <p:cTn id="37" dur="500"/>
                                        <p:tgtEl>
                                          <p:spTgt spid="438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8276" grpId="0"/>
      <p:bldP spid="438277" grpId="0"/>
      <p:bldP spid="438279" grpId="0"/>
      <p:bldP spid="438280" grpId="0"/>
      <p:bldP spid="438281" grpId="0"/>
      <p:bldP spid="438282" grpId="0"/>
      <p:bldP spid="438283"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8194" name="Rectangle 2"/>
          <p:cNvSpPr>
            <a:spLocks noGrp="1"/>
          </p:cNvSpPr>
          <p:nvPr>
            <p:ph type="title"/>
          </p:nvPr>
        </p:nvSpPr>
        <p:spPr>
          <a:xfrm>
            <a:off x="2057400" y="457200"/>
            <a:ext cx="5410200" cy="688975"/>
          </a:xfrm>
          <a:ln/>
        </p:spPr>
        <p:txBody>
          <a:bodyPr vert="horz" wrap="square" lIns="91440" tIns="45720" rIns="91440" bIns="45720" anchor="ctr" anchorCtr="0"/>
          <a:p>
            <a:pPr eaLnBrk="1" hangingPunct="1"/>
            <a:r>
              <a:rPr lang="zh-CN" altLang="en-US" sz="2800" b="1" dirty="0">
                <a:solidFill>
                  <a:srgbClr val="3333FF"/>
                </a:solidFill>
              </a:rPr>
              <a:t>汉德公式（</a:t>
            </a:r>
            <a:r>
              <a:rPr lang="en-US" altLang="zh-CN" sz="2800" b="1" dirty="0">
                <a:solidFill>
                  <a:srgbClr val="3333FF"/>
                </a:solidFill>
              </a:rPr>
              <a:t>Hand Formula</a:t>
            </a:r>
            <a:r>
              <a:rPr lang="zh-CN" altLang="en-US" sz="2800" b="1" dirty="0">
                <a:solidFill>
                  <a:srgbClr val="3333FF"/>
                </a:solidFill>
              </a:rPr>
              <a:t>）</a:t>
            </a:r>
            <a:endParaRPr lang="zh-CN" altLang="en-US" sz="2800" b="1" dirty="0">
              <a:solidFill>
                <a:srgbClr val="3333FF"/>
              </a:solidFill>
            </a:endParaRPr>
          </a:p>
        </p:txBody>
      </p:sp>
      <p:sp>
        <p:nvSpPr>
          <p:cNvPr id="8195" name="Rectangle 3"/>
          <p:cNvSpPr>
            <a:spLocks noGrp="1"/>
          </p:cNvSpPr>
          <p:nvPr>
            <p:ph idx="1"/>
          </p:nvPr>
        </p:nvSpPr>
        <p:spPr>
          <a:xfrm>
            <a:off x="2743200" y="4648200"/>
            <a:ext cx="8001000" cy="5410200"/>
          </a:xfrm>
          <a:ln/>
        </p:spPr>
        <p:txBody>
          <a:bodyPr vert="horz" wrap="square" lIns="91440" tIns="45720" rIns="91440" bIns="45720" anchor="t" anchorCtr="0"/>
          <a:p>
            <a:pPr marL="609600" indent="-609600" eaLnBrk="1" hangingPunct="1">
              <a:lnSpc>
                <a:spcPct val="120000"/>
              </a:lnSpc>
              <a:buFontTx/>
              <a:buNone/>
            </a:pPr>
            <a:endParaRPr lang="zh-CN" altLang="en-US" dirty="0"/>
          </a:p>
          <a:p>
            <a:pPr marL="609600" indent="-609600" eaLnBrk="1" hangingPunct="1">
              <a:lnSpc>
                <a:spcPct val="120000"/>
              </a:lnSpc>
              <a:buFontTx/>
              <a:buNone/>
            </a:pPr>
            <a:endParaRPr lang="zh-CN" altLang="en-US" sz="2800" dirty="0">
              <a:solidFill>
                <a:srgbClr val="91074F"/>
              </a:solidFill>
            </a:endParaRPr>
          </a:p>
        </p:txBody>
      </p:sp>
      <p:sp>
        <p:nvSpPr>
          <p:cNvPr id="439300" name="Text Box 4"/>
          <p:cNvSpPr txBox="1"/>
          <p:nvPr/>
        </p:nvSpPr>
        <p:spPr>
          <a:xfrm>
            <a:off x="762000" y="1524000"/>
            <a:ext cx="6781800" cy="36671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zh-CN" altLang="en-US" sz="1800" b="1" dirty="0">
                <a:latin typeface="Arial" panose="020B0604020202020204" pitchFamily="34" charset="0"/>
              </a:rPr>
              <a:t>如果    </a:t>
            </a:r>
            <a:r>
              <a:rPr lang="en-US" altLang="zh-CN" sz="1800" b="1" dirty="0">
                <a:solidFill>
                  <a:srgbClr val="CC3300"/>
                </a:solidFill>
                <a:latin typeface="Arial" panose="020B0604020202020204" pitchFamily="34" charset="0"/>
              </a:rPr>
              <a:t>B&lt;P·L  </a:t>
            </a:r>
            <a:r>
              <a:rPr lang="zh-CN" altLang="en-US" sz="1800" b="1" dirty="0">
                <a:solidFill>
                  <a:srgbClr val="CC3300"/>
                </a:solidFill>
                <a:latin typeface="Arial" panose="020B0604020202020204" pitchFamily="34" charset="0"/>
              </a:rPr>
              <a:t>则驳船船主有过失</a:t>
            </a:r>
            <a:r>
              <a:rPr lang="zh-CN" altLang="en-US" sz="1800" dirty="0">
                <a:latin typeface="Arial" panose="020B0604020202020204" pitchFamily="34" charset="0"/>
              </a:rPr>
              <a:t>  </a:t>
            </a:r>
            <a:endParaRPr lang="zh-CN" altLang="en-US" sz="1800" dirty="0">
              <a:latin typeface="Arial" panose="020B0604020202020204" pitchFamily="34" charset="0"/>
            </a:endParaRPr>
          </a:p>
        </p:txBody>
      </p:sp>
      <p:sp>
        <p:nvSpPr>
          <p:cNvPr id="439301" name="Text Box 5"/>
          <p:cNvSpPr txBox="1"/>
          <p:nvPr/>
        </p:nvSpPr>
        <p:spPr>
          <a:xfrm>
            <a:off x="762000" y="2133600"/>
            <a:ext cx="7848600" cy="641350"/>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zh-CN" altLang="en-US" sz="1800" b="1" dirty="0">
                <a:latin typeface="Arial" panose="020B0604020202020204" pitchFamily="34" charset="0"/>
              </a:rPr>
              <a:t>汉德法官：驳船船主没有在白天工作时留一个工作人员在船上，而这样做来预防事故的</a:t>
            </a:r>
            <a:r>
              <a:rPr lang="en-US" altLang="zh-CN" sz="1800" b="1" dirty="0">
                <a:latin typeface="Arial" panose="020B0604020202020204" pitchFamily="34" charset="0"/>
              </a:rPr>
              <a:t>B</a:t>
            </a:r>
            <a:r>
              <a:rPr lang="zh-CN" altLang="en-US" sz="1800" b="1" dirty="0">
                <a:latin typeface="Arial" panose="020B0604020202020204" pitchFamily="34" charset="0"/>
              </a:rPr>
              <a:t>是小于</a:t>
            </a:r>
            <a:r>
              <a:rPr lang="en-US" altLang="zh-CN" sz="1800" b="1" dirty="0">
                <a:latin typeface="Arial" panose="020B0604020202020204" pitchFamily="34" charset="0"/>
              </a:rPr>
              <a:t>P·L</a:t>
            </a:r>
            <a:r>
              <a:rPr lang="zh-CN" altLang="en-US" sz="1800" b="1" dirty="0">
                <a:latin typeface="Arial" panose="020B0604020202020204" pitchFamily="34" charset="0"/>
              </a:rPr>
              <a:t>的，故应当认定存在过失，负连带责任</a:t>
            </a:r>
            <a:endParaRPr lang="zh-CN" altLang="en-US" sz="1800" b="1" dirty="0">
              <a:latin typeface="Arial" panose="020B0604020202020204" pitchFamily="34" charset="0"/>
            </a:endParaRPr>
          </a:p>
        </p:txBody>
      </p:sp>
      <p:sp>
        <p:nvSpPr>
          <p:cNvPr id="439303" name="Text Box 7"/>
          <p:cNvSpPr txBox="1"/>
          <p:nvPr/>
        </p:nvSpPr>
        <p:spPr>
          <a:xfrm>
            <a:off x="762000" y="2971800"/>
            <a:ext cx="7620000" cy="36671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zh-CN" altLang="en-US" sz="1800" b="1" dirty="0">
                <a:latin typeface="Arial" panose="020B0604020202020204" pitchFamily="34" charset="0"/>
              </a:rPr>
              <a:t>从经济学“效率”的角度，把双方当成一个整体来判断社会福利</a:t>
            </a:r>
            <a:endParaRPr lang="zh-CN" altLang="en-US" sz="1800" b="1" dirty="0">
              <a:latin typeface="Arial" panose="020B0604020202020204" pitchFamily="34" charset="0"/>
            </a:endParaRPr>
          </a:p>
        </p:txBody>
      </p:sp>
      <p:sp>
        <p:nvSpPr>
          <p:cNvPr id="439304" name="Text Box 8"/>
          <p:cNvSpPr txBox="1"/>
          <p:nvPr/>
        </p:nvSpPr>
        <p:spPr>
          <a:xfrm>
            <a:off x="762000" y="3505200"/>
            <a:ext cx="8229600" cy="36671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zh-CN" altLang="en-US" sz="1800" b="1" dirty="0">
                <a:latin typeface="Arial" panose="020B0604020202020204" pitchFamily="34" charset="0"/>
              </a:rPr>
              <a:t>传统法学对于过失的界定：应当预见但没有预见；已经预见但轻信能够避免</a:t>
            </a:r>
            <a:endParaRPr lang="zh-CN" altLang="en-US" sz="1800" b="1" dirty="0">
              <a:latin typeface="Arial" panose="020B0604020202020204" pitchFamily="34" charset="0"/>
            </a:endParaRPr>
          </a:p>
        </p:txBody>
      </p:sp>
      <p:sp>
        <p:nvSpPr>
          <p:cNvPr id="439305" name="Text Box 9"/>
          <p:cNvSpPr txBox="1"/>
          <p:nvPr/>
        </p:nvSpPr>
        <p:spPr>
          <a:xfrm>
            <a:off x="762000" y="4038600"/>
            <a:ext cx="8229600" cy="641350"/>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zh-CN" altLang="en-US" sz="1800" b="1" dirty="0">
                <a:latin typeface="Arial" panose="020B0604020202020204" pitchFamily="34" charset="0"/>
              </a:rPr>
              <a:t>经济学标准：加害人为预防事故需要支付的</a:t>
            </a:r>
            <a:r>
              <a:rPr lang="zh-CN" altLang="en-US" sz="1800" b="1" dirty="0">
                <a:solidFill>
                  <a:srgbClr val="003399"/>
                </a:solidFill>
                <a:latin typeface="Arial" panose="020B0604020202020204" pitchFamily="34" charset="0"/>
              </a:rPr>
              <a:t>成本</a:t>
            </a:r>
            <a:r>
              <a:rPr lang="zh-CN" altLang="en-US" sz="1800" b="1" dirty="0">
                <a:latin typeface="Arial" panose="020B0604020202020204" pitchFamily="34" charset="0"/>
              </a:rPr>
              <a:t>低于事故的</a:t>
            </a:r>
            <a:r>
              <a:rPr lang="zh-CN" altLang="en-US" sz="1800" b="1" dirty="0">
                <a:solidFill>
                  <a:srgbClr val="003399"/>
                </a:solidFill>
                <a:latin typeface="Arial" panose="020B0604020202020204" pitchFamily="34" charset="0"/>
              </a:rPr>
              <a:t>预期损失</a:t>
            </a:r>
            <a:r>
              <a:rPr lang="zh-CN" altLang="en-US" sz="1800" b="1" dirty="0">
                <a:latin typeface="Arial" panose="020B0604020202020204" pitchFamily="34" charset="0"/>
              </a:rPr>
              <a:t>（事故损失额与事故发生概率的乘积）</a:t>
            </a:r>
            <a:endParaRPr lang="zh-CN" altLang="en-US" sz="1800" b="1" dirty="0">
              <a:latin typeface="Arial" panose="020B0604020202020204" pitchFamily="34" charset="0"/>
            </a:endParaRPr>
          </a:p>
        </p:txBody>
      </p:sp>
      <p:sp>
        <p:nvSpPr>
          <p:cNvPr id="439306" name="Text Box 10"/>
          <p:cNvSpPr txBox="1"/>
          <p:nvPr/>
        </p:nvSpPr>
        <p:spPr>
          <a:xfrm>
            <a:off x="762000" y="4876800"/>
            <a:ext cx="8382000" cy="371475"/>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zh-CN" altLang="en-US" sz="1800" b="1" dirty="0">
                <a:solidFill>
                  <a:srgbClr val="FF0000"/>
                </a:solidFill>
                <a:latin typeface="Arial" panose="020B0604020202020204" pitchFamily="34" charset="0"/>
              </a:rPr>
              <a:t>并非所有事故都应当去预防的，这取决于预防事故是不是一种有效率的安排</a:t>
            </a:r>
            <a:endParaRPr lang="zh-CN" altLang="en-US" sz="1800" b="1" dirty="0">
              <a:solidFill>
                <a:srgbClr val="FF0000"/>
              </a:solidFill>
              <a:latin typeface="Arial" panose="020B0604020202020204" pitchFamily="34" charset="0"/>
            </a:endParaRPr>
          </a:p>
        </p:txBody>
      </p:sp>
      <p:sp>
        <p:nvSpPr>
          <p:cNvPr id="439307" name="Text Box 11"/>
          <p:cNvSpPr txBox="1"/>
          <p:nvPr/>
        </p:nvSpPr>
        <p:spPr>
          <a:xfrm>
            <a:off x="762000" y="5486400"/>
            <a:ext cx="8001000" cy="36671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zh-CN" altLang="en-US" sz="1800" b="1" dirty="0">
                <a:latin typeface="Arial" panose="020B0604020202020204" pitchFamily="34" charset="0"/>
              </a:rPr>
              <a:t>过错责任制度的目标在于社会成本的最小化</a:t>
            </a:r>
            <a:endParaRPr lang="zh-CN" altLang="en-US" sz="1800" b="1"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iterate type="lt">
                                    <p:tmPct val="0"/>
                                  </p:iterate>
                                  <p:childTnLst>
                                    <p:set>
                                      <p:cBhvr>
                                        <p:cTn id="6" dur="1" fill="hold">
                                          <p:stCondLst>
                                            <p:cond delay="0"/>
                                          </p:stCondLst>
                                        </p:cTn>
                                        <p:tgtEl>
                                          <p:spTgt spid="439300"/>
                                        </p:tgtEl>
                                        <p:attrNameLst>
                                          <p:attrName>style.visibility</p:attrName>
                                        </p:attrNameLst>
                                      </p:cBhvr>
                                      <p:to>
                                        <p:strVal val="visible"/>
                                      </p:to>
                                    </p:set>
                                    <p:animEffect transition="in" filter="box(in)">
                                      <p:cBhvr>
                                        <p:cTn id="7" dur="500"/>
                                        <p:tgtEl>
                                          <p:spTgt spid="43930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39301"/>
                                        </p:tgtEl>
                                        <p:attrNameLst>
                                          <p:attrName>style.visibility</p:attrName>
                                        </p:attrNameLst>
                                      </p:cBhvr>
                                      <p:to>
                                        <p:strVal val="visible"/>
                                      </p:to>
                                    </p:set>
                                    <p:animEffect transition="in" filter="box(in)">
                                      <p:cBhvr>
                                        <p:cTn id="12" dur="500"/>
                                        <p:tgtEl>
                                          <p:spTgt spid="439301"/>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39303"/>
                                        </p:tgtEl>
                                        <p:attrNameLst>
                                          <p:attrName>style.visibility</p:attrName>
                                        </p:attrNameLst>
                                      </p:cBhvr>
                                      <p:to>
                                        <p:strVal val="visible"/>
                                      </p:to>
                                    </p:set>
                                    <p:animEffect transition="in" filter="box(in)">
                                      <p:cBhvr>
                                        <p:cTn id="17" dur="500"/>
                                        <p:tgtEl>
                                          <p:spTgt spid="43930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39304"/>
                                        </p:tgtEl>
                                        <p:attrNameLst>
                                          <p:attrName>style.visibility</p:attrName>
                                        </p:attrNameLst>
                                      </p:cBhvr>
                                      <p:to>
                                        <p:strVal val="visible"/>
                                      </p:to>
                                    </p:set>
                                    <p:animEffect transition="in" filter="box(in)">
                                      <p:cBhvr>
                                        <p:cTn id="22" dur="500"/>
                                        <p:tgtEl>
                                          <p:spTgt spid="439304"/>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39305"/>
                                        </p:tgtEl>
                                        <p:attrNameLst>
                                          <p:attrName>style.visibility</p:attrName>
                                        </p:attrNameLst>
                                      </p:cBhvr>
                                      <p:to>
                                        <p:strVal val="visible"/>
                                      </p:to>
                                    </p:set>
                                    <p:animEffect transition="in" filter="box(in)">
                                      <p:cBhvr>
                                        <p:cTn id="27" dur="500"/>
                                        <p:tgtEl>
                                          <p:spTgt spid="439305"/>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439306"/>
                                        </p:tgtEl>
                                        <p:attrNameLst>
                                          <p:attrName>style.visibility</p:attrName>
                                        </p:attrNameLst>
                                      </p:cBhvr>
                                      <p:to>
                                        <p:strVal val="visible"/>
                                      </p:to>
                                    </p:set>
                                    <p:animEffect transition="in" filter="box(in)">
                                      <p:cBhvr>
                                        <p:cTn id="32" dur="500"/>
                                        <p:tgtEl>
                                          <p:spTgt spid="439306"/>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439307"/>
                                        </p:tgtEl>
                                        <p:attrNameLst>
                                          <p:attrName>style.visibility</p:attrName>
                                        </p:attrNameLst>
                                      </p:cBhvr>
                                      <p:to>
                                        <p:strVal val="visible"/>
                                      </p:to>
                                    </p:set>
                                    <p:animEffect transition="in" filter="box(in)">
                                      <p:cBhvr>
                                        <p:cTn id="37" dur="500"/>
                                        <p:tgtEl>
                                          <p:spTgt spid="439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9300" grpId="0"/>
      <p:bldP spid="439301" grpId="0"/>
      <p:bldP spid="439303" grpId="0"/>
      <p:bldP spid="439304" grpId="0"/>
      <p:bldP spid="439305" grpId="0"/>
      <p:bldP spid="439306" grpId="0"/>
      <p:bldP spid="439307"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75138" name="Rectangle 2"/>
          <p:cNvSpPr>
            <a:spLocks noGrp="1" noChangeArrowheads="1"/>
          </p:cNvSpPr>
          <p:nvPr>
            <p:ph type="title"/>
          </p:nvPr>
        </p:nvSpPr>
        <p:spPr>
          <a:xfrm>
            <a:off x="2057400" y="152400"/>
            <a:ext cx="5410200" cy="688975"/>
          </a:xfrm>
        </p:spPr>
        <p:txBody>
          <a:bodyPr vert="horz" wrap="square" lIns="91440" tIns="45720" rIns="91440" bIns="45720" numCol="1" rtlCol="0" anchor="ctr"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altLang="zh-CN" sz="4400" b="1" i="0" u="none" strike="noStrike" kern="1200" cap="none" spc="0" normalizeH="0" baseline="0" noProof="0" dirty="0">
                <a:ln>
                  <a:noFill/>
                </a:ln>
                <a:solidFill>
                  <a:srgbClr val="3333FF"/>
                </a:solidFill>
                <a:effectLst/>
                <a:uLnTx/>
                <a:uFillTx/>
                <a:latin typeface="+mj-lt"/>
                <a:ea typeface="+mj-ea"/>
                <a:cs typeface="+mj-cs"/>
              </a:rPr>
              <a:t>Learned Hand</a:t>
            </a:r>
            <a:endParaRPr kumimoji="0" lang="zh-CN" altLang="en-US" sz="4400" b="1" i="0" u="none" strike="noStrike" kern="1200" cap="none" spc="0" normalizeH="0" baseline="0" noProof="0" dirty="0">
              <a:ln>
                <a:noFill/>
              </a:ln>
              <a:solidFill>
                <a:srgbClr val="3333FF"/>
              </a:solidFill>
              <a:effectLst/>
              <a:uLnTx/>
              <a:uFillTx/>
              <a:latin typeface="+mj-lt"/>
              <a:ea typeface="+mj-ea"/>
              <a:cs typeface="+mj-cs"/>
            </a:endParaRPr>
          </a:p>
        </p:txBody>
      </p:sp>
      <p:sp>
        <p:nvSpPr>
          <p:cNvPr id="9219" name="Rectangle 3"/>
          <p:cNvSpPr>
            <a:spLocks noGrp="1"/>
          </p:cNvSpPr>
          <p:nvPr>
            <p:ph idx="1"/>
          </p:nvPr>
        </p:nvSpPr>
        <p:spPr>
          <a:xfrm>
            <a:off x="2743200" y="4648200"/>
            <a:ext cx="8001000" cy="5410200"/>
          </a:xfrm>
          <a:ln/>
        </p:spPr>
        <p:txBody>
          <a:bodyPr vert="horz" wrap="square" lIns="91440" tIns="45720" rIns="91440" bIns="45720" anchor="t" anchorCtr="0"/>
          <a:p>
            <a:pPr marL="609600" indent="-609600" eaLnBrk="1" hangingPunct="1">
              <a:lnSpc>
                <a:spcPct val="120000"/>
              </a:lnSpc>
              <a:buFontTx/>
              <a:buNone/>
            </a:pPr>
            <a:endParaRPr lang="zh-CN" altLang="en-US" dirty="0"/>
          </a:p>
          <a:p>
            <a:pPr marL="609600" indent="-609600" eaLnBrk="1" hangingPunct="1">
              <a:lnSpc>
                <a:spcPct val="120000"/>
              </a:lnSpc>
              <a:buFontTx/>
              <a:buNone/>
            </a:pPr>
            <a:endParaRPr lang="zh-CN" altLang="en-US" sz="2800" dirty="0">
              <a:solidFill>
                <a:srgbClr val="91074F"/>
              </a:solidFill>
            </a:endParaRPr>
          </a:p>
        </p:txBody>
      </p:sp>
      <p:sp>
        <p:nvSpPr>
          <p:cNvPr id="475140" name="Text Box 4"/>
          <p:cNvSpPr txBox="1"/>
          <p:nvPr/>
        </p:nvSpPr>
        <p:spPr>
          <a:xfrm>
            <a:off x="762000" y="1524000"/>
            <a:ext cx="2286000" cy="36671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en-US" altLang="zh-CN" sz="1800" dirty="0">
                <a:latin typeface="Arial" panose="020B0604020202020204" pitchFamily="34" charset="0"/>
              </a:rPr>
              <a:t> </a:t>
            </a:r>
            <a:endParaRPr lang="en-US" altLang="zh-CN" sz="1800" dirty="0">
              <a:latin typeface="Arial" panose="020B0604020202020204" pitchFamily="34" charset="0"/>
            </a:endParaRPr>
          </a:p>
        </p:txBody>
      </p:sp>
      <p:sp>
        <p:nvSpPr>
          <p:cNvPr id="475145" name="Text Box 9"/>
          <p:cNvSpPr txBox="1"/>
          <p:nvPr/>
        </p:nvSpPr>
        <p:spPr>
          <a:xfrm>
            <a:off x="762000" y="4343400"/>
            <a:ext cx="3200400" cy="36671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en-US" altLang="zh-CN" sz="1800" b="1" dirty="0">
                <a:latin typeface="Arial" panose="020B0604020202020204" pitchFamily="34" charset="0"/>
              </a:rPr>
              <a:t>1872-1961</a:t>
            </a:r>
            <a:endParaRPr lang="en-US" altLang="zh-CN" sz="1800" b="1" dirty="0">
              <a:latin typeface="Arial" panose="020B0604020202020204" pitchFamily="34" charset="0"/>
            </a:endParaRPr>
          </a:p>
        </p:txBody>
      </p:sp>
      <p:sp>
        <p:nvSpPr>
          <p:cNvPr id="475146" name="Text Box 10"/>
          <p:cNvSpPr txBox="1"/>
          <p:nvPr/>
        </p:nvSpPr>
        <p:spPr>
          <a:xfrm>
            <a:off x="762000" y="4876800"/>
            <a:ext cx="5867400" cy="36671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zh-CN" altLang="en-US" sz="1800" b="1" dirty="0">
                <a:latin typeface="Arial" panose="020B0604020202020204" pitchFamily="34" charset="0"/>
              </a:rPr>
              <a:t>联邦第二巡回上诉法院法官（</a:t>
            </a:r>
            <a:r>
              <a:rPr lang="en-US" altLang="zh-CN" sz="1800" b="1" dirty="0">
                <a:latin typeface="Arial" panose="020B0604020202020204" pitchFamily="34" charset="0"/>
              </a:rPr>
              <a:t>1924-1951</a:t>
            </a:r>
            <a:r>
              <a:rPr lang="zh-CN" altLang="en-US" sz="1800" b="1" dirty="0">
                <a:latin typeface="Arial" panose="020B0604020202020204" pitchFamily="34" charset="0"/>
              </a:rPr>
              <a:t>）</a:t>
            </a:r>
            <a:endParaRPr lang="zh-CN" altLang="en-US" sz="1800" b="1" dirty="0">
              <a:latin typeface="Arial" panose="020B0604020202020204" pitchFamily="34" charset="0"/>
            </a:endParaRPr>
          </a:p>
        </p:txBody>
      </p:sp>
      <p:sp>
        <p:nvSpPr>
          <p:cNvPr id="475147" name="Text Box 11"/>
          <p:cNvSpPr txBox="1"/>
          <p:nvPr/>
        </p:nvSpPr>
        <p:spPr>
          <a:xfrm>
            <a:off x="762000" y="5410200"/>
            <a:ext cx="5715000" cy="36671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zh-CN" altLang="en-US" sz="1800" b="1" dirty="0">
                <a:latin typeface="Arial" panose="020B0604020202020204" pitchFamily="34" charset="0"/>
              </a:rPr>
              <a:t>代表著作：</a:t>
            </a:r>
            <a:r>
              <a:rPr lang="en-US" altLang="zh-CN" sz="1800" i="1" dirty="0">
                <a:latin typeface="Arial" panose="020B0604020202020204" pitchFamily="34" charset="0"/>
              </a:rPr>
              <a:t>The Spirit of Liberty</a:t>
            </a:r>
            <a:r>
              <a:rPr lang="en-US" altLang="zh-CN" sz="1800" dirty="0">
                <a:solidFill>
                  <a:srgbClr val="F60404"/>
                </a:solidFill>
                <a:latin typeface="Arial" panose="020B0604020202020204" pitchFamily="34" charset="0"/>
              </a:rPr>
              <a:t> </a:t>
            </a:r>
            <a:endParaRPr lang="zh-CN" altLang="en-US" sz="1800" dirty="0">
              <a:solidFill>
                <a:srgbClr val="F60404"/>
              </a:solidFill>
              <a:latin typeface="Arial" panose="020B0604020202020204" pitchFamily="34" charset="0"/>
            </a:endParaRPr>
          </a:p>
        </p:txBody>
      </p:sp>
      <p:pic>
        <p:nvPicPr>
          <p:cNvPr id="9224" name="Picture 12" descr="Learned Hand"/>
          <p:cNvPicPr>
            <a:picLocks noChangeAspect="1"/>
          </p:cNvPicPr>
          <p:nvPr/>
        </p:nvPicPr>
        <p:blipFill>
          <a:blip r:embed="rId1"/>
          <a:stretch>
            <a:fillRect/>
          </a:stretch>
        </p:blipFill>
        <p:spPr>
          <a:xfrm>
            <a:off x="3200400" y="1219200"/>
            <a:ext cx="2500313" cy="319881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iterate type="lt">
                                    <p:tmPct val="0"/>
                                  </p:iterate>
                                  <p:childTnLst>
                                    <p:set>
                                      <p:cBhvr>
                                        <p:cTn id="6" dur="1" fill="hold">
                                          <p:stCondLst>
                                            <p:cond delay="0"/>
                                          </p:stCondLst>
                                        </p:cTn>
                                        <p:tgtEl>
                                          <p:spTgt spid="475140"/>
                                        </p:tgtEl>
                                        <p:attrNameLst>
                                          <p:attrName>style.visibility</p:attrName>
                                        </p:attrNameLst>
                                      </p:cBhvr>
                                      <p:to>
                                        <p:strVal val="visible"/>
                                      </p:to>
                                    </p:set>
                                    <p:animEffect transition="in" filter="box(in)">
                                      <p:cBhvr>
                                        <p:cTn id="7" dur="500"/>
                                        <p:tgtEl>
                                          <p:spTgt spid="47514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75145"/>
                                        </p:tgtEl>
                                        <p:attrNameLst>
                                          <p:attrName>style.visibility</p:attrName>
                                        </p:attrNameLst>
                                      </p:cBhvr>
                                      <p:to>
                                        <p:strVal val="visible"/>
                                      </p:to>
                                    </p:set>
                                    <p:animEffect transition="in" filter="box(in)">
                                      <p:cBhvr>
                                        <p:cTn id="12" dur="500"/>
                                        <p:tgtEl>
                                          <p:spTgt spid="47514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75146"/>
                                        </p:tgtEl>
                                        <p:attrNameLst>
                                          <p:attrName>style.visibility</p:attrName>
                                        </p:attrNameLst>
                                      </p:cBhvr>
                                      <p:to>
                                        <p:strVal val="visible"/>
                                      </p:to>
                                    </p:set>
                                    <p:animEffect transition="in" filter="box(in)">
                                      <p:cBhvr>
                                        <p:cTn id="17" dur="500"/>
                                        <p:tgtEl>
                                          <p:spTgt spid="475146"/>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75147"/>
                                        </p:tgtEl>
                                        <p:attrNameLst>
                                          <p:attrName>style.visibility</p:attrName>
                                        </p:attrNameLst>
                                      </p:cBhvr>
                                      <p:to>
                                        <p:strVal val="visible"/>
                                      </p:to>
                                    </p:set>
                                    <p:animEffect transition="in" filter="box(in)">
                                      <p:cBhvr>
                                        <p:cTn id="22" dur="500"/>
                                        <p:tgtEl>
                                          <p:spTgt spid="475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5140" grpId="0"/>
      <p:bldP spid="475145" grpId="0"/>
      <p:bldP spid="475146" grpId="0"/>
      <p:bldP spid="475147"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10242" name="Picture 4" descr="汉德公式-图"/>
          <p:cNvPicPr>
            <a:picLocks noChangeAspect="1"/>
          </p:cNvPicPr>
          <p:nvPr/>
        </p:nvPicPr>
        <p:blipFill>
          <a:blip r:embed="rId1"/>
          <a:stretch>
            <a:fillRect/>
          </a:stretch>
        </p:blipFill>
        <p:spPr>
          <a:xfrm>
            <a:off x="1676400" y="609600"/>
            <a:ext cx="5943600" cy="529590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1266" name="Rectangle 2"/>
          <p:cNvSpPr>
            <a:spLocks noGrp="1"/>
          </p:cNvSpPr>
          <p:nvPr>
            <p:ph type="title"/>
          </p:nvPr>
        </p:nvSpPr>
        <p:spPr>
          <a:xfrm>
            <a:off x="1066800" y="381000"/>
            <a:ext cx="7543800" cy="688975"/>
          </a:xfrm>
          <a:ln/>
        </p:spPr>
        <p:txBody>
          <a:bodyPr vert="horz" wrap="square" lIns="91440" tIns="45720" rIns="91440" bIns="45720" anchor="ctr" anchorCtr="0"/>
          <a:p>
            <a:pPr eaLnBrk="1" hangingPunct="1"/>
            <a:r>
              <a:rPr lang="zh-CN" altLang="en-US" sz="3600" b="1" dirty="0">
                <a:solidFill>
                  <a:srgbClr val="3333FF"/>
                </a:solidFill>
              </a:rPr>
              <a:t>回到之前的医疗事故案例</a:t>
            </a:r>
            <a:endParaRPr lang="zh-CN" altLang="en-US" sz="3600" b="1" dirty="0">
              <a:solidFill>
                <a:srgbClr val="3333FF"/>
              </a:solidFill>
            </a:endParaRPr>
          </a:p>
        </p:txBody>
      </p:sp>
      <p:sp>
        <p:nvSpPr>
          <p:cNvPr id="11267" name="Rectangle 3"/>
          <p:cNvSpPr>
            <a:spLocks noGrp="1"/>
          </p:cNvSpPr>
          <p:nvPr>
            <p:ph idx="1"/>
          </p:nvPr>
        </p:nvSpPr>
        <p:spPr>
          <a:xfrm>
            <a:off x="2743200" y="4648200"/>
            <a:ext cx="8001000" cy="5410200"/>
          </a:xfrm>
          <a:ln/>
        </p:spPr>
        <p:txBody>
          <a:bodyPr vert="horz" wrap="square" lIns="91440" tIns="45720" rIns="91440" bIns="45720" anchor="t" anchorCtr="0"/>
          <a:p>
            <a:pPr marL="609600" indent="-609600" eaLnBrk="1" hangingPunct="1">
              <a:lnSpc>
                <a:spcPct val="120000"/>
              </a:lnSpc>
              <a:buFontTx/>
              <a:buNone/>
            </a:pPr>
            <a:endParaRPr lang="zh-CN" altLang="en-US" dirty="0"/>
          </a:p>
          <a:p>
            <a:pPr marL="609600" indent="-609600" eaLnBrk="1" hangingPunct="1">
              <a:lnSpc>
                <a:spcPct val="120000"/>
              </a:lnSpc>
              <a:buFontTx/>
              <a:buNone/>
            </a:pPr>
            <a:endParaRPr lang="zh-CN" altLang="en-US" sz="2800" dirty="0">
              <a:solidFill>
                <a:srgbClr val="91074F"/>
              </a:solidFill>
            </a:endParaRPr>
          </a:p>
        </p:txBody>
      </p:sp>
      <p:sp>
        <p:nvSpPr>
          <p:cNvPr id="440324" name="Text Box 4"/>
          <p:cNvSpPr txBox="1"/>
          <p:nvPr/>
        </p:nvSpPr>
        <p:spPr>
          <a:xfrm>
            <a:off x="762000" y="1524000"/>
            <a:ext cx="7543800" cy="36671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zh-CN" altLang="en-US" sz="1800" b="1" dirty="0">
                <a:latin typeface="Arial" panose="020B0604020202020204" pitchFamily="34" charset="0"/>
              </a:rPr>
              <a:t>比较一下医院为预防事故所负担的</a:t>
            </a:r>
            <a:r>
              <a:rPr lang="en-US" altLang="zh-CN" sz="1800" b="1" dirty="0">
                <a:latin typeface="Arial" panose="020B0604020202020204" pitchFamily="34" charset="0"/>
              </a:rPr>
              <a:t>B</a:t>
            </a:r>
            <a:r>
              <a:rPr lang="zh-CN" altLang="en-US" sz="1800" b="1" dirty="0">
                <a:latin typeface="Arial" panose="020B0604020202020204" pitchFamily="34" charset="0"/>
              </a:rPr>
              <a:t>，以及预期发生的损失</a:t>
            </a:r>
            <a:r>
              <a:rPr lang="zh-CN" altLang="en-US" sz="1800" dirty="0">
                <a:latin typeface="Arial" panose="020B0604020202020204" pitchFamily="34" charset="0"/>
              </a:rPr>
              <a:t> </a:t>
            </a:r>
            <a:r>
              <a:rPr lang="en-US" altLang="zh-CN" sz="1800" b="1" dirty="0">
                <a:latin typeface="Arial" panose="020B0604020202020204" pitchFamily="34" charset="0"/>
              </a:rPr>
              <a:t>P·L</a:t>
            </a:r>
            <a:endParaRPr lang="zh-CN" altLang="en-US" sz="1800" b="1" dirty="0">
              <a:latin typeface="Arial" panose="020B0604020202020204" pitchFamily="34" charset="0"/>
            </a:endParaRPr>
          </a:p>
        </p:txBody>
      </p:sp>
      <p:sp>
        <p:nvSpPr>
          <p:cNvPr id="440325" name="Text Box 5"/>
          <p:cNvSpPr txBox="1"/>
          <p:nvPr/>
        </p:nvSpPr>
        <p:spPr>
          <a:xfrm>
            <a:off x="762000" y="2057400"/>
            <a:ext cx="7315200" cy="36671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zh-CN" altLang="en-US" sz="1800" b="1" dirty="0">
                <a:latin typeface="Arial" panose="020B0604020202020204" pitchFamily="34" charset="0"/>
              </a:rPr>
              <a:t>一方面，为了预防事故的发生，医院需要对每一袋血浆进行复检</a:t>
            </a:r>
            <a:endParaRPr lang="zh-CN" altLang="en-US" sz="1800" b="1" dirty="0">
              <a:latin typeface="Arial" panose="020B0604020202020204" pitchFamily="34" charset="0"/>
            </a:endParaRPr>
          </a:p>
        </p:txBody>
      </p:sp>
      <p:sp>
        <p:nvSpPr>
          <p:cNvPr id="440326" name="Text Box 6"/>
          <p:cNvSpPr txBox="1"/>
          <p:nvPr/>
        </p:nvSpPr>
        <p:spPr>
          <a:xfrm>
            <a:off x="762000" y="2590800"/>
            <a:ext cx="8382000" cy="36671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zh-CN" altLang="en-US" sz="1800" b="1" dirty="0">
                <a:latin typeface="Arial" panose="020B0604020202020204" pitchFamily="34" charset="0"/>
              </a:rPr>
              <a:t>另一方面，血液中心在符合一切操作流程的情形下售出有病毒的血浆，概率很低</a:t>
            </a:r>
            <a:endParaRPr lang="zh-CN" altLang="en-US" sz="1800" b="1" dirty="0">
              <a:latin typeface="Arial" panose="020B0604020202020204" pitchFamily="34" charset="0"/>
            </a:endParaRPr>
          </a:p>
        </p:txBody>
      </p:sp>
      <p:sp>
        <p:nvSpPr>
          <p:cNvPr id="440327" name="Text Box 7"/>
          <p:cNvSpPr txBox="1"/>
          <p:nvPr/>
        </p:nvSpPr>
        <p:spPr>
          <a:xfrm>
            <a:off x="762000" y="3124200"/>
            <a:ext cx="5334000" cy="36671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zh-CN" altLang="en-US" sz="1800" b="1" dirty="0">
                <a:solidFill>
                  <a:srgbClr val="CC3300"/>
                </a:solidFill>
                <a:latin typeface="Arial" panose="020B0604020202020204" pitchFamily="34" charset="0"/>
              </a:rPr>
              <a:t>可以判断 </a:t>
            </a:r>
            <a:r>
              <a:rPr lang="en-US" altLang="zh-CN" sz="1800" b="1" dirty="0">
                <a:solidFill>
                  <a:srgbClr val="CC3300"/>
                </a:solidFill>
                <a:latin typeface="Arial" panose="020B0604020202020204" pitchFamily="34" charset="0"/>
              </a:rPr>
              <a:t>B&gt; P·L   </a:t>
            </a:r>
            <a:r>
              <a:rPr lang="zh-CN" altLang="en-US" sz="1800" b="1" dirty="0">
                <a:solidFill>
                  <a:srgbClr val="CC3300"/>
                </a:solidFill>
                <a:latin typeface="Arial" panose="020B0604020202020204" pitchFamily="34" charset="0"/>
              </a:rPr>
              <a:t>因而不存在过失</a:t>
            </a:r>
            <a:endParaRPr lang="zh-CN" altLang="en-US" sz="1800" b="1" dirty="0">
              <a:solidFill>
                <a:srgbClr val="CC3300"/>
              </a:solidFill>
              <a:latin typeface="Arial" panose="020B0604020202020204" pitchFamily="34" charset="0"/>
            </a:endParaRPr>
          </a:p>
        </p:txBody>
      </p:sp>
      <p:sp>
        <p:nvSpPr>
          <p:cNvPr id="440328" name="Text Box 8"/>
          <p:cNvSpPr txBox="1"/>
          <p:nvPr/>
        </p:nvSpPr>
        <p:spPr>
          <a:xfrm>
            <a:off x="762000" y="3657600"/>
            <a:ext cx="6019800" cy="36671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zh-CN" altLang="en-US" sz="1800" b="1" dirty="0">
                <a:latin typeface="Arial" panose="020B0604020202020204" pitchFamily="34" charset="0"/>
              </a:rPr>
              <a:t>如何理解法院的“公平责任”判决？</a:t>
            </a:r>
            <a:endParaRPr lang="zh-CN" altLang="en-US" sz="1800" b="1" dirty="0">
              <a:latin typeface="Arial" panose="020B0604020202020204" pitchFamily="34" charset="0"/>
            </a:endParaRPr>
          </a:p>
        </p:txBody>
      </p:sp>
      <p:sp>
        <p:nvSpPr>
          <p:cNvPr id="440329" name="Text Box 9"/>
          <p:cNvSpPr txBox="1"/>
          <p:nvPr/>
        </p:nvSpPr>
        <p:spPr>
          <a:xfrm>
            <a:off x="762000" y="4267200"/>
            <a:ext cx="7086600" cy="36671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zh-CN" altLang="en-US" sz="1800" b="1" dirty="0">
                <a:latin typeface="Arial" panose="020B0604020202020204" pitchFamily="34" charset="0"/>
              </a:rPr>
              <a:t>照顾“弱势群体”，希望通过法律机制来调整社会财富分配</a:t>
            </a:r>
            <a:endParaRPr lang="zh-CN" altLang="en-US" sz="1800" b="1" dirty="0">
              <a:latin typeface="Arial" panose="020B0604020202020204" pitchFamily="34" charset="0"/>
            </a:endParaRPr>
          </a:p>
        </p:txBody>
      </p:sp>
      <p:sp>
        <p:nvSpPr>
          <p:cNvPr id="440330" name="Text Box 10"/>
          <p:cNvSpPr txBox="1"/>
          <p:nvPr/>
        </p:nvSpPr>
        <p:spPr>
          <a:xfrm>
            <a:off x="762000" y="4876800"/>
            <a:ext cx="8001000" cy="36671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zh-CN" altLang="en-US" sz="1800" b="1" dirty="0">
                <a:latin typeface="Arial" panose="020B0604020202020204" pitchFamily="34" charset="0"/>
              </a:rPr>
              <a:t>后果：社会成本的急剧上升，相当大的一部分最终将由“弱势群体”来承担</a:t>
            </a:r>
            <a:endParaRPr lang="zh-CN" altLang="en-US" sz="1800" b="1"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iterate type="lt">
                                    <p:tmPct val="0"/>
                                  </p:iterate>
                                  <p:childTnLst>
                                    <p:set>
                                      <p:cBhvr>
                                        <p:cTn id="6" dur="1" fill="hold">
                                          <p:stCondLst>
                                            <p:cond delay="0"/>
                                          </p:stCondLst>
                                        </p:cTn>
                                        <p:tgtEl>
                                          <p:spTgt spid="440324"/>
                                        </p:tgtEl>
                                        <p:attrNameLst>
                                          <p:attrName>style.visibility</p:attrName>
                                        </p:attrNameLst>
                                      </p:cBhvr>
                                      <p:to>
                                        <p:strVal val="visible"/>
                                      </p:to>
                                    </p:set>
                                    <p:animEffect transition="in" filter="box(in)">
                                      <p:cBhvr>
                                        <p:cTn id="7" dur="500"/>
                                        <p:tgtEl>
                                          <p:spTgt spid="44032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40325"/>
                                        </p:tgtEl>
                                        <p:attrNameLst>
                                          <p:attrName>style.visibility</p:attrName>
                                        </p:attrNameLst>
                                      </p:cBhvr>
                                      <p:to>
                                        <p:strVal val="visible"/>
                                      </p:to>
                                    </p:set>
                                    <p:animEffect transition="in" filter="box(in)">
                                      <p:cBhvr>
                                        <p:cTn id="12" dur="500"/>
                                        <p:tgtEl>
                                          <p:spTgt spid="44032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40326"/>
                                        </p:tgtEl>
                                        <p:attrNameLst>
                                          <p:attrName>style.visibility</p:attrName>
                                        </p:attrNameLst>
                                      </p:cBhvr>
                                      <p:to>
                                        <p:strVal val="visible"/>
                                      </p:to>
                                    </p:set>
                                    <p:animEffect transition="in" filter="box(in)">
                                      <p:cBhvr>
                                        <p:cTn id="17" dur="500"/>
                                        <p:tgtEl>
                                          <p:spTgt spid="440326"/>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40327"/>
                                        </p:tgtEl>
                                        <p:attrNameLst>
                                          <p:attrName>style.visibility</p:attrName>
                                        </p:attrNameLst>
                                      </p:cBhvr>
                                      <p:to>
                                        <p:strVal val="visible"/>
                                      </p:to>
                                    </p:set>
                                    <p:animEffect transition="in" filter="box(in)">
                                      <p:cBhvr>
                                        <p:cTn id="22" dur="500"/>
                                        <p:tgtEl>
                                          <p:spTgt spid="440327"/>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40328"/>
                                        </p:tgtEl>
                                        <p:attrNameLst>
                                          <p:attrName>style.visibility</p:attrName>
                                        </p:attrNameLst>
                                      </p:cBhvr>
                                      <p:to>
                                        <p:strVal val="visible"/>
                                      </p:to>
                                    </p:set>
                                    <p:animEffect transition="in" filter="box(in)">
                                      <p:cBhvr>
                                        <p:cTn id="27" dur="500"/>
                                        <p:tgtEl>
                                          <p:spTgt spid="440328"/>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440329"/>
                                        </p:tgtEl>
                                        <p:attrNameLst>
                                          <p:attrName>style.visibility</p:attrName>
                                        </p:attrNameLst>
                                      </p:cBhvr>
                                      <p:to>
                                        <p:strVal val="visible"/>
                                      </p:to>
                                    </p:set>
                                    <p:animEffect transition="in" filter="box(in)">
                                      <p:cBhvr>
                                        <p:cTn id="32" dur="500"/>
                                        <p:tgtEl>
                                          <p:spTgt spid="440329"/>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440330"/>
                                        </p:tgtEl>
                                        <p:attrNameLst>
                                          <p:attrName>style.visibility</p:attrName>
                                        </p:attrNameLst>
                                      </p:cBhvr>
                                      <p:to>
                                        <p:strVal val="visible"/>
                                      </p:to>
                                    </p:set>
                                    <p:animEffect transition="in" filter="box(in)">
                                      <p:cBhvr>
                                        <p:cTn id="37" dur="500"/>
                                        <p:tgtEl>
                                          <p:spTgt spid="440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24" grpId="0"/>
      <p:bldP spid="440325" grpId="0"/>
      <p:bldP spid="440326" grpId="0"/>
      <p:bldP spid="440327" grpId="0"/>
      <p:bldP spid="440328" grpId="0"/>
      <p:bldP spid="440329" grpId="0"/>
      <p:bldP spid="440330"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42370" name="Rectangle 2"/>
          <p:cNvSpPr>
            <a:spLocks noGrp="1" noChangeArrowheads="1"/>
          </p:cNvSpPr>
          <p:nvPr>
            <p:ph type="title"/>
          </p:nvPr>
        </p:nvSpPr>
        <p:spPr>
          <a:xfrm>
            <a:off x="2057400" y="457200"/>
            <a:ext cx="5410200" cy="688975"/>
          </a:xfrm>
        </p:spPr>
        <p:txBody>
          <a:bodyPr vert="horz" wrap="square" lIns="91440" tIns="45720" rIns="91440" bIns="45720" numCol="1" rtlCol="0" anchor="ctr"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4400" b="1" i="0" u="none" strike="noStrike" kern="1200" cap="none" spc="0" normalizeH="0" baseline="0" noProof="0" dirty="0">
                <a:ln>
                  <a:noFill/>
                </a:ln>
                <a:solidFill>
                  <a:srgbClr val="3333FF"/>
                </a:solidFill>
                <a:effectLst/>
                <a:uLnTx/>
                <a:uFillTx/>
                <a:latin typeface="+mj-lt"/>
                <a:ea typeface="+mj-ea"/>
                <a:cs typeface="+mj-cs"/>
              </a:rPr>
              <a:t>应用</a:t>
            </a:r>
            <a:endParaRPr kumimoji="0" lang="zh-CN" altLang="en-US" sz="4400" b="1" i="0" u="none" strike="noStrike" kern="1200" cap="none" spc="0" normalizeH="0" baseline="0" noProof="0" dirty="0">
              <a:ln>
                <a:noFill/>
              </a:ln>
              <a:solidFill>
                <a:srgbClr val="3333FF"/>
              </a:solidFill>
              <a:effectLst/>
              <a:uLnTx/>
              <a:uFillTx/>
              <a:latin typeface="+mj-lt"/>
              <a:ea typeface="+mj-ea"/>
              <a:cs typeface="+mj-cs"/>
            </a:endParaRPr>
          </a:p>
        </p:txBody>
      </p:sp>
      <p:sp>
        <p:nvSpPr>
          <p:cNvPr id="12291" name="Rectangle 3"/>
          <p:cNvSpPr>
            <a:spLocks noGrp="1"/>
          </p:cNvSpPr>
          <p:nvPr>
            <p:ph idx="1"/>
          </p:nvPr>
        </p:nvSpPr>
        <p:spPr>
          <a:xfrm>
            <a:off x="2743200" y="4648200"/>
            <a:ext cx="8001000" cy="5410200"/>
          </a:xfrm>
          <a:ln/>
        </p:spPr>
        <p:txBody>
          <a:bodyPr vert="horz" wrap="square" lIns="91440" tIns="45720" rIns="91440" bIns="45720" anchor="t" anchorCtr="0"/>
          <a:p>
            <a:pPr marL="609600" indent="-609600" eaLnBrk="1" hangingPunct="1">
              <a:lnSpc>
                <a:spcPct val="120000"/>
              </a:lnSpc>
              <a:buFontTx/>
              <a:buNone/>
            </a:pPr>
            <a:endParaRPr lang="zh-CN" altLang="en-US" dirty="0"/>
          </a:p>
          <a:p>
            <a:pPr marL="609600" indent="-609600" eaLnBrk="1" hangingPunct="1">
              <a:lnSpc>
                <a:spcPct val="120000"/>
              </a:lnSpc>
              <a:buFontTx/>
              <a:buNone/>
            </a:pPr>
            <a:endParaRPr lang="zh-CN" altLang="en-US" sz="2800" dirty="0">
              <a:solidFill>
                <a:srgbClr val="91074F"/>
              </a:solidFill>
            </a:endParaRPr>
          </a:p>
        </p:txBody>
      </p:sp>
      <p:sp>
        <p:nvSpPr>
          <p:cNvPr id="442372" name="Text Box 4"/>
          <p:cNvSpPr txBox="1"/>
          <p:nvPr/>
        </p:nvSpPr>
        <p:spPr>
          <a:xfrm>
            <a:off x="762000" y="1676400"/>
            <a:ext cx="7620000" cy="3508375"/>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en-US" altLang="zh-CN" sz="1800" dirty="0">
                <a:solidFill>
                  <a:srgbClr val="F60404"/>
                </a:solidFill>
                <a:latin typeface="Arial" panose="020B0604020202020204" pitchFamily="34" charset="0"/>
              </a:rPr>
              <a:t>            </a:t>
            </a:r>
            <a:r>
              <a:rPr lang="en-US" altLang="zh-CN" sz="2800" b="1" dirty="0">
                <a:latin typeface="Arial" panose="020B0604020202020204" pitchFamily="34" charset="0"/>
              </a:rPr>
              <a:t>Hendricks v</a:t>
            </a:r>
            <a:r>
              <a:rPr lang="zh-CN" altLang="en-US" sz="2800" b="1" dirty="0">
                <a:latin typeface="Arial" panose="020B0604020202020204" pitchFamily="34" charset="0"/>
              </a:rPr>
              <a:t>．</a:t>
            </a:r>
            <a:r>
              <a:rPr lang="en-US" altLang="zh-CN" sz="2800" b="1" dirty="0">
                <a:latin typeface="Arial" panose="020B0604020202020204" pitchFamily="34" charset="0"/>
              </a:rPr>
              <a:t>Peabody Coal Co</a:t>
            </a:r>
            <a:r>
              <a:rPr lang="zh-CN" altLang="en-US" sz="2800" b="1" dirty="0">
                <a:latin typeface="Arial" panose="020B0604020202020204" pitchFamily="34" charset="0"/>
              </a:rPr>
              <a:t>．一案中，一个</a:t>
            </a:r>
            <a:r>
              <a:rPr lang="en-US" altLang="zh-CN" sz="2800" b="1" dirty="0">
                <a:latin typeface="Arial" panose="020B0604020202020204" pitchFamily="34" charset="0"/>
              </a:rPr>
              <a:t>16</a:t>
            </a:r>
            <a:r>
              <a:rPr lang="zh-CN" altLang="en-US" sz="2800" b="1" dirty="0">
                <a:latin typeface="Arial" panose="020B0604020202020204" pitchFamily="34" charset="0"/>
              </a:rPr>
              <a:t>岁的少年在被告废弃的矿坑里游泳，受到了伤害。被告知道有人在矿坑里游泳，并且知道就在少年潜水的水下某处有暗礁，也派了人巡视，但做得马虎。法院认为，“整个水面只要用价值</a:t>
            </a:r>
            <a:r>
              <a:rPr lang="en-US" altLang="zh-CN" sz="2800" b="1" dirty="0">
                <a:latin typeface="Arial" panose="020B0604020202020204" pitchFamily="34" charset="0"/>
              </a:rPr>
              <a:t>1.2-1.4</a:t>
            </a:r>
            <a:r>
              <a:rPr lang="zh-CN" altLang="en-US" sz="2800" b="1" dirty="0">
                <a:latin typeface="Arial" panose="020B0604020202020204" pitchFamily="34" charset="0"/>
              </a:rPr>
              <a:t>万美元的钢丝网就能被封闭起来。</a:t>
            </a:r>
            <a:r>
              <a:rPr lang="zh-CN" altLang="en-US" sz="2800" b="1" u="sng" dirty="0">
                <a:latin typeface="Arial" panose="020B0604020202020204" pitchFamily="34" charset="0"/>
              </a:rPr>
              <a:t>与孩子受伤害的风险相比，这一成本是微不足道的</a:t>
            </a:r>
            <a:r>
              <a:rPr lang="zh-CN" altLang="en-US" sz="2800" b="1" dirty="0">
                <a:latin typeface="Arial" panose="020B0604020202020204" pitchFamily="34" charset="0"/>
              </a:rPr>
              <a:t>。”</a:t>
            </a:r>
            <a:r>
              <a:rPr lang="zh-CN" altLang="en-US" sz="1600" b="1" dirty="0">
                <a:latin typeface="Arial" panose="020B0604020202020204" pitchFamily="34" charset="0"/>
              </a:rPr>
              <a:t> </a:t>
            </a:r>
            <a:r>
              <a:rPr lang="en-US" altLang="zh-CN" sz="1600" b="1" dirty="0">
                <a:latin typeface="Arial" panose="020B0604020202020204" pitchFamily="34" charset="0"/>
              </a:rPr>
              <a:t> </a:t>
            </a:r>
            <a:endParaRPr lang="en-US" altLang="zh-CN" sz="1600" b="1" dirty="0">
              <a:latin typeface="Arial" panose="020B0604020202020204" pitchFamily="34" charset="0"/>
            </a:endParaRPr>
          </a:p>
        </p:txBody>
      </p:sp>
      <p:sp>
        <p:nvSpPr>
          <p:cNvPr id="442375" name="Text Box 7"/>
          <p:cNvSpPr txBox="1"/>
          <p:nvPr/>
        </p:nvSpPr>
        <p:spPr>
          <a:xfrm>
            <a:off x="762000" y="2895600"/>
            <a:ext cx="7467600" cy="366713"/>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en-US" altLang="zh-CN" sz="1800" b="1" dirty="0">
                <a:latin typeface="Arial" panose="020B0604020202020204" pitchFamily="34" charset="0"/>
              </a:rPr>
              <a:t>       </a:t>
            </a:r>
            <a:endParaRPr lang="en-US" altLang="zh-CN" sz="1800" dirty="0">
              <a:solidFill>
                <a:srgbClr val="F60404"/>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iterate type="lt">
                                    <p:tmPct val="0"/>
                                  </p:iterate>
                                  <p:childTnLst>
                                    <p:set>
                                      <p:cBhvr>
                                        <p:cTn id="6" dur="1" fill="hold">
                                          <p:stCondLst>
                                            <p:cond delay="0"/>
                                          </p:stCondLst>
                                        </p:cTn>
                                        <p:tgtEl>
                                          <p:spTgt spid="442372"/>
                                        </p:tgtEl>
                                        <p:attrNameLst>
                                          <p:attrName>style.visibility</p:attrName>
                                        </p:attrNameLst>
                                      </p:cBhvr>
                                      <p:to>
                                        <p:strVal val="visible"/>
                                      </p:to>
                                    </p:set>
                                    <p:animEffect transition="in" filter="box(in)">
                                      <p:cBhvr>
                                        <p:cTn id="7" dur="500"/>
                                        <p:tgtEl>
                                          <p:spTgt spid="44237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42375"/>
                                        </p:tgtEl>
                                        <p:attrNameLst>
                                          <p:attrName>style.visibility</p:attrName>
                                        </p:attrNameLst>
                                      </p:cBhvr>
                                      <p:to>
                                        <p:strVal val="visible"/>
                                      </p:to>
                                    </p:set>
                                    <p:animEffect transition="in" filter="box(in)">
                                      <p:cBhvr>
                                        <p:cTn id="12" dur="500"/>
                                        <p:tgtEl>
                                          <p:spTgt spid="4423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2372" grpId="0"/>
      <p:bldP spid="442375"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43394" name="Rectangle 2"/>
          <p:cNvSpPr>
            <a:spLocks noGrp="1" noChangeArrowheads="1"/>
          </p:cNvSpPr>
          <p:nvPr>
            <p:ph type="title"/>
          </p:nvPr>
        </p:nvSpPr>
        <p:spPr>
          <a:xfrm>
            <a:off x="2057400" y="457200"/>
            <a:ext cx="5410200" cy="688975"/>
          </a:xfrm>
        </p:spPr>
        <p:txBody>
          <a:bodyPr vert="horz" wrap="square" lIns="91440" tIns="45720" rIns="91440" bIns="45720" numCol="1" rtlCol="0" anchor="ctr"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4400" b="1" i="0" u="none" strike="noStrike" kern="1200" cap="none" spc="0" normalizeH="0" baseline="0" noProof="0" dirty="0">
                <a:ln>
                  <a:noFill/>
                </a:ln>
                <a:solidFill>
                  <a:srgbClr val="3333FF"/>
                </a:solidFill>
                <a:effectLst/>
                <a:uLnTx/>
                <a:uFillTx/>
                <a:latin typeface="+mj-lt"/>
                <a:ea typeface="+mj-ea"/>
                <a:cs typeface="+mj-cs"/>
              </a:rPr>
              <a:t>应用</a:t>
            </a:r>
            <a:endParaRPr kumimoji="0" lang="zh-CN" altLang="en-US" sz="4400" b="1" i="0" u="none" strike="noStrike" kern="1200" cap="none" spc="0" normalizeH="0" baseline="0" noProof="0" dirty="0">
              <a:ln>
                <a:noFill/>
              </a:ln>
              <a:solidFill>
                <a:srgbClr val="3333FF"/>
              </a:solidFill>
              <a:effectLst/>
              <a:uLnTx/>
              <a:uFillTx/>
              <a:latin typeface="+mj-lt"/>
              <a:ea typeface="+mj-ea"/>
              <a:cs typeface="+mj-cs"/>
            </a:endParaRPr>
          </a:p>
        </p:txBody>
      </p:sp>
      <p:sp>
        <p:nvSpPr>
          <p:cNvPr id="13315" name="Rectangle 3"/>
          <p:cNvSpPr>
            <a:spLocks noGrp="1"/>
          </p:cNvSpPr>
          <p:nvPr>
            <p:ph idx="1"/>
          </p:nvPr>
        </p:nvSpPr>
        <p:spPr>
          <a:xfrm>
            <a:off x="2743200" y="4648200"/>
            <a:ext cx="8001000" cy="5410200"/>
          </a:xfrm>
          <a:ln/>
        </p:spPr>
        <p:txBody>
          <a:bodyPr vert="horz" wrap="square" lIns="91440" tIns="45720" rIns="91440" bIns="45720" anchor="t" anchorCtr="0"/>
          <a:p>
            <a:pPr marL="609600" indent="-609600" eaLnBrk="1" hangingPunct="1">
              <a:lnSpc>
                <a:spcPct val="120000"/>
              </a:lnSpc>
              <a:buFontTx/>
              <a:buNone/>
            </a:pPr>
            <a:endParaRPr lang="zh-CN" altLang="en-US" dirty="0"/>
          </a:p>
          <a:p>
            <a:pPr marL="609600" indent="-609600" eaLnBrk="1" hangingPunct="1">
              <a:lnSpc>
                <a:spcPct val="120000"/>
              </a:lnSpc>
              <a:buFontTx/>
              <a:buNone/>
            </a:pPr>
            <a:endParaRPr lang="zh-CN" altLang="en-US" sz="2800" dirty="0">
              <a:solidFill>
                <a:srgbClr val="91074F"/>
              </a:solidFill>
            </a:endParaRPr>
          </a:p>
        </p:txBody>
      </p:sp>
      <p:sp>
        <p:nvSpPr>
          <p:cNvPr id="443396" name="Text Box 4"/>
          <p:cNvSpPr txBox="1"/>
          <p:nvPr/>
        </p:nvSpPr>
        <p:spPr>
          <a:xfrm>
            <a:off x="762000" y="1752600"/>
            <a:ext cx="7696200" cy="3016250"/>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en-US" altLang="zh-CN" b="1" dirty="0">
                <a:latin typeface="Arial" panose="020B0604020202020204" pitchFamily="34" charset="0"/>
              </a:rPr>
              <a:t>       Blyth v</a:t>
            </a:r>
            <a:r>
              <a:rPr lang="zh-CN" altLang="en-US" b="1" dirty="0">
                <a:latin typeface="Arial" panose="020B0604020202020204" pitchFamily="34" charset="0"/>
              </a:rPr>
              <a:t>．</a:t>
            </a:r>
            <a:r>
              <a:rPr lang="en-US" altLang="zh-CN" b="1" dirty="0">
                <a:latin typeface="Arial" panose="020B0604020202020204" pitchFamily="34" charset="0"/>
              </a:rPr>
              <a:t>Birmingham Water Works</a:t>
            </a:r>
            <a:r>
              <a:rPr lang="zh-CN" altLang="en-US" b="1" dirty="0">
                <a:latin typeface="Arial" panose="020B0604020202020204" pitchFamily="34" charset="0"/>
              </a:rPr>
              <a:t>一案中，供水公司将水管埋得较浅，结果在发生霜冻时冻裂，毁坏了原告的家。为了表明自来水公司并未构成过失，法院强调这次霜冻是前所未有的严重，即</a:t>
            </a:r>
            <a:r>
              <a:rPr lang="zh-CN" altLang="en-US" b="1" u="sng" dirty="0">
                <a:latin typeface="Arial" panose="020B0604020202020204" pitchFamily="34" charset="0"/>
              </a:rPr>
              <a:t>这种损失的几率是很低的</a:t>
            </a:r>
            <a:r>
              <a:rPr lang="zh-CN" altLang="en-US" b="1" dirty="0">
                <a:latin typeface="Arial" panose="020B0604020202020204" pitchFamily="34" charset="0"/>
              </a:rPr>
              <a:t>。</a:t>
            </a:r>
            <a:r>
              <a:rPr lang="en-US" altLang="zh-CN" sz="1800" dirty="0">
                <a:latin typeface="Arial" panose="020B0604020202020204" pitchFamily="34" charset="0"/>
              </a:rPr>
              <a:t> </a:t>
            </a:r>
            <a:endParaRPr lang="en-US" altLang="zh-CN" sz="18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iterate type="lt">
                                    <p:tmPct val="0"/>
                                  </p:iterate>
                                  <p:childTnLst>
                                    <p:set>
                                      <p:cBhvr>
                                        <p:cTn id="6" dur="1" fill="hold">
                                          <p:stCondLst>
                                            <p:cond delay="0"/>
                                          </p:stCondLst>
                                        </p:cTn>
                                        <p:tgtEl>
                                          <p:spTgt spid="443396"/>
                                        </p:tgtEl>
                                        <p:attrNameLst>
                                          <p:attrName>style.visibility</p:attrName>
                                        </p:attrNameLst>
                                      </p:cBhvr>
                                      <p:to>
                                        <p:strVal val="visible"/>
                                      </p:to>
                                    </p:set>
                                    <p:animEffect transition="in" filter="box(in)">
                                      <p:cBhvr>
                                        <p:cTn id="7" dur="500"/>
                                        <p:tgtEl>
                                          <p:spTgt spid="443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3396"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44418" name="Rectangle 2"/>
          <p:cNvSpPr>
            <a:spLocks noGrp="1" noChangeArrowheads="1"/>
          </p:cNvSpPr>
          <p:nvPr>
            <p:ph type="title"/>
          </p:nvPr>
        </p:nvSpPr>
        <p:spPr>
          <a:xfrm>
            <a:off x="1981200" y="533400"/>
            <a:ext cx="5410200" cy="688975"/>
          </a:xfrm>
        </p:spPr>
        <p:txBody>
          <a:bodyPr vert="horz" wrap="square" lIns="91440" tIns="45720" rIns="91440" bIns="45720" numCol="1" rtlCol="0" anchor="ctr"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4400" b="1" i="0" u="none" strike="noStrike" kern="1200" cap="none" spc="0" normalizeH="0" baseline="0" noProof="0" dirty="0">
                <a:ln>
                  <a:noFill/>
                </a:ln>
                <a:solidFill>
                  <a:srgbClr val="3333FF"/>
                </a:solidFill>
                <a:effectLst/>
                <a:uLnTx/>
                <a:uFillTx/>
                <a:latin typeface="+mj-lt"/>
                <a:ea typeface="+mj-ea"/>
                <a:cs typeface="+mj-cs"/>
              </a:rPr>
              <a:t>应用</a:t>
            </a:r>
            <a:endParaRPr kumimoji="0" lang="zh-CN" altLang="en-US" sz="4400" b="1" i="0" u="none" strike="noStrike" kern="1200" cap="none" spc="0" normalizeH="0" baseline="0" noProof="0" dirty="0">
              <a:ln>
                <a:noFill/>
              </a:ln>
              <a:solidFill>
                <a:srgbClr val="3333FF"/>
              </a:solidFill>
              <a:effectLst/>
              <a:uLnTx/>
              <a:uFillTx/>
              <a:latin typeface="+mj-lt"/>
              <a:ea typeface="+mj-ea"/>
              <a:cs typeface="+mj-cs"/>
            </a:endParaRPr>
          </a:p>
        </p:txBody>
      </p:sp>
      <p:sp>
        <p:nvSpPr>
          <p:cNvPr id="14339" name="Rectangle 3"/>
          <p:cNvSpPr>
            <a:spLocks noGrp="1"/>
          </p:cNvSpPr>
          <p:nvPr>
            <p:ph idx="1"/>
          </p:nvPr>
        </p:nvSpPr>
        <p:spPr>
          <a:xfrm>
            <a:off x="2743200" y="4648200"/>
            <a:ext cx="8001000" cy="5410200"/>
          </a:xfrm>
          <a:ln/>
        </p:spPr>
        <p:txBody>
          <a:bodyPr vert="horz" wrap="square" lIns="91440" tIns="45720" rIns="91440" bIns="45720" anchor="t" anchorCtr="0"/>
          <a:p>
            <a:pPr marL="609600" indent="-609600" eaLnBrk="1" hangingPunct="1">
              <a:lnSpc>
                <a:spcPct val="120000"/>
              </a:lnSpc>
              <a:buFontTx/>
              <a:buNone/>
            </a:pPr>
            <a:endParaRPr lang="zh-CN" altLang="en-US" dirty="0"/>
          </a:p>
          <a:p>
            <a:pPr marL="609600" indent="-609600" eaLnBrk="1" hangingPunct="1">
              <a:lnSpc>
                <a:spcPct val="120000"/>
              </a:lnSpc>
              <a:buFontTx/>
              <a:buNone/>
            </a:pPr>
            <a:endParaRPr lang="zh-CN" altLang="en-US" sz="2800" dirty="0">
              <a:solidFill>
                <a:srgbClr val="91074F"/>
              </a:solidFill>
            </a:endParaRPr>
          </a:p>
        </p:txBody>
      </p:sp>
      <p:sp>
        <p:nvSpPr>
          <p:cNvPr id="444420" name="Text Box 4"/>
          <p:cNvSpPr txBox="1"/>
          <p:nvPr/>
        </p:nvSpPr>
        <p:spPr>
          <a:xfrm>
            <a:off x="762000" y="1524000"/>
            <a:ext cx="7848600" cy="3971925"/>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zh-CN" altLang="en-US" sz="2400" b="1" dirty="0">
                <a:latin typeface="Arial" panose="020B0604020202020204" pitchFamily="34" charset="0"/>
              </a:rPr>
              <a:t>       在</a:t>
            </a:r>
            <a:r>
              <a:rPr lang="en-US" altLang="zh-CN" sz="2400" b="1" dirty="0">
                <a:latin typeface="Arial" panose="020B0604020202020204" pitchFamily="34" charset="0"/>
              </a:rPr>
              <a:t>Adams v</a:t>
            </a:r>
            <a:r>
              <a:rPr lang="zh-CN" altLang="en-US" sz="2400" b="1" dirty="0">
                <a:latin typeface="Arial" panose="020B0604020202020204" pitchFamily="34" charset="0"/>
              </a:rPr>
              <a:t>．</a:t>
            </a:r>
            <a:r>
              <a:rPr lang="en-US" altLang="zh-CN" sz="2400" b="1" dirty="0">
                <a:latin typeface="Arial" panose="020B0604020202020204" pitchFamily="34" charset="0"/>
              </a:rPr>
              <a:t>Bullock</a:t>
            </a:r>
            <a:r>
              <a:rPr lang="zh-CN" altLang="en-US" sz="2400" b="1" dirty="0">
                <a:latin typeface="Arial" panose="020B0604020202020204" pitchFamily="34" charset="0"/>
              </a:rPr>
              <a:t>一案中，一个</a:t>
            </a:r>
            <a:r>
              <a:rPr lang="en-US" altLang="zh-CN" sz="2400" b="1" dirty="0">
                <a:latin typeface="Arial" panose="020B0604020202020204" pitchFamily="34" charset="0"/>
              </a:rPr>
              <a:t>12</a:t>
            </a:r>
            <a:r>
              <a:rPr lang="zh-CN" altLang="en-US" sz="2400" b="1" dirty="0">
                <a:latin typeface="Arial" panose="020B0604020202020204" pitchFamily="34" charset="0"/>
              </a:rPr>
              <a:t>岁的少年在过一座桥时，将一根</a:t>
            </a:r>
            <a:r>
              <a:rPr lang="en-US" altLang="zh-CN" sz="2400" b="1" dirty="0">
                <a:latin typeface="Arial" panose="020B0604020202020204" pitchFamily="34" charset="0"/>
              </a:rPr>
              <a:t>8</a:t>
            </a:r>
            <a:r>
              <a:rPr lang="zh-CN" altLang="en-US" sz="2400" b="1" dirty="0">
                <a:latin typeface="Arial" panose="020B0604020202020204" pitchFamily="34" charset="0"/>
              </a:rPr>
              <a:t>英尺的导线甩过了桥栏，导线触到了桥下被告的电线，造成少年触电。法院支持了被告。与普通电线相比，电车线一旦予以绝缘就不能使用了。</a:t>
            </a:r>
            <a:endParaRPr lang="en-US" altLang="zh-CN" sz="2400" b="1" dirty="0">
              <a:latin typeface="Arial" panose="020B0604020202020204" pitchFamily="34" charset="0"/>
            </a:endParaRPr>
          </a:p>
          <a:p>
            <a:pPr marL="0" lvl="0" indent="0" eaLnBrk="1" hangingPunct="1">
              <a:spcBef>
                <a:spcPct val="50000"/>
              </a:spcBef>
              <a:buFontTx/>
              <a:buNone/>
            </a:pPr>
            <a:r>
              <a:rPr lang="en-US" altLang="zh-CN" sz="2400" b="1" dirty="0">
                <a:latin typeface="Arial" panose="020B0604020202020204" pitchFamily="34" charset="0"/>
              </a:rPr>
              <a:t>      </a:t>
            </a:r>
            <a:r>
              <a:rPr lang="zh-CN" altLang="en-US" sz="2400" b="1" dirty="0">
                <a:latin typeface="Arial" panose="020B0604020202020204" pitchFamily="34" charset="0"/>
              </a:rPr>
              <a:t>卡多佐法官说道：“（一般电线与电车导线的）区别在于前者能够加以绝缘。</a:t>
            </a:r>
            <a:r>
              <a:rPr lang="en-US" altLang="zh-CN" sz="2400" b="1" dirty="0">
                <a:latin typeface="Arial" panose="020B0604020202020204" pitchFamily="34" charset="0"/>
              </a:rPr>
              <a:t>……</a:t>
            </a:r>
            <a:r>
              <a:rPr lang="zh-CN" altLang="en-US" sz="2400" b="1" dirty="0">
                <a:latin typeface="Arial" panose="020B0604020202020204" pitchFamily="34" charset="0"/>
              </a:rPr>
              <a:t>绝缘是不可能的。在这儿或那儿设警卫没有什么价值。</a:t>
            </a:r>
            <a:r>
              <a:rPr lang="zh-CN" altLang="en-US" sz="2400" b="1" u="sng" dirty="0">
                <a:latin typeface="Arial" panose="020B0604020202020204" pitchFamily="34" charset="0"/>
              </a:rPr>
              <a:t>要避免在线路上发生此类事故，被告就只有放弃在空中架设的做法，而改为地下埋设。</a:t>
            </a:r>
            <a:r>
              <a:rPr lang="zh-CN" altLang="en-US" sz="2400" b="1" dirty="0">
                <a:latin typeface="Arial" panose="020B0604020202020204" pitchFamily="34" charset="0"/>
              </a:rPr>
              <a:t>” 但是如此一来，电车如何获得行驶的动力呢？这无异于要求禁止电车的运营。</a:t>
            </a:r>
            <a:r>
              <a:rPr lang="en-US" altLang="zh-CN" sz="1800" dirty="0">
                <a:latin typeface="Arial" panose="020B0604020202020204" pitchFamily="34" charset="0"/>
              </a:rPr>
              <a:t> </a:t>
            </a:r>
            <a:endParaRPr lang="en-US" altLang="zh-CN" sz="18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iterate type="lt">
                                    <p:tmPct val="0"/>
                                  </p:iterate>
                                  <p:childTnLst>
                                    <p:set>
                                      <p:cBhvr>
                                        <p:cTn id="6" dur="1" fill="hold">
                                          <p:stCondLst>
                                            <p:cond delay="0"/>
                                          </p:stCondLst>
                                        </p:cTn>
                                        <p:tgtEl>
                                          <p:spTgt spid="444420"/>
                                        </p:tgtEl>
                                        <p:attrNameLst>
                                          <p:attrName>style.visibility</p:attrName>
                                        </p:attrNameLst>
                                      </p:cBhvr>
                                      <p:to>
                                        <p:strVal val="visible"/>
                                      </p:to>
                                    </p:set>
                                    <p:animEffect transition="in" filter="box(in)">
                                      <p:cBhvr>
                                        <p:cTn id="7" dur="500"/>
                                        <p:tgtEl>
                                          <p:spTgt spid="444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20"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5362" name="标题 1"/>
          <p:cNvSpPr>
            <a:spLocks noGrp="1"/>
          </p:cNvSpPr>
          <p:nvPr>
            <p:ph type="title"/>
          </p:nvPr>
        </p:nvSpPr>
        <p:spPr>
          <a:ln/>
        </p:spPr>
        <p:txBody>
          <a:bodyPr vert="horz" wrap="square" lIns="91440" tIns="45720" rIns="91440" bIns="45720" anchor="ctr" anchorCtr="0"/>
          <a:p>
            <a:pPr eaLnBrk="1" hangingPunct="1"/>
            <a:r>
              <a:rPr lang="zh-CN" altLang="en-US" sz="3600" b="1" dirty="0">
                <a:solidFill>
                  <a:srgbClr val="3333FF"/>
                </a:solidFill>
              </a:rPr>
              <a:t>几点扩展性的总结</a:t>
            </a:r>
            <a:endParaRPr lang="zh-CN" altLang="en-US" sz="3600" b="1" dirty="0">
              <a:solidFill>
                <a:srgbClr val="3333FF"/>
              </a:solidFill>
            </a:endParaRPr>
          </a:p>
        </p:txBody>
      </p:sp>
      <p:sp>
        <p:nvSpPr>
          <p:cNvPr id="3" name="内容占位符 2"/>
          <p:cNvSpPr>
            <a:spLocks noGrp="1"/>
          </p:cNvSpPr>
          <p:nvPr>
            <p:ph idx="1"/>
          </p:nvPr>
        </p:nvSpPr>
        <p:spPr/>
        <p:txBody>
          <a:bodyPr vert="horz" wrap="square" lIns="91440" tIns="45720" rIns="91440" bIns="45720" numCol="1" rtlCol="0" anchor="t" anchorCtr="0" compatLnSpc="1">
            <a:normAutofit fontScale="92500"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altLang="zh-CN" sz="3200" b="1" i="0" u="none" strike="noStrike" kern="1200" cap="none" spc="0" normalizeH="0" baseline="0" noProof="0" dirty="0">
                <a:ln>
                  <a:noFill/>
                </a:ln>
                <a:solidFill>
                  <a:srgbClr val="FF0000"/>
                </a:solidFill>
                <a:effectLst/>
                <a:uLnTx/>
                <a:uFillTx/>
                <a:latin typeface="+mn-lt"/>
                <a:ea typeface="+mn-ea"/>
                <a:cs typeface="+mn-cs"/>
              </a:rPr>
              <a:t>1. </a:t>
            </a:r>
            <a:r>
              <a:rPr kumimoji="0" lang="zh-CN" altLang="en-US" sz="3200" b="1" i="0" u="none" strike="noStrike" kern="1200" cap="none" spc="0" normalizeH="0" baseline="0" noProof="0" dirty="0">
                <a:ln>
                  <a:noFill/>
                </a:ln>
                <a:solidFill>
                  <a:srgbClr val="FF0000"/>
                </a:solidFill>
                <a:effectLst/>
                <a:uLnTx/>
                <a:uFillTx/>
                <a:latin typeface="+mn-lt"/>
                <a:ea typeface="+mn-ea"/>
                <a:cs typeface="+mn-cs"/>
              </a:rPr>
              <a:t>现代社会中，风险导致的事故损失是不可避免的</a:t>
            </a:r>
            <a:endParaRPr kumimoji="0" lang="en-US" altLang="zh-CN" sz="3200" b="1" i="0" u="none" strike="noStrike" kern="1200" cap="none" spc="0" normalizeH="0" baseline="0" noProof="0" dirty="0">
              <a:ln>
                <a:noFill/>
              </a:ln>
              <a:solidFill>
                <a:srgbClr val="FF000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cs"/>
              </a:rPr>
              <a:t>自然灾害：台风、地震、洪水</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32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cs"/>
              </a:rPr>
              <a:t>人为原因：车祸、触电、安全生产事故、药物或疫苗的副作用</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32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cs"/>
              </a:rPr>
              <a:t>复合原因：福岛核电站</a:t>
            </a:r>
            <a:endParaRPr kumimoji="0" lang="en-US" altLang="zh-CN" sz="32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altLang="zh-CN" sz="3200" b="1" i="0" u="none" strike="noStrike" kern="1200" cap="none" spc="0" normalizeH="0" baseline="0" noProof="0" dirty="0">
                <a:ln>
                  <a:noFill/>
                </a:ln>
                <a:solidFill>
                  <a:srgbClr val="FF0000"/>
                </a:solidFill>
                <a:effectLst/>
                <a:uLnTx/>
                <a:uFillTx/>
                <a:latin typeface="+mn-lt"/>
                <a:ea typeface="+mn-ea"/>
                <a:cs typeface="+mn-cs"/>
              </a:rPr>
              <a:t>2. </a:t>
            </a:r>
            <a:r>
              <a:rPr kumimoji="0" lang="zh-CN" altLang="en-US" sz="3200" b="1" i="0" u="none" strike="noStrike" kern="1200" cap="none" spc="0" normalizeH="0" baseline="0" noProof="0" dirty="0">
                <a:ln>
                  <a:noFill/>
                </a:ln>
                <a:solidFill>
                  <a:srgbClr val="FF0000"/>
                </a:solidFill>
                <a:effectLst/>
                <a:uLnTx/>
                <a:uFillTx/>
                <a:latin typeface="+mn-lt"/>
                <a:ea typeface="+mn-ea"/>
                <a:cs typeface="+mn-cs"/>
              </a:rPr>
              <a:t>事故的预防是有成本的</a:t>
            </a:r>
            <a:endParaRPr kumimoji="0" lang="en-US" altLang="zh-CN" sz="3200" b="1" i="0" u="none" strike="noStrike" kern="1200" cap="none" spc="0" normalizeH="0" baseline="0" noProof="0" dirty="0">
              <a:ln>
                <a:noFill/>
              </a:ln>
              <a:solidFill>
                <a:srgbClr val="FF000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altLang="zh-CN" sz="3200" b="1" i="0" u="none" strike="noStrike" kern="1200" cap="none" spc="0" normalizeH="0" baseline="0" noProof="0" dirty="0">
                <a:ln>
                  <a:noFill/>
                </a:ln>
                <a:solidFill>
                  <a:srgbClr val="FF0000"/>
                </a:solidFill>
                <a:effectLst/>
                <a:uLnTx/>
                <a:uFillTx/>
                <a:latin typeface="+mn-lt"/>
                <a:ea typeface="+mn-ea"/>
                <a:cs typeface="+mn-cs"/>
              </a:rPr>
              <a:t>3. </a:t>
            </a:r>
            <a:r>
              <a:rPr kumimoji="0" lang="zh-CN" altLang="en-US" sz="3200" b="1" i="0" u="none" strike="noStrike" kern="1200" cap="none" spc="0" normalizeH="0" baseline="0" noProof="0" dirty="0">
                <a:ln>
                  <a:noFill/>
                </a:ln>
                <a:solidFill>
                  <a:srgbClr val="FF0000"/>
                </a:solidFill>
                <a:effectLst/>
                <a:uLnTx/>
                <a:uFillTx/>
                <a:latin typeface="+mn-lt"/>
                <a:ea typeface="+mn-ea"/>
                <a:cs typeface="+mn-cs"/>
              </a:rPr>
              <a:t>当成本超过一定限度之后，事故的预防是不值得去做的</a:t>
            </a:r>
            <a:endParaRPr kumimoji="0" lang="zh-CN" altLang="en-US" sz="3200" b="1" i="0" u="none" strike="noStrike" kern="1200" cap="none" spc="0" normalizeH="0" baseline="0" noProof="0" dirty="0">
              <a:ln>
                <a:noFill/>
              </a:ln>
              <a:solidFill>
                <a:srgbClr val="FF0000"/>
              </a:solidFill>
              <a:effectLst/>
              <a:uLnTx/>
              <a:uFillTx/>
              <a:latin typeface="+mn-lt"/>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16386" name="标题 1"/>
          <p:cNvSpPr>
            <a:spLocks noGrp="1"/>
          </p:cNvSpPr>
          <p:nvPr>
            <p:ph type="title"/>
          </p:nvPr>
        </p:nvSpPr>
        <p:spPr>
          <a:ln/>
        </p:spPr>
        <p:txBody>
          <a:bodyPr vert="horz" wrap="square" lIns="91440" tIns="45720" rIns="91440" bIns="45720" anchor="ctr" anchorCtr="0"/>
          <a:p>
            <a:pPr eaLnBrk="1" hangingPunct="1"/>
            <a:r>
              <a:rPr lang="zh-CN" altLang="en-US" sz="4000" b="1" dirty="0">
                <a:solidFill>
                  <a:srgbClr val="3333FF"/>
                </a:solidFill>
              </a:rPr>
              <a:t>思考</a:t>
            </a:r>
            <a:r>
              <a:rPr lang="zh-CN" altLang="en-US" dirty="0"/>
              <a:t> </a:t>
            </a:r>
            <a:endParaRPr lang="zh-CN" altLang="en-US" dirty="0"/>
          </a:p>
        </p:txBody>
      </p:sp>
      <p:sp>
        <p:nvSpPr>
          <p:cNvPr id="16387" name="内容占位符 2"/>
          <p:cNvSpPr>
            <a:spLocks noGrp="1"/>
          </p:cNvSpPr>
          <p:nvPr>
            <p:ph idx="1"/>
          </p:nvPr>
        </p:nvSpPr>
        <p:spPr>
          <a:ln/>
        </p:spPr>
        <p:txBody>
          <a:bodyPr vert="horz" wrap="square" lIns="91440" tIns="45720" rIns="91440" bIns="45720" anchor="t" anchorCtr="0"/>
          <a:p>
            <a:pPr eaLnBrk="1" hangingPunct="1"/>
            <a:r>
              <a:rPr lang="zh-CN" altLang="en-US" dirty="0"/>
              <a:t>为了防止洪水、地震等灾害，建筑物的设计标准应当是“十年一遇”、“百年一遇”还是“千年一遇”？</a:t>
            </a:r>
            <a:endParaRPr lang="en-US" altLang="zh-CN" dirty="0"/>
          </a:p>
          <a:p>
            <a:pPr eaLnBrk="1" hangingPunct="1"/>
            <a:r>
              <a:rPr lang="zh-CN" altLang="en-US" dirty="0"/>
              <a:t>人的生命是“无价”的还是“有价”的？</a:t>
            </a:r>
            <a:endParaRPr lang="en-US" altLang="zh-CN" dirty="0"/>
          </a:p>
          <a:p>
            <a:pPr eaLnBrk="1" hangingPunct="1"/>
            <a:r>
              <a:rPr lang="zh-CN" altLang="en-US" dirty="0"/>
              <a:t>公共政策的目标应该是定位在“生命损失最小化”吗？</a:t>
            </a:r>
            <a:endParaRPr lang="en-US" altLang="zh-CN" dirty="0"/>
          </a:p>
          <a:p>
            <a:pPr eaLnBrk="1" hangingPunct="1"/>
            <a:endParaRPr lang="zh-CN" altLang="en-US" dirty="0"/>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7410" name="标题 1"/>
          <p:cNvSpPr>
            <a:spLocks noGrp="1"/>
          </p:cNvSpPr>
          <p:nvPr>
            <p:ph type="title"/>
          </p:nvPr>
        </p:nvSpPr>
        <p:spPr>
          <a:ln/>
        </p:spPr>
        <p:txBody>
          <a:bodyPr vert="horz" wrap="square" lIns="91440" tIns="45720" rIns="91440" bIns="45720" anchor="ctr" anchorCtr="0"/>
          <a:p>
            <a:pPr eaLnBrk="1" hangingPunct="1"/>
            <a:r>
              <a:rPr lang="zh-CN" altLang="en-US" sz="4000" b="1" dirty="0">
                <a:solidFill>
                  <a:srgbClr val="FF0000"/>
                </a:solidFill>
              </a:rPr>
              <a:t>举例分析</a:t>
            </a:r>
            <a:endParaRPr lang="zh-CN" altLang="en-US" sz="4000" b="1" dirty="0">
              <a:solidFill>
                <a:srgbClr val="FF0000"/>
              </a:solidFill>
            </a:endParaRPr>
          </a:p>
        </p:txBody>
      </p:sp>
      <p:sp>
        <p:nvSpPr>
          <p:cNvPr id="3" name="内容占位符 2"/>
          <p:cNvSpPr>
            <a:spLocks noGrp="1"/>
          </p:cNvSpPr>
          <p:nvPr>
            <p:ph idx="1"/>
          </p:nvPr>
        </p:nvSpPr>
        <p:spPr>
          <a:xfrm>
            <a:off x="457200" y="1447800"/>
            <a:ext cx="8229600" cy="4678363"/>
          </a:xfrm>
        </p:spPr>
        <p:txBody>
          <a:bodyPr vert="horz" wrap="square" lIns="91440" tIns="45720" rIns="91440" bIns="45720" numCol="1" rtlCol="0" anchor="t" anchorCtr="0" compatLnSpc="1">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zh-CN" altLang="en-US" sz="3200" b="1" i="0" u="none" strike="noStrike" kern="1200" cap="none" spc="0" normalizeH="0" baseline="0" noProof="0" dirty="0">
                <a:ln>
                  <a:noFill/>
                </a:ln>
                <a:solidFill>
                  <a:srgbClr val="3333FF"/>
                </a:solidFill>
                <a:effectLst/>
                <a:uLnTx/>
                <a:uFillTx/>
                <a:latin typeface="+mn-lt"/>
                <a:ea typeface="+mn-ea"/>
                <a:cs typeface="+mn-cs"/>
              </a:rPr>
              <a:t>讨论：是否要开通高速公路</a:t>
            </a:r>
            <a:endParaRPr kumimoji="0" lang="en-US" altLang="zh-CN" sz="3200" b="1" i="0" u="none" strike="noStrike" kern="1200" cap="none" spc="0" normalizeH="0" baseline="0" noProof="0" dirty="0">
              <a:ln>
                <a:noFill/>
              </a:ln>
              <a:solidFill>
                <a:srgbClr val="3333FF"/>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cs"/>
              </a:rPr>
              <a:t>假定后果：带来</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GDP</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增加</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1000</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万美元</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每天</a:t>
            </a:r>
            <a:endParaRPr kumimoji="0" lang="en-US" altLang="zh-CN" sz="32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cs"/>
              </a:rPr>
              <a:t>同时由于交通事故导致增加死亡</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2</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人</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每天</a:t>
            </a:r>
            <a:endParaRPr kumimoji="0" lang="en-US" altLang="zh-CN" sz="32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cs"/>
              </a:rPr>
              <a:t>If</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公共政策目标“生命损失最小化”：否</a:t>
            </a:r>
            <a:endParaRPr kumimoji="0" lang="en-US" altLang="zh-CN" sz="32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cs"/>
              </a:rPr>
              <a:t>If</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公共政策目标“社会收益最大化”：是</a:t>
            </a:r>
            <a:endParaRPr kumimoji="0" lang="en-US" altLang="zh-CN" sz="32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cs"/>
              </a:rPr>
              <a:t>类似的讨论：是否要建核电站；是否允许药品上市；是否允许采矿；是否允许养狗</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3200" b="0" i="0" u="none" strike="noStrike" kern="1200" cap="none" spc="0" normalizeH="0" baseline="0" noProof="0" dirty="0">
                <a:ln>
                  <a:noFill/>
                </a:ln>
                <a:solidFill>
                  <a:srgbClr val="FF0000"/>
                </a:solidFill>
                <a:effectLst/>
                <a:uLnTx/>
                <a:uFillTx/>
                <a:latin typeface="+mn-lt"/>
                <a:ea typeface="+mn-ea"/>
                <a:cs typeface="+mn-cs"/>
              </a:rPr>
              <a:t>（所有的公共政策都可能导致生命的损失）</a:t>
            </a:r>
            <a:endParaRPr kumimoji="0" lang="zh-CN" altLang="en-US" sz="3200" b="0" i="0" u="none" strike="noStrike" kern="1200" cap="none" spc="0" normalizeH="0" baseline="0" noProof="0" dirty="0">
              <a:ln>
                <a:noFill/>
              </a:ln>
              <a:solidFill>
                <a:srgbClr val="FF0000"/>
              </a:solidFill>
              <a:effectLst/>
              <a:uLnTx/>
              <a:uFillTx/>
              <a:latin typeface="+mn-lt"/>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8434" name="标题 1"/>
          <p:cNvSpPr>
            <a:spLocks noGrp="1"/>
          </p:cNvSpPr>
          <p:nvPr>
            <p:ph type="title"/>
          </p:nvPr>
        </p:nvSpPr>
        <p:spPr>
          <a:xfrm>
            <a:off x="457200" y="274638"/>
            <a:ext cx="8229600" cy="792162"/>
          </a:xfrm>
          <a:ln/>
        </p:spPr>
        <p:txBody>
          <a:bodyPr vert="horz" wrap="square" lIns="91440" tIns="45720" rIns="91440" bIns="45720" anchor="ctr" anchorCtr="0"/>
          <a:p>
            <a:pPr eaLnBrk="1" hangingPunct="1"/>
            <a:r>
              <a:rPr lang="zh-CN" altLang="en-US" sz="4000" b="1" dirty="0">
                <a:solidFill>
                  <a:srgbClr val="3333FF"/>
                </a:solidFill>
              </a:rPr>
              <a:t>思考</a:t>
            </a:r>
            <a:endParaRPr lang="zh-CN" altLang="en-US" sz="4000" b="1" dirty="0">
              <a:solidFill>
                <a:srgbClr val="3333FF"/>
              </a:solidFill>
            </a:endParaRPr>
          </a:p>
        </p:txBody>
      </p:sp>
      <p:sp>
        <p:nvSpPr>
          <p:cNvPr id="3" name="内容占位符 2"/>
          <p:cNvSpPr>
            <a:spLocks noGrp="1"/>
          </p:cNvSpPr>
          <p:nvPr>
            <p:ph idx="1"/>
          </p:nvPr>
        </p:nvSpPr>
        <p:spPr>
          <a:xfrm>
            <a:off x="457200" y="1143000"/>
            <a:ext cx="8229600" cy="5410200"/>
          </a:xfrm>
        </p:spPr>
        <p:txBody>
          <a:bodyPr vert="horz" wrap="square" lIns="91440" tIns="45720" rIns="91440" bIns="45720" numCol="1" rtlCol="0" anchor="t" anchorCtr="0" compatLnSpc="1">
            <a:normAutofit fontScale="92500" lnSpcReduction="20000"/>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cs"/>
              </a:rPr>
              <a:t>某病毒流行期间，</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A</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国某城市面临不同公共政策选择，简化起见，讨论两种情况：</a:t>
            </a:r>
            <a:endParaRPr kumimoji="0" lang="en-US" altLang="zh-CN" sz="32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zh-CN" altLang="en-US" sz="3200" b="1" i="0" u="none" strike="noStrike" kern="1200" cap="none" spc="0" normalizeH="0" baseline="0" noProof="0" dirty="0">
                <a:ln>
                  <a:noFill/>
                </a:ln>
                <a:solidFill>
                  <a:srgbClr val="3333FF"/>
                </a:solidFill>
                <a:effectLst/>
                <a:uLnTx/>
                <a:uFillTx/>
                <a:latin typeface="+mn-lt"/>
                <a:ea typeface="+mn-ea"/>
                <a:cs typeface="+mn-cs"/>
              </a:rPr>
              <a:t>（</a:t>
            </a:r>
            <a:r>
              <a:rPr kumimoji="0" lang="en-US" altLang="zh-CN" sz="3200" b="1" i="0" u="none" strike="noStrike" kern="1200" cap="none" spc="0" normalizeH="0" baseline="0" noProof="0" dirty="0">
                <a:ln>
                  <a:noFill/>
                </a:ln>
                <a:solidFill>
                  <a:srgbClr val="3333FF"/>
                </a:solidFill>
                <a:effectLst/>
                <a:uLnTx/>
                <a:uFillTx/>
                <a:latin typeface="+mn-lt"/>
                <a:ea typeface="+mn-ea"/>
                <a:cs typeface="+mn-cs"/>
              </a:rPr>
              <a:t>1</a:t>
            </a:r>
            <a:r>
              <a:rPr kumimoji="0" lang="zh-CN" altLang="en-US" sz="3200" b="1" i="0" u="none" strike="noStrike" kern="1200" cap="none" spc="0" normalizeH="0" baseline="0" noProof="0" dirty="0">
                <a:ln>
                  <a:noFill/>
                </a:ln>
                <a:solidFill>
                  <a:srgbClr val="3333FF"/>
                </a:solidFill>
                <a:effectLst/>
                <a:uLnTx/>
                <a:uFillTx/>
                <a:latin typeface="+mn-lt"/>
                <a:ea typeface="+mn-ea"/>
                <a:cs typeface="+mn-cs"/>
              </a:rPr>
              <a:t>）</a:t>
            </a:r>
            <a:r>
              <a:rPr kumimoji="0" lang="en-US" altLang="zh-CN" sz="3200" b="1" i="0" u="none" strike="noStrike" kern="1200" cap="none" spc="0" normalizeH="0" baseline="0" noProof="0" dirty="0">
                <a:ln>
                  <a:noFill/>
                </a:ln>
                <a:solidFill>
                  <a:srgbClr val="3333FF"/>
                </a:solidFill>
                <a:effectLst/>
                <a:uLnTx/>
                <a:uFillTx/>
                <a:latin typeface="+mn-lt"/>
                <a:ea typeface="+mn-ea"/>
                <a:cs typeface="+mn-cs"/>
              </a:rPr>
              <a:t>lockdown</a:t>
            </a:r>
            <a:r>
              <a:rPr kumimoji="0" lang="zh-CN" altLang="en-US" sz="3200" b="1" i="0" u="none" strike="noStrike" kern="1200" cap="none" spc="0" normalizeH="0" baseline="0" noProof="0" dirty="0">
                <a:ln>
                  <a:noFill/>
                </a:ln>
                <a:solidFill>
                  <a:srgbClr val="3333FF"/>
                </a:solidFill>
                <a:effectLst/>
                <a:uLnTx/>
                <a:uFillTx/>
                <a:latin typeface="+mn-lt"/>
                <a:ea typeface="+mn-ea"/>
                <a:cs typeface="+mn-cs"/>
              </a:rPr>
              <a:t>；（</a:t>
            </a:r>
            <a:r>
              <a:rPr kumimoji="0" lang="en-US" altLang="zh-CN" sz="3200" b="1" i="0" u="none" strike="noStrike" kern="1200" cap="none" spc="0" normalizeH="0" baseline="0" noProof="0" dirty="0">
                <a:ln>
                  <a:noFill/>
                </a:ln>
                <a:solidFill>
                  <a:srgbClr val="3333FF"/>
                </a:solidFill>
                <a:effectLst/>
                <a:uLnTx/>
                <a:uFillTx/>
                <a:latin typeface="+mn-lt"/>
                <a:ea typeface="+mn-ea"/>
                <a:cs typeface="+mn-cs"/>
              </a:rPr>
              <a:t>2</a:t>
            </a:r>
            <a:r>
              <a:rPr kumimoji="0" lang="zh-CN" altLang="en-US" sz="3200" b="1" i="0" u="none" strike="noStrike" kern="1200" cap="none" spc="0" normalizeH="0" baseline="0" noProof="0" dirty="0">
                <a:ln>
                  <a:noFill/>
                </a:ln>
                <a:solidFill>
                  <a:srgbClr val="3333FF"/>
                </a:solidFill>
                <a:effectLst/>
                <a:uLnTx/>
                <a:uFillTx/>
                <a:latin typeface="+mn-lt"/>
                <a:ea typeface="+mn-ea"/>
                <a:cs typeface="+mn-cs"/>
              </a:rPr>
              <a:t>）彻底开放</a:t>
            </a:r>
            <a:endParaRPr kumimoji="0" lang="en-US" altLang="zh-CN" sz="3200" b="1" i="0" u="none" strike="noStrike" kern="1200" cap="none" spc="0" normalizeH="0" baseline="0" noProof="0" dirty="0">
              <a:ln>
                <a:noFill/>
              </a:ln>
              <a:solidFill>
                <a:srgbClr val="3333FF"/>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1</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）每天超额死亡人数：</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20</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人（</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1</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人死于病毒，</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19</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人死于各种次生灾害）；每天</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GDP</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损失</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1</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亿元</a:t>
            </a:r>
            <a:endParaRPr kumimoji="0" lang="en-US" altLang="zh-CN" sz="32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2</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）每天超额死亡</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200</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人（</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195</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人死于病毒。</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5</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人死于次生灾害）；避免每天</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GDP</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损失</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1</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亿元</a:t>
            </a:r>
            <a:endParaRPr kumimoji="0" lang="en-US" altLang="zh-CN" sz="32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zh-CN" altLang="en-US" sz="3200" b="1" i="0" u="none" strike="noStrike" kern="1200" cap="none" spc="0" normalizeH="0" baseline="0" noProof="0" dirty="0">
                <a:ln>
                  <a:noFill/>
                </a:ln>
                <a:solidFill>
                  <a:srgbClr val="FF0000"/>
                </a:solidFill>
                <a:effectLst/>
                <a:uLnTx/>
                <a:uFillTx/>
                <a:latin typeface="+mn-lt"/>
                <a:ea typeface="+mn-ea"/>
                <a:cs typeface="+mn-cs"/>
              </a:rPr>
              <a:t>你怎么选？</a:t>
            </a:r>
            <a:endParaRPr kumimoji="0" lang="en-US" altLang="zh-CN" sz="3200" b="1" i="0" u="none" strike="noStrike" kern="1200" cap="none" spc="0" normalizeH="0" baseline="0" noProof="0" dirty="0">
              <a:ln>
                <a:noFill/>
              </a:ln>
              <a:solidFill>
                <a:srgbClr val="FF000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altLang="zh-CN" sz="3200" b="1" i="0" u="none" strike="noStrike" kern="1200" cap="none" spc="0" normalizeH="0" baseline="0" noProof="0" dirty="0">
                <a:ln>
                  <a:noFill/>
                </a:ln>
                <a:solidFill>
                  <a:srgbClr val="3333FF"/>
                </a:solidFill>
                <a:effectLst/>
                <a:uLnTx/>
                <a:uFillTx/>
                <a:latin typeface="+mn-lt"/>
                <a:ea typeface="+mn-ea"/>
                <a:cs typeface="+mn-cs"/>
              </a:rPr>
              <a:t>【</a:t>
            </a:r>
            <a:r>
              <a:rPr kumimoji="0" lang="zh-CN" altLang="en-US" sz="3200" b="1" i="0" u="none" strike="noStrike" kern="1200" cap="none" spc="0" normalizeH="0" baseline="0" noProof="0" dirty="0">
                <a:ln>
                  <a:noFill/>
                </a:ln>
                <a:solidFill>
                  <a:srgbClr val="3333FF"/>
                </a:solidFill>
                <a:effectLst/>
                <a:uLnTx/>
                <a:uFillTx/>
                <a:latin typeface="+mn-lt"/>
                <a:ea typeface="+mn-ea"/>
                <a:cs typeface="+mn-cs"/>
              </a:rPr>
              <a:t>相关的问题：作为决策者的“你”，是如何感知成本和收益的；路径依赖问题</a:t>
            </a:r>
            <a:r>
              <a:rPr kumimoji="0" lang="en-US" altLang="zh-CN" sz="3200" b="1" i="0" u="none" strike="noStrike" kern="1200" cap="none" spc="0" normalizeH="0" baseline="0" noProof="0" dirty="0">
                <a:ln>
                  <a:noFill/>
                </a:ln>
                <a:solidFill>
                  <a:srgbClr val="3333FF"/>
                </a:solidFill>
                <a:effectLst/>
                <a:uLnTx/>
                <a:uFillTx/>
                <a:latin typeface="+mn-lt"/>
                <a:ea typeface="+mn-ea"/>
                <a:cs typeface="+mn-cs"/>
              </a:rPr>
              <a:t>】</a:t>
            </a:r>
            <a:endParaRPr kumimoji="0" lang="en-US" altLang="zh-CN" sz="3200" b="1" i="0" u="none" strike="noStrike" kern="1200" cap="none" spc="0" normalizeH="0" baseline="0" noProof="0" dirty="0">
              <a:ln>
                <a:noFill/>
              </a:ln>
              <a:solidFill>
                <a:srgbClr val="3333FF"/>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zh-CN" altLang="en-US" sz="3200" b="1" i="0" u="none" strike="noStrike" kern="1200" cap="none" spc="0" normalizeH="0" baseline="0" noProof="0" dirty="0">
                <a:ln>
                  <a:noFill/>
                </a:ln>
                <a:solidFill>
                  <a:schemeClr val="tx1"/>
                </a:solidFill>
                <a:effectLst/>
                <a:uLnTx/>
                <a:uFillTx/>
                <a:latin typeface="+mn-lt"/>
                <a:ea typeface="+mn-ea"/>
                <a:cs typeface="+mn-cs"/>
              </a:rPr>
              <a:t>公共政策的讨论是基于“事实”还是“抽象原则”？</a:t>
            </a:r>
            <a:endParaRPr kumimoji="0" lang="zh-CN" altLang="en-US" sz="3200" b="1"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标题 1"/>
          <p:cNvSpPr>
            <a:spLocks noGrp="1"/>
          </p:cNvSpPr>
          <p:nvPr>
            <p:ph type="title"/>
          </p:nvPr>
        </p:nvSpPr>
        <p:spPr>
          <a:ln/>
        </p:spPr>
        <p:txBody>
          <a:bodyPr vert="horz" wrap="square" lIns="91440" tIns="45720" rIns="91440" bIns="45720" anchor="ctr" anchorCtr="0"/>
          <a:p>
            <a:endParaRPr lang="zh-CN" altLang="en-US" dirty="0"/>
          </a:p>
        </p:txBody>
      </p:sp>
      <p:sp>
        <p:nvSpPr>
          <p:cNvPr id="19459" name="内容占位符 2"/>
          <p:cNvSpPr>
            <a:spLocks noGrp="1"/>
          </p:cNvSpPr>
          <p:nvPr>
            <p:ph idx="1"/>
          </p:nvPr>
        </p:nvSpPr>
        <p:spPr>
          <a:ln/>
        </p:spPr>
        <p:txBody>
          <a:bodyPr vert="horz" wrap="square" lIns="91440" tIns="45720" rIns="91440" bIns="45720" anchor="t" anchorCtr="0"/>
          <a:p>
            <a:endParaRPr lang="zh-CN" altLang="en-US" dirty="0"/>
          </a:p>
        </p:txBody>
      </p:sp>
      <p:pic>
        <p:nvPicPr>
          <p:cNvPr id="19460" name="Picture 2"/>
          <p:cNvPicPr>
            <a:picLocks noChangeAspect="1"/>
          </p:cNvPicPr>
          <p:nvPr/>
        </p:nvPicPr>
        <p:blipFill>
          <a:blip r:embed="rId1"/>
          <a:stretch>
            <a:fillRect/>
          </a:stretch>
        </p:blipFill>
        <p:spPr>
          <a:xfrm>
            <a:off x="914400" y="0"/>
            <a:ext cx="7256463" cy="7115175"/>
          </a:xfrm>
          <a:prstGeom prst="rect">
            <a:avLst/>
          </a:prstGeom>
          <a:noFill/>
          <a:ln w="3810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标题 1"/>
          <p:cNvSpPr>
            <a:spLocks noGrp="1"/>
          </p:cNvSpPr>
          <p:nvPr>
            <p:ph type="title"/>
          </p:nvPr>
        </p:nvSpPr>
        <p:spPr>
          <a:ln/>
        </p:spPr>
        <p:txBody>
          <a:bodyPr vert="horz" wrap="square" lIns="91440" tIns="45720" rIns="91440" bIns="45720" anchor="ctr" anchorCtr="0"/>
          <a:p>
            <a:endParaRPr lang="zh-CN" altLang="en-US" dirty="0"/>
          </a:p>
        </p:txBody>
      </p:sp>
      <p:sp>
        <p:nvSpPr>
          <p:cNvPr id="20483" name="内容占位符 2"/>
          <p:cNvSpPr>
            <a:spLocks noGrp="1"/>
          </p:cNvSpPr>
          <p:nvPr>
            <p:ph idx="1"/>
          </p:nvPr>
        </p:nvSpPr>
        <p:spPr>
          <a:ln/>
        </p:spPr>
        <p:txBody>
          <a:bodyPr vert="horz" wrap="square" lIns="91440" tIns="45720" rIns="91440" bIns="45720" anchor="t" anchorCtr="0"/>
          <a:p>
            <a:endParaRPr lang="zh-CN" altLang="en-US" dirty="0"/>
          </a:p>
        </p:txBody>
      </p:sp>
      <p:pic>
        <p:nvPicPr>
          <p:cNvPr id="20484" name="Picture 2"/>
          <p:cNvPicPr>
            <a:picLocks noChangeAspect="1"/>
          </p:cNvPicPr>
          <p:nvPr/>
        </p:nvPicPr>
        <p:blipFill>
          <a:blip r:embed="rId1"/>
          <a:stretch>
            <a:fillRect/>
          </a:stretch>
        </p:blipFill>
        <p:spPr>
          <a:xfrm>
            <a:off x="76200" y="457200"/>
            <a:ext cx="9144000" cy="4962525"/>
          </a:xfrm>
          <a:prstGeom prst="rect">
            <a:avLst/>
          </a:prstGeom>
          <a:noFill/>
          <a:ln w="38100">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21506" name="Picture 2"/>
          <p:cNvPicPr>
            <a:picLocks noChangeAspect="1"/>
          </p:cNvPicPr>
          <p:nvPr/>
        </p:nvPicPr>
        <p:blipFill>
          <a:blip r:embed="rId1"/>
          <a:stretch>
            <a:fillRect/>
          </a:stretch>
        </p:blipFill>
        <p:spPr>
          <a:xfrm>
            <a:off x="381000" y="685800"/>
            <a:ext cx="8439150" cy="5057775"/>
          </a:xfrm>
          <a:prstGeom prst="rect">
            <a:avLst/>
          </a:prstGeom>
          <a:noFill/>
          <a:ln w="38100">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22530" name="Picture 2"/>
          <p:cNvPicPr>
            <a:picLocks noChangeAspect="1"/>
          </p:cNvPicPr>
          <p:nvPr/>
        </p:nvPicPr>
        <p:blipFill>
          <a:blip r:embed="rId1"/>
          <a:stretch>
            <a:fillRect/>
          </a:stretch>
        </p:blipFill>
        <p:spPr>
          <a:xfrm>
            <a:off x="762000" y="304800"/>
            <a:ext cx="7467600" cy="6273800"/>
          </a:xfrm>
          <a:prstGeom prst="rect">
            <a:avLst/>
          </a:prstGeom>
          <a:noFill/>
          <a:ln w="38100">
            <a:noFill/>
          </a:ln>
        </p:spPr>
      </p:pic>
    </p:spTree>
  </p:cSld>
  <p:clrMapOvr>
    <a:masterClrMapping/>
  </p:clrMapOvr>
</p:sld>
</file>

<file path=ppt/tags/tag1.xml><?xml version="1.0" encoding="utf-8"?>
<p:tagLst xmlns:p="http://schemas.openxmlformats.org/presentationml/2006/main">
  <p:tag name="commondata" val="eyJoZGlkIjoiYWI1NzY5MmRmMTM4YTE4ZTA2MzI5ZmYwODg1ZGI3Yz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0</TotalTime>
  <Words>2433</Words>
  <Application>WPS 演示</Application>
  <PresentationFormat>全屏显示(4:3)</PresentationFormat>
  <Paragraphs>136</Paragraphs>
  <Slides>18</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18</vt:i4>
      </vt:variant>
    </vt:vector>
  </HeadingPairs>
  <TitlesOfParts>
    <vt:vector size="27" baseType="lpstr">
      <vt:lpstr>Arial</vt:lpstr>
      <vt:lpstr>宋体</vt:lpstr>
      <vt:lpstr>Wingdings</vt:lpstr>
      <vt:lpstr>Calibri</vt:lpstr>
      <vt:lpstr>Book Antiqua</vt:lpstr>
      <vt:lpstr>黑体</vt:lpstr>
      <vt:lpstr>微软雅黑</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waxyu</dc:creator>
  <cp:lastModifiedBy>王彦成</cp:lastModifiedBy>
  <cp:revision>1692</cp:revision>
  <dcterms:created xsi:type="dcterms:W3CDTF">2009-02-19T15:03:50Z</dcterms:created>
  <dcterms:modified xsi:type="dcterms:W3CDTF">2026-05-26T05:17:35Z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2052-12.1.0.17147</vt:lpwstr>
  </property>
  <property fmtid="{D5CDD505-2E9C-101B-9397-08002B2CF9AE}" pid="4" name="ICV">
    <vt:lpwstr>4730BCD52F45467DA270C42E3F279B7B_13</vt:lpwstr>
  </property>
</Properties>
</file>