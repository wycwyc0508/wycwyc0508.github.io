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61" r:id="rId5"/>
    <p:sldId id="260" r:id="rId6"/>
    <p:sldId id="259" r:id="rId7"/>
    <p:sldId id="258" r:id="rId8"/>
    <p:sldId id="264" r:id="rId9"/>
    <p:sldId id="287" r:id="rId10"/>
    <p:sldId id="268" r:id="rId11"/>
    <p:sldId id="267" r:id="rId12"/>
    <p:sldId id="283" r:id="rId13"/>
    <p:sldId id="266" r:id="rId14"/>
    <p:sldId id="265" r:id="rId15"/>
    <p:sldId id="281" r:id="rId16"/>
    <p:sldId id="263" r:id="rId17"/>
    <p:sldId id="262" r:id="rId18"/>
    <p:sldId id="269" r:id="rId19"/>
    <p:sldId id="273" r:id="rId20"/>
    <p:sldId id="285" r:id="rId21"/>
    <p:sldId id="274" r:id="rId22"/>
    <p:sldId id="286" r:id="rId23"/>
    <p:sldId id="284" r:id="rId24"/>
    <p:sldId id="275" r:id="rId25"/>
    <p:sldId id="276" r:id="rId26"/>
    <p:sldId id="277" r:id="rId27"/>
    <p:sldId id="271" r:id="rId28"/>
    <p:sldId id="282" r:id="rId29"/>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B38B5"/>
    <a:srgbClr val="4E02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64" d="100"/>
          <a:sy n="64" d="100"/>
        </p:scale>
        <p:origin x="1152" y="4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jpeg"/><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83568" y="1844824"/>
            <a:ext cx="7772400" cy="1470025"/>
          </a:xfrm>
        </p:spPr>
        <p:txBody>
          <a:bodyPr>
            <a:normAutofit/>
          </a:bodyPr>
          <a:lstStyle/>
          <a:p>
            <a:r>
              <a:rPr lang="zh-CN" altLang="en-US" b="1" dirty="0">
                <a:solidFill>
                  <a:srgbClr val="FF0000"/>
                </a:solidFill>
              </a:rPr>
              <a:t>第七讲</a:t>
            </a:r>
            <a:endParaRPr lang="zh-CN" altLang="en-US" b="1" dirty="0">
              <a:solidFill>
                <a:srgbClr val="FF0000"/>
              </a:solidFill>
            </a:endParaRPr>
          </a:p>
        </p:txBody>
      </p:sp>
      <p:sp>
        <p:nvSpPr>
          <p:cNvPr id="3" name="副标题 2"/>
          <p:cNvSpPr>
            <a:spLocks noGrp="1"/>
          </p:cNvSpPr>
          <p:nvPr>
            <p:ph type="subTitle" idx="1"/>
          </p:nvPr>
        </p:nvSpPr>
        <p:spPr>
          <a:xfrm>
            <a:off x="1331640" y="3429000"/>
            <a:ext cx="6400800" cy="1752600"/>
          </a:xfrm>
        </p:spPr>
        <p:txBody>
          <a:bodyPr>
            <a:normAutofit/>
          </a:bodyPr>
          <a:lstStyle/>
          <a:p>
            <a:r>
              <a:rPr lang="zh-CN" altLang="en-US" sz="4800" b="1" dirty="0">
                <a:solidFill>
                  <a:srgbClr val="FF0000"/>
                </a:solidFill>
              </a:rPr>
              <a:t>财政税收法律制度</a:t>
            </a:r>
            <a:endParaRPr lang="zh-CN" altLang="en-US" sz="4800" b="1" dirty="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200" b="1" dirty="0">
                <a:solidFill>
                  <a:srgbClr val="4E02BE"/>
                </a:solidFill>
              </a:rPr>
              <a:t>市场经济的特殊角色：公共经济主体</a:t>
            </a:r>
            <a:endParaRPr lang="zh-CN" altLang="en-US" sz="3200" b="1" dirty="0">
              <a:solidFill>
                <a:srgbClr val="4E02BE"/>
              </a:solidFill>
            </a:endParaRPr>
          </a:p>
        </p:txBody>
      </p:sp>
      <p:sp>
        <p:nvSpPr>
          <p:cNvPr id="3" name="内容占位符 2"/>
          <p:cNvSpPr>
            <a:spLocks noGrp="1"/>
          </p:cNvSpPr>
          <p:nvPr>
            <p:ph idx="1"/>
          </p:nvPr>
        </p:nvSpPr>
        <p:spPr/>
        <p:txBody>
          <a:bodyPr>
            <a:normAutofit lnSpcReduction="10000"/>
          </a:bodyPr>
          <a:lstStyle/>
          <a:p>
            <a:r>
              <a:rPr lang="zh-CN" altLang="en-US" b="1" dirty="0">
                <a:solidFill>
                  <a:srgbClr val="0B38B5"/>
                </a:solidFill>
              </a:rPr>
              <a:t>“国家”在哪里？</a:t>
            </a:r>
            <a:endParaRPr lang="en-US" altLang="zh-CN" b="1" dirty="0">
              <a:solidFill>
                <a:srgbClr val="0B38B5"/>
              </a:solidFill>
            </a:endParaRPr>
          </a:p>
          <a:p>
            <a:r>
              <a:rPr lang="zh-CN" altLang="en-US" dirty="0"/>
              <a:t>政府</a:t>
            </a:r>
            <a:endParaRPr lang="en-US" altLang="zh-CN" dirty="0"/>
          </a:p>
          <a:p>
            <a:r>
              <a:rPr lang="zh-CN" altLang="en-US" dirty="0"/>
              <a:t>事业单位</a:t>
            </a:r>
            <a:endParaRPr lang="en-US" altLang="zh-CN" dirty="0"/>
          </a:p>
          <a:p>
            <a:r>
              <a:rPr lang="zh-CN" altLang="en-US" dirty="0"/>
              <a:t>私人部门（</a:t>
            </a:r>
            <a:r>
              <a:rPr lang="zh-CN" altLang="en-US" dirty="0">
                <a:solidFill>
                  <a:srgbClr val="FF0000"/>
                </a:solidFill>
              </a:rPr>
              <a:t>科斯的灯塔</a:t>
            </a:r>
            <a:r>
              <a:rPr lang="zh-CN" altLang="en-US" dirty="0"/>
              <a:t>）</a:t>
            </a:r>
            <a:endParaRPr lang="en-US" altLang="zh-CN" dirty="0"/>
          </a:p>
          <a:p>
            <a:r>
              <a:rPr lang="zh-CN" altLang="en-US" dirty="0"/>
              <a:t>国有企业</a:t>
            </a:r>
            <a:endParaRPr lang="en-US" altLang="zh-CN" dirty="0"/>
          </a:p>
          <a:p>
            <a:r>
              <a:rPr lang="zh-CN" altLang="en-US" dirty="0"/>
              <a:t>社会组织、社区、自治团体</a:t>
            </a:r>
            <a:endParaRPr lang="en-US" altLang="zh-CN" dirty="0"/>
          </a:p>
          <a:p>
            <a:r>
              <a:rPr lang="zh-CN" altLang="en-US" dirty="0"/>
              <a:t>国际组织</a:t>
            </a:r>
            <a:endParaRPr lang="en-US" altLang="zh-CN" dirty="0"/>
          </a:p>
          <a:p>
            <a:r>
              <a:rPr lang="en-US" altLang="zh-CN" dirty="0"/>
              <a:t>……</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b="1" dirty="0">
                <a:solidFill>
                  <a:srgbClr val="4E02BE"/>
                </a:solidFill>
              </a:rPr>
              <a:t>公共产品</a:t>
            </a:r>
            <a:endParaRPr lang="zh-CN" altLang="en-US" sz="3600" b="1" dirty="0">
              <a:solidFill>
                <a:srgbClr val="4E02BE"/>
              </a:solidFill>
            </a:endParaRPr>
          </a:p>
        </p:txBody>
      </p:sp>
      <p:sp>
        <p:nvSpPr>
          <p:cNvPr id="3" name="内容占位符 2"/>
          <p:cNvSpPr>
            <a:spLocks noGrp="1"/>
          </p:cNvSpPr>
          <p:nvPr>
            <p:ph idx="1"/>
          </p:nvPr>
        </p:nvSpPr>
        <p:spPr/>
        <p:txBody>
          <a:bodyPr/>
          <a:lstStyle/>
          <a:p>
            <a:r>
              <a:rPr lang="en-US" altLang="zh-CN" dirty="0">
                <a:solidFill>
                  <a:srgbClr val="FF0000"/>
                </a:solidFill>
              </a:rPr>
              <a:t>——</a:t>
            </a:r>
            <a:r>
              <a:rPr lang="zh-CN" altLang="en-US" dirty="0">
                <a:solidFill>
                  <a:srgbClr val="FF0000"/>
                </a:solidFill>
              </a:rPr>
              <a:t>非排除性</a:t>
            </a:r>
            <a:endParaRPr lang="en-US" altLang="zh-CN" dirty="0">
              <a:solidFill>
                <a:srgbClr val="FF0000"/>
              </a:solidFill>
            </a:endParaRPr>
          </a:p>
          <a:p>
            <a:r>
              <a:rPr lang="en-US" altLang="zh-CN" dirty="0">
                <a:solidFill>
                  <a:srgbClr val="FF0000"/>
                </a:solidFill>
              </a:rPr>
              <a:t>——</a:t>
            </a:r>
            <a:r>
              <a:rPr lang="zh-CN" altLang="en-US" dirty="0">
                <a:solidFill>
                  <a:srgbClr val="FF0000"/>
                </a:solidFill>
              </a:rPr>
              <a:t>非竞争性</a:t>
            </a:r>
            <a:endParaRPr lang="en-US" altLang="zh-CN" dirty="0">
              <a:solidFill>
                <a:srgbClr val="FF0000"/>
              </a:solidFill>
            </a:endParaRPr>
          </a:p>
          <a:p>
            <a:endParaRPr lang="en-US" altLang="zh-CN" dirty="0"/>
          </a:p>
          <a:p>
            <a:r>
              <a:rPr lang="zh-CN" altLang="en-US" dirty="0"/>
              <a:t>公共产品一定是由政府提供？</a:t>
            </a:r>
            <a:endParaRPr lang="en-US" altLang="zh-CN" dirty="0"/>
          </a:p>
          <a:p>
            <a:r>
              <a:rPr lang="zh-CN" altLang="en-US" dirty="0"/>
              <a:t>私人产品一定不能由政府提供？</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solidFill>
                  <a:srgbClr val="0B38B5"/>
                </a:solidFill>
              </a:rPr>
              <a:t>财政行为</a:t>
            </a:r>
            <a:endParaRPr lang="zh-CN" altLang="en-US" b="1" dirty="0">
              <a:solidFill>
                <a:srgbClr val="0B38B5"/>
              </a:solidFill>
            </a:endParaRPr>
          </a:p>
        </p:txBody>
      </p:sp>
      <p:sp>
        <p:nvSpPr>
          <p:cNvPr id="3" name="内容占位符 2"/>
          <p:cNvSpPr>
            <a:spLocks noGrp="1"/>
          </p:cNvSpPr>
          <p:nvPr>
            <p:ph idx="1"/>
          </p:nvPr>
        </p:nvSpPr>
        <p:spPr/>
        <p:txBody>
          <a:bodyPr/>
          <a:lstStyle/>
          <a:p>
            <a:r>
              <a:rPr lang="zh-CN" altLang="en-US" dirty="0"/>
              <a:t>财政收入行为</a:t>
            </a:r>
            <a:endParaRPr lang="en-US" altLang="zh-CN" dirty="0"/>
          </a:p>
          <a:p>
            <a:endParaRPr lang="en-US" altLang="zh-CN" dirty="0"/>
          </a:p>
          <a:p>
            <a:r>
              <a:rPr lang="zh-CN" altLang="en-US" dirty="0"/>
              <a:t>财政支出行为</a:t>
            </a:r>
            <a:endParaRPr lang="en-US" altLang="zh-CN" dirty="0"/>
          </a:p>
          <a:p>
            <a:endParaRPr lang="en-US" altLang="zh-CN" dirty="0"/>
          </a:p>
          <a:p>
            <a:r>
              <a:rPr lang="zh-CN" altLang="en-US" dirty="0"/>
              <a:t>财政管理行为</a:t>
            </a:r>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b="1" dirty="0">
                <a:solidFill>
                  <a:srgbClr val="4E02BE"/>
                </a:solidFill>
              </a:rPr>
              <a:t>财政法律制度的体系</a:t>
            </a:r>
            <a:endParaRPr lang="zh-CN" altLang="en-US" sz="3600" b="1" dirty="0">
              <a:solidFill>
                <a:srgbClr val="4E02BE"/>
              </a:solidFill>
            </a:endParaRPr>
          </a:p>
        </p:txBody>
      </p:sp>
      <p:sp>
        <p:nvSpPr>
          <p:cNvPr id="3" name="内容占位符 2"/>
          <p:cNvSpPr>
            <a:spLocks noGrp="1"/>
          </p:cNvSpPr>
          <p:nvPr>
            <p:ph idx="1"/>
          </p:nvPr>
        </p:nvSpPr>
        <p:spPr/>
        <p:txBody>
          <a:bodyPr/>
          <a:lstStyle/>
          <a:p>
            <a:r>
              <a:rPr lang="zh-CN" altLang="en-US" dirty="0"/>
              <a:t>财政基本法</a:t>
            </a:r>
            <a:endParaRPr lang="en-US" altLang="zh-CN" dirty="0"/>
          </a:p>
          <a:p>
            <a:r>
              <a:rPr lang="zh-CN" altLang="en-US" dirty="0"/>
              <a:t>财政收入法（税收、公债、收费、彩票</a:t>
            </a:r>
            <a:r>
              <a:rPr lang="en-US" altLang="zh-CN" dirty="0"/>
              <a:t>……</a:t>
            </a:r>
            <a:r>
              <a:rPr lang="zh-CN" altLang="en-US" dirty="0"/>
              <a:t>）</a:t>
            </a:r>
            <a:endParaRPr lang="en-US" altLang="zh-CN" dirty="0"/>
          </a:p>
          <a:p>
            <a:r>
              <a:rPr lang="zh-CN" altLang="en-US" dirty="0"/>
              <a:t>财政支出法（政府采购、政府投资</a:t>
            </a:r>
            <a:r>
              <a:rPr lang="en-US" altLang="zh-CN" dirty="0"/>
              <a:t>……</a:t>
            </a:r>
            <a:r>
              <a:rPr lang="zh-CN" altLang="en-US" dirty="0"/>
              <a:t>）</a:t>
            </a:r>
            <a:endParaRPr lang="en-US" altLang="zh-CN" dirty="0"/>
          </a:p>
          <a:p>
            <a:r>
              <a:rPr lang="zh-CN" altLang="en-US" dirty="0"/>
              <a:t>财政预算法</a:t>
            </a:r>
            <a:endParaRPr lang="en-US" altLang="zh-CN" dirty="0"/>
          </a:p>
          <a:p>
            <a:r>
              <a:rPr lang="zh-CN" altLang="en-US" dirty="0"/>
              <a:t>财政监督法（预算审批、国家审计</a:t>
            </a:r>
            <a:r>
              <a:rPr lang="en-US" altLang="zh-CN" dirty="0"/>
              <a:t>……</a:t>
            </a:r>
            <a:r>
              <a:rPr lang="zh-CN" altLang="en-US" dirty="0"/>
              <a:t>）</a:t>
            </a:r>
            <a:endParaRPr lang="en-US" altLang="zh-CN" dirty="0"/>
          </a:p>
          <a:p>
            <a:r>
              <a:rPr lang="zh-CN" altLang="en-US" dirty="0"/>
              <a:t>财政平衡法</a:t>
            </a:r>
            <a:endParaRPr lang="en-US" altLang="zh-CN" dirty="0"/>
          </a:p>
          <a:p>
            <a:r>
              <a:rPr lang="en-US" altLang="zh-CN" dirty="0"/>
              <a:t>……</a:t>
            </a:r>
            <a:endParaRPr lang="en-US" altLang="zh-CN" dirty="0"/>
          </a:p>
          <a:p>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b="1" dirty="0">
                <a:solidFill>
                  <a:srgbClr val="4E02BE"/>
                </a:solidFill>
              </a:rPr>
              <a:t>法律渊源</a:t>
            </a:r>
            <a:endParaRPr lang="zh-CN" altLang="en-US" sz="3600" b="1" dirty="0">
              <a:solidFill>
                <a:srgbClr val="4E02BE"/>
              </a:solidFill>
            </a:endParaRPr>
          </a:p>
        </p:txBody>
      </p:sp>
      <p:sp>
        <p:nvSpPr>
          <p:cNvPr id="3" name="内容占位符 2"/>
          <p:cNvSpPr>
            <a:spLocks noGrp="1"/>
          </p:cNvSpPr>
          <p:nvPr>
            <p:ph idx="1"/>
          </p:nvPr>
        </p:nvSpPr>
        <p:spPr/>
        <p:txBody>
          <a:bodyPr/>
          <a:lstStyle/>
          <a:p>
            <a:r>
              <a:rPr lang="zh-CN" altLang="en-US" dirty="0"/>
              <a:t>宪法</a:t>
            </a:r>
            <a:endParaRPr lang="en-US" altLang="zh-CN" dirty="0"/>
          </a:p>
          <a:p>
            <a:r>
              <a:rPr lang="zh-CN" altLang="en-US" dirty="0"/>
              <a:t>法律（</a:t>
            </a:r>
            <a:r>
              <a:rPr lang="en-US" altLang="zh-CN" dirty="0"/>
              <a:t>《</a:t>
            </a:r>
            <a:r>
              <a:rPr lang="zh-CN" altLang="en-US" dirty="0"/>
              <a:t>预算法</a:t>
            </a:r>
            <a:r>
              <a:rPr lang="en-US" altLang="zh-CN" dirty="0"/>
              <a:t>》</a:t>
            </a:r>
            <a:r>
              <a:rPr lang="zh-CN" altLang="en-US" dirty="0"/>
              <a:t>、</a:t>
            </a:r>
            <a:r>
              <a:rPr lang="en-US" altLang="zh-CN" dirty="0"/>
              <a:t>《</a:t>
            </a:r>
            <a:r>
              <a:rPr lang="zh-CN" altLang="en-US" dirty="0"/>
              <a:t>审计法</a:t>
            </a:r>
            <a:r>
              <a:rPr lang="en-US" altLang="zh-CN" dirty="0"/>
              <a:t>》</a:t>
            </a:r>
            <a:r>
              <a:rPr lang="zh-CN" altLang="en-US" dirty="0"/>
              <a:t>、</a:t>
            </a:r>
            <a:r>
              <a:rPr lang="en-US" altLang="zh-CN" dirty="0"/>
              <a:t>《</a:t>
            </a:r>
            <a:r>
              <a:rPr lang="zh-CN" altLang="en-US" dirty="0"/>
              <a:t>政府采购法</a:t>
            </a:r>
            <a:r>
              <a:rPr lang="en-US" altLang="zh-CN" dirty="0"/>
              <a:t>》</a:t>
            </a:r>
            <a:r>
              <a:rPr lang="zh-CN" altLang="en-US" dirty="0"/>
              <a:t>、各类税收法律、刑法的相关规定）</a:t>
            </a:r>
            <a:endParaRPr lang="en-US" altLang="zh-CN" dirty="0"/>
          </a:p>
          <a:p>
            <a:r>
              <a:rPr lang="zh-CN" altLang="en-US" dirty="0"/>
              <a:t>行政法规</a:t>
            </a:r>
            <a:endParaRPr lang="en-US" altLang="zh-CN" dirty="0"/>
          </a:p>
          <a:p>
            <a:r>
              <a:rPr lang="zh-CN" altLang="en-US" dirty="0"/>
              <a:t>部门规章</a:t>
            </a:r>
            <a:endParaRPr lang="en-US" altLang="zh-CN" dirty="0"/>
          </a:p>
          <a:p>
            <a:r>
              <a:rPr lang="zh-CN" altLang="en-US" dirty="0"/>
              <a:t>地方法规、地方规章</a:t>
            </a:r>
            <a:endParaRPr lang="en-US" altLang="zh-CN" dirty="0"/>
          </a:p>
          <a:p>
            <a:r>
              <a:rPr lang="zh-CN" altLang="en-US" dirty="0"/>
              <a:t>国际条约</a:t>
            </a: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000" b="1" dirty="0">
                <a:solidFill>
                  <a:srgbClr val="4E02BE"/>
                </a:solidFill>
              </a:rPr>
              <a:t>政府财力</a:t>
            </a:r>
            <a:endParaRPr lang="zh-CN" altLang="en-US" sz="4000" b="1" dirty="0">
              <a:solidFill>
                <a:srgbClr val="4E02BE"/>
              </a:solidFill>
            </a:endParaRPr>
          </a:p>
        </p:txBody>
      </p:sp>
      <p:sp>
        <p:nvSpPr>
          <p:cNvPr id="3" name="内容占位符 2"/>
          <p:cNvSpPr>
            <a:spLocks noGrp="1"/>
          </p:cNvSpPr>
          <p:nvPr>
            <p:ph idx="1"/>
          </p:nvPr>
        </p:nvSpPr>
        <p:spPr/>
        <p:txBody>
          <a:bodyPr/>
          <a:lstStyle/>
          <a:p>
            <a:r>
              <a:rPr lang="zh-CN" altLang="en-US" dirty="0"/>
              <a:t>一般公共预算收入：如税收、国企红利、发债、</a:t>
            </a:r>
            <a:r>
              <a:rPr lang="en-US" altLang="zh-CN" dirty="0"/>
              <a:t>……</a:t>
            </a:r>
            <a:endParaRPr lang="en-US" altLang="zh-CN" dirty="0"/>
          </a:p>
          <a:p>
            <a:r>
              <a:rPr lang="zh-CN" altLang="en-US" dirty="0"/>
              <a:t>预算外收入（</a:t>
            </a:r>
            <a:r>
              <a:rPr lang="en-US" altLang="zh-CN" dirty="0"/>
              <a:t>2011</a:t>
            </a:r>
            <a:r>
              <a:rPr lang="zh-CN" altLang="en-US" dirty="0"/>
              <a:t>年前）：收费、罚没</a:t>
            </a:r>
            <a:endParaRPr lang="en-US" altLang="zh-CN" dirty="0"/>
          </a:p>
          <a:p>
            <a:r>
              <a:rPr lang="zh-CN" altLang="en-US" dirty="0"/>
              <a:t>公共基金收入：如土地出让金</a:t>
            </a:r>
            <a:endParaRPr lang="en-US" altLang="zh-CN" dirty="0"/>
          </a:p>
          <a:p>
            <a:r>
              <a:rPr lang="zh-CN" altLang="en-US" dirty="0"/>
              <a:t>社保收入</a:t>
            </a:r>
            <a:endParaRPr lang="en-US" altLang="zh-CN" dirty="0"/>
          </a:p>
          <a:p>
            <a:r>
              <a:rPr lang="zh-CN" altLang="en-US" dirty="0"/>
              <a:t>隐性负债</a:t>
            </a:r>
            <a:endParaRPr lang="en-US" altLang="zh-CN" dirty="0"/>
          </a:p>
          <a:p>
            <a:r>
              <a:rPr lang="en-US" altLang="zh-CN" dirty="0"/>
              <a:t>……</a:t>
            </a:r>
            <a:endParaRPr lang="en-US" altLang="zh-CN" dirty="0"/>
          </a:p>
          <a:p>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solidFill>
                  <a:srgbClr val="4E02BE"/>
                </a:solidFill>
              </a:rPr>
              <a:t>预算法</a:t>
            </a:r>
            <a:endParaRPr lang="zh-CN" altLang="en-US" b="1" dirty="0">
              <a:solidFill>
                <a:srgbClr val="4E02BE"/>
              </a:solidFill>
            </a:endParaRPr>
          </a:p>
        </p:txBody>
      </p:sp>
      <p:sp>
        <p:nvSpPr>
          <p:cNvPr id="3" name="内容占位符 2"/>
          <p:cNvSpPr>
            <a:spLocks noGrp="1"/>
          </p:cNvSpPr>
          <p:nvPr>
            <p:ph idx="1"/>
          </p:nvPr>
        </p:nvSpPr>
        <p:spPr/>
        <p:txBody>
          <a:bodyPr>
            <a:normAutofit fontScale="92500"/>
          </a:bodyPr>
          <a:lstStyle/>
          <a:p>
            <a:r>
              <a:rPr lang="zh-CN" altLang="zh-CN" dirty="0"/>
              <a:t>第四条　预算由</a:t>
            </a:r>
            <a:r>
              <a:rPr lang="zh-CN" altLang="zh-CN" dirty="0">
                <a:solidFill>
                  <a:srgbClr val="FF0000"/>
                </a:solidFill>
              </a:rPr>
              <a:t>预算收入</a:t>
            </a:r>
            <a:r>
              <a:rPr lang="zh-CN" altLang="zh-CN" dirty="0"/>
              <a:t>和</a:t>
            </a:r>
            <a:r>
              <a:rPr lang="zh-CN" altLang="zh-CN" dirty="0">
                <a:solidFill>
                  <a:srgbClr val="FF0000"/>
                </a:solidFill>
              </a:rPr>
              <a:t>预算支出</a:t>
            </a:r>
            <a:r>
              <a:rPr lang="zh-CN" altLang="zh-CN" dirty="0"/>
              <a:t>组成。</a:t>
            </a:r>
            <a:endParaRPr lang="zh-CN" altLang="zh-CN" dirty="0"/>
          </a:p>
          <a:p>
            <a:r>
              <a:rPr lang="zh-CN" altLang="zh-CN" dirty="0"/>
              <a:t>政府的全部收入和支出都应当纳入预算。</a:t>
            </a:r>
            <a:endParaRPr lang="zh-CN" altLang="zh-CN" dirty="0"/>
          </a:p>
          <a:p>
            <a:r>
              <a:rPr lang="zh-CN" altLang="zh-CN" dirty="0"/>
              <a:t>第五条　预算包括</a:t>
            </a:r>
            <a:r>
              <a:rPr lang="zh-CN" altLang="zh-CN" dirty="0">
                <a:solidFill>
                  <a:srgbClr val="FF0000"/>
                </a:solidFill>
              </a:rPr>
              <a:t>一般公共预算</a:t>
            </a:r>
            <a:r>
              <a:rPr lang="zh-CN" altLang="zh-CN" dirty="0"/>
              <a:t>、</a:t>
            </a:r>
            <a:r>
              <a:rPr lang="zh-CN" altLang="zh-CN" dirty="0">
                <a:solidFill>
                  <a:srgbClr val="FF0000"/>
                </a:solidFill>
              </a:rPr>
              <a:t>政府性基金预算</a:t>
            </a:r>
            <a:r>
              <a:rPr lang="zh-CN" altLang="zh-CN" dirty="0"/>
              <a:t>、</a:t>
            </a:r>
            <a:r>
              <a:rPr lang="zh-CN" altLang="zh-CN" dirty="0">
                <a:solidFill>
                  <a:srgbClr val="FF0000"/>
                </a:solidFill>
              </a:rPr>
              <a:t>国有资本经营预算</a:t>
            </a:r>
            <a:r>
              <a:rPr lang="zh-CN" altLang="zh-CN" dirty="0"/>
              <a:t>、</a:t>
            </a:r>
            <a:r>
              <a:rPr lang="zh-CN" altLang="zh-CN" dirty="0">
                <a:solidFill>
                  <a:srgbClr val="FF0000"/>
                </a:solidFill>
              </a:rPr>
              <a:t>社会保险基金预算</a:t>
            </a:r>
            <a:r>
              <a:rPr lang="zh-CN" altLang="zh-CN" dirty="0"/>
              <a:t>。</a:t>
            </a:r>
            <a:endParaRPr lang="en-US" altLang="zh-CN" dirty="0"/>
          </a:p>
          <a:p>
            <a:r>
              <a:rPr lang="zh-CN" altLang="zh-CN" dirty="0"/>
              <a:t>一般公共预算、政府性基金预算、国有资本经营预算、社会保险基金预算</a:t>
            </a:r>
            <a:r>
              <a:rPr lang="zh-CN" altLang="zh-CN" dirty="0">
                <a:solidFill>
                  <a:srgbClr val="FF0000"/>
                </a:solidFill>
              </a:rPr>
              <a:t>应当保持完整、独立</a:t>
            </a:r>
            <a:r>
              <a:rPr lang="zh-CN" altLang="zh-CN" dirty="0"/>
              <a:t>。政府性基金预算、国有资本经营预算、社会保险基金预算应当与一般公共预算相衔接。</a:t>
            </a:r>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000" b="1" dirty="0">
                <a:solidFill>
                  <a:srgbClr val="0B38B5"/>
                </a:solidFill>
              </a:rPr>
              <a:t>税收</a:t>
            </a:r>
            <a:endParaRPr lang="zh-CN" altLang="en-US" sz="4000" b="1" dirty="0">
              <a:solidFill>
                <a:srgbClr val="0B38B5"/>
              </a:solidFill>
            </a:endParaRPr>
          </a:p>
        </p:txBody>
      </p:sp>
      <p:pic>
        <p:nvPicPr>
          <p:cNvPr id="1026" name="Picture 2" descr="https://gimg2.baidu.com/image_search/src=http%3A%2F%2Fp6.itc.cn%2Fimages01%2F20201027%2F764e032524174b73943a6e1e269f2b80.jpeg&amp;refer=http%3A%2F%2Fp6.itc.cn&amp;app=2002&amp;size=f9999,10000&amp;q=a80&amp;n=0&amp;g=0n&amp;fmt=auto?sec=1655321223&amp;t=1d60733c67314e8529b5b88db0a93fba"/>
          <p:cNvPicPr>
            <a:picLocks noChangeAspect="1" noChangeArrowheads="1"/>
          </p:cNvPicPr>
          <p:nvPr/>
        </p:nvPicPr>
        <p:blipFill>
          <a:blip r:embed="rId1" cstate="print"/>
          <a:srcRect/>
          <a:stretch>
            <a:fillRect/>
          </a:stretch>
        </p:blipFill>
        <p:spPr bwMode="auto">
          <a:xfrm>
            <a:off x="1403648" y="1556792"/>
            <a:ext cx="6274668" cy="4706001"/>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000" b="1" dirty="0">
                <a:solidFill>
                  <a:srgbClr val="0B38B5"/>
                </a:solidFill>
              </a:rPr>
              <a:t>税收特性</a:t>
            </a:r>
            <a:endParaRPr lang="zh-CN" altLang="en-US" sz="4000" b="1" dirty="0">
              <a:solidFill>
                <a:srgbClr val="0B38B5"/>
              </a:solidFill>
            </a:endParaRPr>
          </a:p>
        </p:txBody>
      </p:sp>
      <p:sp>
        <p:nvSpPr>
          <p:cNvPr id="3" name="内容占位符 2"/>
          <p:cNvSpPr>
            <a:spLocks noGrp="1"/>
          </p:cNvSpPr>
          <p:nvPr>
            <p:ph idx="1"/>
          </p:nvPr>
        </p:nvSpPr>
        <p:spPr/>
        <p:txBody>
          <a:bodyPr/>
          <a:lstStyle/>
          <a:p>
            <a:r>
              <a:rPr lang="zh-CN" altLang="en-US" dirty="0"/>
              <a:t>强制性</a:t>
            </a:r>
            <a:endParaRPr lang="en-US" altLang="zh-CN" dirty="0"/>
          </a:p>
          <a:p>
            <a:r>
              <a:rPr lang="zh-CN" altLang="en-US" dirty="0"/>
              <a:t>固定性</a:t>
            </a:r>
            <a:endParaRPr lang="en-US" altLang="zh-CN" dirty="0"/>
          </a:p>
          <a:p>
            <a:r>
              <a:rPr lang="zh-CN" altLang="en-US" dirty="0"/>
              <a:t>无偿性</a:t>
            </a:r>
            <a:endParaRPr lang="en-US" altLang="zh-CN" dirty="0"/>
          </a:p>
          <a:p>
            <a:r>
              <a:rPr lang="zh-CN" altLang="en-US" dirty="0"/>
              <a:t>强调法律授权和程序</a:t>
            </a:r>
            <a:endParaRPr lang="en-US" altLang="zh-CN" dirty="0"/>
          </a:p>
          <a:p>
            <a:r>
              <a:rPr lang="en-US" altLang="zh-CN" dirty="0">
                <a:solidFill>
                  <a:srgbClr val="FF0000"/>
                </a:solidFill>
              </a:rPr>
              <a:t>——</a:t>
            </a:r>
            <a:r>
              <a:rPr lang="zh-CN" altLang="en-US" dirty="0">
                <a:solidFill>
                  <a:srgbClr val="FF0000"/>
                </a:solidFill>
              </a:rPr>
              <a:t>税收法定原则</a:t>
            </a:r>
            <a:endParaRPr lang="zh-CN" altLang="en-US" dirty="0">
              <a:solidFill>
                <a:srgbClr val="FF0000"/>
              </a:solidFill>
            </a:endParaRPr>
          </a:p>
        </p:txBody>
      </p:sp>
      <p:sp>
        <p:nvSpPr>
          <p:cNvPr id="2050" name="AutoShape 2" descr="给全民“发钱”，是不是一个好主意？"/>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lstStyle/>
          <a:p>
            <a:endParaRPr lang="zh-CN" altLang="en-US"/>
          </a:p>
        </p:txBody>
      </p:sp>
      <p:pic>
        <p:nvPicPr>
          <p:cNvPr id="2051" name="Picture 3" descr="E:\交大201709\备课\浙大\经济法（法学院本科）\财税法\无代表不纳税.jpg"/>
          <p:cNvPicPr>
            <a:picLocks noChangeAspect="1" noChangeArrowheads="1"/>
          </p:cNvPicPr>
          <p:nvPr/>
        </p:nvPicPr>
        <p:blipFill>
          <a:blip r:embed="rId1" cstate="print"/>
          <a:srcRect/>
          <a:stretch>
            <a:fillRect/>
          </a:stretch>
        </p:blipFill>
        <p:spPr bwMode="auto">
          <a:xfrm>
            <a:off x="4499992" y="3933056"/>
            <a:ext cx="4065041" cy="2637177"/>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600" b="1" dirty="0">
                <a:solidFill>
                  <a:srgbClr val="0B38B5"/>
                </a:solidFill>
              </a:rPr>
              <a:t>《</a:t>
            </a:r>
            <a:r>
              <a:rPr lang="zh-CN" altLang="en-US" sz="3600" b="1" dirty="0">
                <a:solidFill>
                  <a:srgbClr val="0B38B5"/>
                </a:solidFill>
              </a:rPr>
              <a:t>大宪章</a:t>
            </a:r>
            <a:r>
              <a:rPr lang="en-US" altLang="zh-CN" sz="3600" b="1" dirty="0">
                <a:solidFill>
                  <a:srgbClr val="0B38B5"/>
                </a:solidFill>
              </a:rPr>
              <a:t>》</a:t>
            </a:r>
            <a:endParaRPr lang="zh-CN" altLang="en-US" sz="3600" b="1" dirty="0">
              <a:solidFill>
                <a:srgbClr val="0B38B5"/>
              </a:solidFill>
            </a:endParaRPr>
          </a:p>
        </p:txBody>
      </p:sp>
      <p:pic>
        <p:nvPicPr>
          <p:cNvPr id="1026" name="Picture 2" descr="https://gimg2.baidu.com/image_search/src=http%3A%2F%2Fimg.51wendang.com%2Fpic%2F7ac81919098411b92b0bca9f%2F6-810-jpg_6-1080-0-0-1080.jpg&amp;refer=http%3A%2F%2Fimg.51wendang.com&amp;app=2002&amp;size=f9999,10000&amp;q=a80&amp;n=0&amp;g=0n&amp;fmt=auto?sec=1655919660&amp;t=9266b4d5bcf9e5d7f518ffdd9a142b5b"/>
          <p:cNvPicPr>
            <a:picLocks noChangeAspect="1" noChangeArrowheads="1"/>
          </p:cNvPicPr>
          <p:nvPr/>
        </p:nvPicPr>
        <p:blipFill>
          <a:blip r:embed="rId1" cstate="print"/>
          <a:srcRect/>
          <a:stretch>
            <a:fillRect/>
          </a:stretch>
        </p:blipFill>
        <p:spPr bwMode="auto">
          <a:xfrm>
            <a:off x="434415" y="1916833"/>
            <a:ext cx="4704522" cy="3528392"/>
          </a:xfrm>
          <a:prstGeom prst="rect">
            <a:avLst/>
          </a:prstGeom>
          <a:noFill/>
        </p:spPr>
      </p:pic>
      <p:pic>
        <p:nvPicPr>
          <p:cNvPr id="1028" name="Picture 4" descr="https://img0.baidu.com/it/u=3343370278,2403200614&amp;fm=253&amp;fmt=auto&amp;app=120&amp;f=JPEG?w=540&amp;h=481"/>
          <p:cNvPicPr>
            <a:picLocks noChangeAspect="1" noChangeArrowheads="1"/>
          </p:cNvPicPr>
          <p:nvPr/>
        </p:nvPicPr>
        <p:blipFill>
          <a:blip r:embed="rId2" cstate="print"/>
          <a:srcRect/>
          <a:stretch>
            <a:fillRect/>
          </a:stretch>
        </p:blipFill>
        <p:spPr bwMode="auto">
          <a:xfrm>
            <a:off x="5220072" y="1916832"/>
            <a:ext cx="3703340" cy="3298716"/>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000" b="1" dirty="0">
                <a:solidFill>
                  <a:srgbClr val="0B38B5"/>
                </a:solidFill>
              </a:rPr>
              <a:t>税收的构成要素</a:t>
            </a:r>
            <a:endParaRPr lang="zh-CN" altLang="en-US" sz="4000" b="1" dirty="0">
              <a:solidFill>
                <a:srgbClr val="0B38B5"/>
              </a:solidFill>
            </a:endParaRPr>
          </a:p>
        </p:txBody>
      </p:sp>
      <p:sp>
        <p:nvSpPr>
          <p:cNvPr id="3" name="内容占位符 2"/>
          <p:cNvSpPr>
            <a:spLocks noGrp="1"/>
          </p:cNvSpPr>
          <p:nvPr>
            <p:ph idx="1"/>
          </p:nvPr>
        </p:nvSpPr>
        <p:spPr/>
        <p:txBody>
          <a:bodyPr>
            <a:normAutofit lnSpcReduction="10000"/>
          </a:bodyPr>
          <a:lstStyle/>
          <a:p>
            <a:r>
              <a:rPr lang="zh-CN" altLang="en-US" dirty="0"/>
              <a:t>税收主体：代表国家的税务机关；纳税义务人；扣缴义务人</a:t>
            </a:r>
            <a:endParaRPr lang="en-US" altLang="zh-CN" dirty="0"/>
          </a:p>
          <a:p>
            <a:r>
              <a:rPr lang="zh-CN" altLang="en-US" dirty="0"/>
              <a:t>课税对象：流转额、所得额、财产</a:t>
            </a:r>
            <a:endParaRPr lang="en-US" altLang="zh-CN" dirty="0"/>
          </a:p>
          <a:p>
            <a:r>
              <a:rPr lang="zh-CN" altLang="en-US" dirty="0"/>
              <a:t>税率</a:t>
            </a:r>
            <a:endParaRPr lang="en-US" altLang="zh-CN" dirty="0"/>
          </a:p>
          <a:p>
            <a:r>
              <a:rPr lang="zh-CN" altLang="en-US" dirty="0"/>
              <a:t>计税依据（税基：从价</a:t>
            </a:r>
            <a:r>
              <a:rPr lang="en-US" altLang="zh-CN" dirty="0"/>
              <a:t>/</a:t>
            </a:r>
            <a:r>
              <a:rPr lang="zh-CN" altLang="en-US" dirty="0"/>
              <a:t>从量）</a:t>
            </a:r>
            <a:endParaRPr lang="en-US" altLang="zh-CN" dirty="0"/>
          </a:p>
          <a:p>
            <a:r>
              <a:rPr lang="zh-CN" altLang="en-US" dirty="0"/>
              <a:t>纳税环节</a:t>
            </a:r>
            <a:endParaRPr lang="en-US" altLang="zh-CN" dirty="0"/>
          </a:p>
          <a:p>
            <a:r>
              <a:rPr lang="zh-CN" altLang="en-US" dirty="0"/>
              <a:t>纳税期限</a:t>
            </a:r>
            <a:endParaRPr lang="en-US" altLang="zh-CN" dirty="0"/>
          </a:p>
          <a:p>
            <a:r>
              <a:rPr lang="zh-CN" altLang="en-US" dirty="0"/>
              <a:t>减免税和违法处理</a:t>
            </a:r>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000" b="1" dirty="0">
                <a:solidFill>
                  <a:srgbClr val="0B38B5"/>
                </a:solidFill>
              </a:rPr>
              <a:t>税收分类</a:t>
            </a:r>
            <a:endParaRPr lang="zh-CN" altLang="en-US" sz="4000" b="1" dirty="0">
              <a:solidFill>
                <a:srgbClr val="0B38B5"/>
              </a:solidFill>
            </a:endParaRPr>
          </a:p>
        </p:txBody>
      </p:sp>
      <p:sp>
        <p:nvSpPr>
          <p:cNvPr id="3" name="内容占位符 2"/>
          <p:cNvSpPr>
            <a:spLocks noGrp="1"/>
          </p:cNvSpPr>
          <p:nvPr>
            <p:ph idx="1"/>
          </p:nvPr>
        </p:nvSpPr>
        <p:spPr/>
        <p:txBody>
          <a:bodyPr/>
          <a:lstStyle/>
          <a:p>
            <a:r>
              <a:rPr lang="zh-CN" altLang="en-US" dirty="0"/>
              <a:t>直接税和间接税</a:t>
            </a:r>
            <a:endParaRPr lang="en-US" altLang="zh-CN" dirty="0"/>
          </a:p>
          <a:p>
            <a:r>
              <a:rPr lang="zh-CN" altLang="en-US" dirty="0"/>
              <a:t>流转税、所得税和财产税</a:t>
            </a:r>
            <a:endParaRPr lang="en-US" altLang="zh-CN" dirty="0"/>
          </a:p>
          <a:p>
            <a:r>
              <a:rPr lang="zh-CN" altLang="en-US" dirty="0"/>
              <a:t>从价税和从量税</a:t>
            </a:r>
            <a:endParaRPr lang="en-US" altLang="zh-CN" dirty="0"/>
          </a:p>
          <a:p>
            <a:r>
              <a:rPr lang="zh-CN" altLang="en-US" dirty="0"/>
              <a:t>价内税和价外税</a:t>
            </a:r>
            <a:endParaRPr lang="en-US" altLang="zh-CN" dirty="0"/>
          </a:p>
          <a:p>
            <a:r>
              <a:rPr lang="zh-CN" altLang="en-US" dirty="0"/>
              <a:t>中央税、地方税和共享税</a:t>
            </a:r>
            <a:endParaRPr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descr="https://pic1.zhimg.com/80/v2-f8290d22669a470bca10e74b5d0fdf38_720w.jpg"/>
          <p:cNvPicPr>
            <a:picLocks noChangeAspect="1" noChangeArrowheads="1"/>
          </p:cNvPicPr>
          <p:nvPr/>
        </p:nvPicPr>
        <p:blipFill>
          <a:blip r:embed="rId1" cstate="print"/>
          <a:srcRect/>
          <a:stretch>
            <a:fillRect/>
          </a:stretch>
        </p:blipFill>
        <p:spPr bwMode="auto">
          <a:xfrm>
            <a:off x="2339752" y="0"/>
            <a:ext cx="5040560" cy="6692744"/>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000" b="1" dirty="0">
                <a:solidFill>
                  <a:srgbClr val="4E02BE"/>
                </a:solidFill>
              </a:rPr>
              <a:t>我国的税种</a:t>
            </a:r>
            <a:endParaRPr lang="zh-CN" altLang="en-US" sz="4000" b="1" dirty="0">
              <a:solidFill>
                <a:srgbClr val="4E02BE"/>
              </a:solidFill>
            </a:endParaRPr>
          </a:p>
        </p:txBody>
      </p:sp>
      <p:sp>
        <p:nvSpPr>
          <p:cNvPr id="3" name="内容占位符 2"/>
          <p:cNvSpPr>
            <a:spLocks noGrp="1"/>
          </p:cNvSpPr>
          <p:nvPr>
            <p:ph idx="1"/>
          </p:nvPr>
        </p:nvSpPr>
        <p:spPr/>
        <p:txBody>
          <a:bodyPr/>
          <a:lstStyle/>
          <a:p>
            <a:r>
              <a:rPr lang="zh-CN" altLang="en-US" b="1" u="sng" dirty="0">
                <a:solidFill>
                  <a:srgbClr val="FF0000"/>
                </a:solidFill>
              </a:rPr>
              <a:t>流转税：</a:t>
            </a:r>
            <a:r>
              <a:rPr lang="zh-CN" altLang="en-US" u="sng" dirty="0">
                <a:solidFill>
                  <a:srgbClr val="FF0000"/>
                </a:solidFill>
              </a:rPr>
              <a:t>增值税、关税、消费税、（营业税）、城市维护建设税</a:t>
            </a:r>
            <a:endParaRPr lang="en-US" altLang="zh-CN" u="sng" dirty="0">
              <a:solidFill>
                <a:srgbClr val="FF0000"/>
              </a:solidFill>
            </a:endParaRPr>
          </a:p>
          <a:p>
            <a:r>
              <a:rPr lang="zh-CN" altLang="en-US" b="1" dirty="0">
                <a:solidFill>
                  <a:srgbClr val="FF0000"/>
                </a:solidFill>
              </a:rPr>
              <a:t>增值税</a:t>
            </a:r>
            <a:r>
              <a:rPr lang="zh-CN" altLang="en-US" dirty="0"/>
              <a:t>是以商品（含应税劳务）在流转过程中产生的增值额作为计税依据而征收的一种流转税。</a:t>
            </a:r>
            <a:endParaRPr lang="zh-CN" altLang="en-US" dirty="0"/>
          </a:p>
          <a:p>
            <a:r>
              <a:rPr lang="zh-CN" altLang="en-US" dirty="0"/>
              <a:t>现行增值税属于比例税率，根据应税行为一共分为</a:t>
            </a:r>
            <a:r>
              <a:rPr lang="en-US" altLang="zh-CN" dirty="0"/>
              <a:t>13%</a:t>
            </a:r>
            <a:r>
              <a:rPr lang="zh-CN" altLang="en-US" dirty="0"/>
              <a:t>、</a:t>
            </a:r>
            <a:r>
              <a:rPr lang="en-US" altLang="zh-CN" dirty="0"/>
              <a:t>9%</a:t>
            </a:r>
            <a:r>
              <a:rPr lang="zh-CN" altLang="en-US" dirty="0"/>
              <a:t>、</a:t>
            </a:r>
            <a:r>
              <a:rPr lang="en-US" altLang="zh-CN" dirty="0"/>
              <a:t>6%</a:t>
            </a:r>
            <a:r>
              <a:rPr lang="zh-CN" altLang="en-US" dirty="0"/>
              <a:t>三档税率</a:t>
            </a:r>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000" b="1" dirty="0">
                <a:solidFill>
                  <a:srgbClr val="4E02BE"/>
                </a:solidFill>
              </a:rPr>
              <a:t>我国的税种</a:t>
            </a:r>
            <a:endParaRPr lang="zh-CN" altLang="en-US" sz="4000" dirty="0"/>
          </a:p>
        </p:txBody>
      </p:sp>
      <p:sp>
        <p:nvSpPr>
          <p:cNvPr id="3" name="内容占位符 2"/>
          <p:cNvSpPr>
            <a:spLocks noGrp="1"/>
          </p:cNvSpPr>
          <p:nvPr>
            <p:ph idx="1"/>
          </p:nvPr>
        </p:nvSpPr>
        <p:spPr/>
        <p:txBody>
          <a:bodyPr>
            <a:normAutofit/>
          </a:bodyPr>
          <a:lstStyle/>
          <a:p>
            <a:r>
              <a:rPr lang="zh-CN" altLang="en-US" b="1" dirty="0">
                <a:solidFill>
                  <a:srgbClr val="FF0000"/>
                </a:solidFill>
              </a:rPr>
              <a:t>关税</a:t>
            </a:r>
            <a:r>
              <a:rPr lang="zh-CN" altLang="en-US" dirty="0"/>
              <a:t>指引进出口商品经过一国关境时，由政府所设置的海关向其引进出口商所征收的税收。</a:t>
            </a:r>
            <a:endParaRPr lang="zh-CN" altLang="en-US" dirty="0"/>
          </a:p>
          <a:p>
            <a:r>
              <a:rPr lang="zh-CN" altLang="en-US" dirty="0"/>
              <a:t>不同产品进口关税的税率是不一样的</a:t>
            </a:r>
            <a:endParaRPr lang="en-US" altLang="zh-CN" dirty="0"/>
          </a:p>
          <a:p>
            <a:r>
              <a:rPr lang="zh-CN" altLang="en-US" dirty="0"/>
              <a:t>不同国家的同样产品进口关税的税率是不一样的</a:t>
            </a:r>
            <a:endParaRPr lang="en-US" altLang="zh-CN" dirty="0"/>
          </a:p>
          <a:p>
            <a:r>
              <a:rPr lang="zh-CN" altLang="en-US" dirty="0">
                <a:solidFill>
                  <a:srgbClr val="0B38B5"/>
                </a:solidFill>
              </a:rPr>
              <a:t>谁是进口关税和出口关税的纳税义务人？</a:t>
            </a:r>
            <a:endParaRPr lang="zh-CN" altLang="en-US" dirty="0">
              <a:solidFill>
                <a:srgbClr val="0B38B5"/>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solidFill>
                  <a:srgbClr val="4E02BE"/>
                </a:solidFill>
              </a:rPr>
              <a:t>我国的税种</a:t>
            </a:r>
            <a:endParaRPr lang="zh-CN" altLang="en-US" dirty="0"/>
          </a:p>
        </p:txBody>
      </p:sp>
      <p:sp>
        <p:nvSpPr>
          <p:cNvPr id="3" name="内容占位符 2"/>
          <p:cNvSpPr>
            <a:spLocks noGrp="1"/>
          </p:cNvSpPr>
          <p:nvPr>
            <p:ph idx="1"/>
          </p:nvPr>
        </p:nvSpPr>
        <p:spPr/>
        <p:txBody>
          <a:bodyPr>
            <a:normAutofit fontScale="92500" lnSpcReduction="10000"/>
          </a:bodyPr>
          <a:lstStyle/>
          <a:p>
            <a:r>
              <a:rPr lang="zh-CN" altLang="en-US" b="1" dirty="0">
                <a:solidFill>
                  <a:srgbClr val="FF0000"/>
                </a:solidFill>
              </a:rPr>
              <a:t>消费税</a:t>
            </a:r>
            <a:r>
              <a:rPr lang="zh-CN" altLang="en-US" dirty="0"/>
              <a:t>是以消费品的流转额作为征税对象的各种税收的统称，是政府向消费品征收的税项，可从批发商或零售商征收。</a:t>
            </a:r>
            <a:endParaRPr lang="zh-CN" altLang="en-US" dirty="0"/>
          </a:p>
          <a:p>
            <a:r>
              <a:rPr lang="zh-CN" altLang="en-US" b="1" dirty="0"/>
              <a:t>征收范围：</a:t>
            </a:r>
            <a:r>
              <a:rPr lang="zh-CN" altLang="en-US" dirty="0"/>
              <a:t>烟、酒、高档化妆品、护肤护发品、首饰珠宝玉石、鞭炮焰火、汽油、柴油、汽车轮胎、摩托车、小汽车等。</a:t>
            </a:r>
            <a:endParaRPr lang="zh-CN" altLang="en-US" dirty="0"/>
          </a:p>
          <a:p>
            <a:r>
              <a:rPr lang="zh-CN" altLang="en-US" b="1" dirty="0"/>
              <a:t>税率：</a:t>
            </a:r>
            <a:r>
              <a:rPr lang="zh-CN" altLang="en-US" dirty="0"/>
              <a:t>消费税共设置了</a:t>
            </a:r>
            <a:r>
              <a:rPr lang="en-US" altLang="zh-CN" dirty="0"/>
              <a:t>11</a:t>
            </a:r>
            <a:r>
              <a:rPr lang="zh-CN" altLang="en-US" dirty="0"/>
              <a:t>个税目，列举了</a:t>
            </a:r>
            <a:r>
              <a:rPr lang="en-US" altLang="zh-CN" dirty="0"/>
              <a:t>25</a:t>
            </a:r>
            <a:r>
              <a:rPr lang="zh-CN" altLang="en-US" dirty="0"/>
              <a:t>个征税项目。实行比例税率的有</a:t>
            </a:r>
            <a:r>
              <a:rPr lang="en-US" altLang="zh-CN" dirty="0"/>
              <a:t>21</a:t>
            </a:r>
            <a:r>
              <a:rPr lang="zh-CN" altLang="en-US" dirty="0"/>
              <a:t>个，实行定额税率的有</a:t>
            </a:r>
            <a:r>
              <a:rPr lang="en-US" altLang="zh-CN" dirty="0"/>
              <a:t>4</a:t>
            </a:r>
            <a:r>
              <a:rPr lang="zh-CN" altLang="en-US" dirty="0"/>
              <a:t>个。共有</a:t>
            </a:r>
            <a:r>
              <a:rPr lang="en-US" altLang="zh-CN" dirty="0"/>
              <a:t>13</a:t>
            </a:r>
            <a:r>
              <a:rPr lang="zh-CN" altLang="en-US" dirty="0"/>
              <a:t>个档次的税率，最低</a:t>
            </a:r>
            <a:r>
              <a:rPr lang="en-US" altLang="zh-CN" dirty="0"/>
              <a:t>3%</a:t>
            </a:r>
            <a:r>
              <a:rPr lang="zh-CN" altLang="en-US" dirty="0"/>
              <a:t>，最高</a:t>
            </a:r>
            <a:r>
              <a:rPr lang="en-US" altLang="zh-CN" dirty="0"/>
              <a:t>56%</a:t>
            </a:r>
            <a:r>
              <a:rPr lang="zh-CN" altLang="en-US" dirty="0"/>
              <a:t>。</a:t>
            </a:r>
            <a:endParaRPr lang="zh-CN" altLang="en-US" dirty="0"/>
          </a:p>
          <a:p>
            <a:endParaRPr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solidFill>
                  <a:srgbClr val="4E02BE"/>
                </a:solidFill>
              </a:rPr>
              <a:t>我国的税种</a:t>
            </a:r>
            <a:endParaRPr lang="zh-CN" altLang="en-US" dirty="0"/>
          </a:p>
        </p:txBody>
      </p:sp>
      <p:sp>
        <p:nvSpPr>
          <p:cNvPr id="3" name="内容占位符 2"/>
          <p:cNvSpPr>
            <a:spLocks noGrp="1"/>
          </p:cNvSpPr>
          <p:nvPr>
            <p:ph idx="1"/>
          </p:nvPr>
        </p:nvSpPr>
        <p:spPr/>
        <p:txBody>
          <a:bodyPr>
            <a:normAutofit lnSpcReduction="10000"/>
          </a:bodyPr>
          <a:lstStyle/>
          <a:p>
            <a:r>
              <a:rPr lang="zh-CN" altLang="en-US" b="1" u="sng" dirty="0">
                <a:solidFill>
                  <a:srgbClr val="FF0000"/>
                </a:solidFill>
              </a:rPr>
              <a:t>所得税：包括企业所得税和个人所得税</a:t>
            </a:r>
            <a:endParaRPr lang="en-US" altLang="zh-CN" b="1" u="sng" dirty="0">
              <a:solidFill>
                <a:srgbClr val="FF0000"/>
              </a:solidFill>
            </a:endParaRPr>
          </a:p>
          <a:p>
            <a:r>
              <a:rPr lang="zh-CN" altLang="en-US" b="1" dirty="0">
                <a:solidFill>
                  <a:srgbClr val="FF0000"/>
                </a:solidFill>
              </a:rPr>
              <a:t>企业所得税</a:t>
            </a:r>
            <a:r>
              <a:rPr lang="zh-CN" altLang="en-US" dirty="0"/>
              <a:t>：对我国境内的企业和其他取得收入的组织的生产经营所得和其他所得征收的一种所得税。</a:t>
            </a:r>
            <a:endParaRPr lang="zh-CN" altLang="en-US" dirty="0"/>
          </a:p>
          <a:p>
            <a:r>
              <a:rPr lang="zh-CN" altLang="en-US" b="1" dirty="0"/>
              <a:t>纳税对象：</a:t>
            </a:r>
            <a:r>
              <a:rPr lang="zh-CN" altLang="en-US" dirty="0"/>
              <a:t>包括各类企业、事业单位、社会团体、民办非企业单位和从事经营活动的其他组织。</a:t>
            </a:r>
            <a:endParaRPr lang="zh-CN" altLang="en-US" dirty="0"/>
          </a:p>
          <a:p>
            <a:r>
              <a:rPr lang="zh-CN" altLang="en-US" b="1" dirty="0"/>
              <a:t>纳税税率：</a:t>
            </a:r>
            <a:r>
              <a:rPr lang="zh-CN" altLang="en-US" dirty="0"/>
              <a:t>企业所得税的税率为</a:t>
            </a:r>
            <a:r>
              <a:rPr lang="en-US" altLang="zh-CN" dirty="0">
                <a:solidFill>
                  <a:srgbClr val="FF0000"/>
                </a:solidFill>
              </a:rPr>
              <a:t>25%</a:t>
            </a:r>
            <a:r>
              <a:rPr lang="zh-CN" altLang="en-US" dirty="0"/>
              <a:t>的比例税率，非居民企业为</a:t>
            </a:r>
            <a:r>
              <a:rPr lang="en-US" altLang="zh-CN" dirty="0"/>
              <a:t>20%</a:t>
            </a:r>
            <a:r>
              <a:rPr lang="zh-CN" altLang="en-US" dirty="0"/>
              <a:t>。</a:t>
            </a:r>
            <a:endParaRPr lang="zh-CN" altLang="en-US" dirty="0"/>
          </a:p>
          <a:p>
            <a:endParaRPr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descr="https://www.ft.com/__origami/service/image/v2/images/raw/https%253A%252F%252Fs3-ap-northeast-1.amazonaws.com%252Fpsh-ex-ftnikkei-3937bb4%252Fimages%252F_aliases%252Farticleimage%252F5%252F1%252F6%252F4%252F18474615-1-eng-GB%252F20181218%2520Corporate%2520Burden%2520Hrz.png?source=nar-cms"/>
          <p:cNvPicPr>
            <a:picLocks noChangeAspect="1" noChangeArrowheads="1"/>
          </p:cNvPicPr>
          <p:nvPr/>
        </p:nvPicPr>
        <p:blipFill>
          <a:blip r:embed="rId1" cstate="print"/>
          <a:srcRect/>
          <a:stretch>
            <a:fillRect/>
          </a:stretch>
        </p:blipFill>
        <p:spPr bwMode="auto">
          <a:xfrm>
            <a:off x="899592" y="350164"/>
            <a:ext cx="7108701" cy="6507836"/>
          </a:xfrm>
          <a:prstGeom prst="rect">
            <a:avLst/>
          </a:prstGeo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2656"/>
            <a:ext cx="8229600" cy="796950"/>
          </a:xfrm>
        </p:spPr>
        <p:txBody>
          <a:bodyPr/>
          <a:lstStyle/>
          <a:p>
            <a:r>
              <a:rPr lang="zh-CN" altLang="en-US" b="1" dirty="0">
                <a:solidFill>
                  <a:srgbClr val="4E02BE"/>
                </a:solidFill>
              </a:rPr>
              <a:t>我国的税种</a:t>
            </a:r>
            <a:endParaRPr lang="zh-CN" altLang="en-US" dirty="0"/>
          </a:p>
        </p:txBody>
      </p:sp>
      <p:sp>
        <p:nvSpPr>
          <p:cNvPr id="3" name="内容占位符 2"/>
          <p:cNvSpPr>
            <a:spLocks noGrp="1"/>
          </p:cNvSpPr>
          <p:nvPr>
            <p:ph idx="1"/>
          </p:nvPr>
        </p:nvSpPr>
        <p:spPr>
          <a:xfrm>
            <a:off x="457200" y="1268760"/>
            <a:ext cx="8229600" cy="4857403"/>
          </a:xfrm>
        </p:spPr>
        <p:txBody>
          <a:bodyPr/>
          <a:lstStyle/>
          <a:p>
            <a:r>
              <a:rPr lang="zh-CN" altLang="en-US" b="1" dirty="0">
                <a:solidFill>
                  <a:srgbClr val="FF0000"/>
                </a:solidFill>
              </a:rPr>
              <a:t>个人所得税：</a:t>
            </a:r>
            <a:r>
              <a:rPr lang="zh-CN" altLang="en-US" dirty="0"/>
              <a:t>国家对本国公民、居住在本国境内的个人的所得和境外个人来源于本国的所得征收的一种所得税。</a:t>
            </a:r>
            <a:endParaRPr lang="zh-CN" altLang="en-US" dirty="0"/>
          </a:p>
        </p:txBody>
      </p:sp>
      <p:pic>
        <p:nvPicPr>
          <p:cNvPr id="32770" name="Picture 2" descr="https://bkimg.cdn.bcebos.com/pic/377adab44aed2e73838b48368a01a18b87d6fa4e?x-bce-process=image/resize,m_lfit,w_1050,limit_1/format,f_auto"/>
          <p:cNvPicPr>
            <a:picLocks noChangeAspect="1" noChangeArrowheads="1"/>
          </p:cNvPicPr>
          <p:nvPr/>
        </p:nvPicPr>
        <p:blipFill>
          <a:blip r:embed="rId1" cstate="print"/>
          <a:srcRect/>
          <a:stretch>
            <a:fillRect/>
          </a:stretch>
        </p:blipFill>
        <p:spPr bwMode="auto">
          <a:xfrm>
            <a:off x="2483768" y="2780928"/>
            <a:ext cx="4176464" cy="3976922"/>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descr="https://gimg2.baidu.com/image_search/src=http%3A%2F%2Fal3.acc5.com%2F_5fcb2f9c8f346.png&amp;refer=http%3A%2F%2Fal3.acc5.com&amp;app=2002&amp;size=f9999,10000&amp;q=a80&amp;n=0&amp;g=0n&amp;fmt=auto?sec=1656561670&amp;t=8823842920bf9f771f98a6492de96196"/>
          <p:cNvPicPr>
            <a:picLocks noChangeAspect="1" noChangeArrowheads="1"/>
          </p:cNvPicPr>
          <p:nvPr/>
        </p:nvPicPr>
        <p:blipFill>
          <a:blip r:embed="rId1" cstate="print"/>
          <a:srcRect/>
          <a:stretch>
            <a:fillRect/>
          </a:stretch>
        </p:blipFill>
        <p:spPr bwMode="auto">
          <a:xfrm>
            <a:off x="539552" y="260648"/>
            <a:ext cx="7848872" cy="6054844"/>
          </a:xfrm>
          <a:prstGeom prst="rect">
            <a:avLst/>
          </a:prstGeom>
          <a:no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pic>
        <p:nvPicPr>
          <p:cNvPr id="1026" name="Picture 2" descr="Infographic: Income Tax Around The World | Statista"/>
          <p:cNvPicPr>
            <a:picLocks noChangeAspect="1" noChangeArrowheads="1"/>
          </p:cNvPicPr>
          <p:nvPr/>
        </p:nvPicPr>
        <p:blipFill>
          <a:blip r:embed="rId1" cstate="print"/>
          <a:srcRect/>
          <a:stretch>
            <a:fillRect/>
          </a:stretch>
        </p:blipFill>
        <p:spPr bwMode="auto">
          <a:xfrm>
            <a:off x="179512" y="260648"/>
            <a:ext cx="8691492" cy="6192688"/>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solidFill>
                  <a:srgbClr val="4E02BE"/>
                </a:solidFill>
              </a:rPr>
              <a:t>我国的税种</a:t>
            </a:r>
            <a:endParaRPr lang="zh-CN" altLang="en-US" dirty="0"/>
          </a:p>
        </p:txBody>
      </p:sp>
      <p:sp>
        <p:nvSpPr>
          <p:cNvPr id="3" name="内容占位符 2"/>
          <p:cNvSpPr>
            <a:spLocks noGrp="1"/>
          </p:cNvSpPr>
          <p:nvPr>
            <p:ph idx="1"/>
          </p:nvPr>
        </p:nvSpPr>
        <p:spPr/>
        <p:txBody>
          <a:bodyPr/>
          <a:lstStyle/>
          <a:p>
            <a:r>
              <a:rPr lang="zh-CN" altLang="en-US" dirty="0">
                <a:solidFill>
                  <a:srgbClr val="FF0000"/>
                </a:solidFill>
              </a:rPr>
              <a:t>财产税</a:t>
            </a:r>
            <a:r>
              <a:rPr lang="zh-CN" altLang="en-US" dirty="0"/>
              <a:t>：资源税、房产税、城镇土地使用税、耕地占用税、土地增值税、车辆购置税、车船税、船舶吨税、契税</a:t>
            </a:r>
            <a:endParaRPr lang="en-US" altLang="zh-CN" dirty="0"/>
          </a:p>
          <a:p>
            <a:r>
              <a:rPr lang="zh-CN" altLang="en-US" dirty="0">
                <a:solidFill>
                  <a:srgbClr val="FF0000"/>
                </a:solidFill>
              </a:rPr>
              <a:t>行为税</a:t>
            </a:r>
            <a:r>
              <a:rPr lang="zh-CN" altLang="en-US" dirty="0"/>
              <a:t>：印花税、环境保护税、烟叶税</a:t>
            </a:r>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000" b="1" dirty="0">
                <a:solidFill>
                  <a:srgbClr val="0B38B5"/>
                </a:solidFill>
              </a:rPr>
              <a:t>税收立法</a:t>
            </a:r>
            <a:endParaRPr lang="zh-CN" altLang="en-US" sz="4000" b="1" dirty="0">
              <a:solidFill>
                <a:srgbClr val="0B38B5"/>
              </a:solidFill>
            </a:endParaRPr>
          </a:p>
        </p:txBody>
      </p:sp>
      <p:sp>
        <p:nvSpPr>
          <p:cNvPr id="3" name="内容占位符 2"/>
          <p:cNvSpPr>
            <a:spLocks noGrp="1"/>
          </p:cNvSpPr>
          <p:nvPr>
            <p:ph idx="1"/>
          </p:nvPr>
        </p:nvSpPr>
        <p:spPr/>
        <p:txBody>
          <a:bodyPr>
            <a:normAutofit/>
          </a:bodyPr>
          <a:lstStyle/>
          <a:p>
            <a:r>
              <a:rPr lang="zh-CN" altLang="en-US" b="1" dirty="0">
                <a:solidFill>
                  <a:srgbClr val="FF0000"/>
                </a:solidFill>
              </a:rPr>
              <a:t>现行</a:t>
            </a:r>
            <a:r>
              <a:rPr lang="en-US" altLang="zh-CN" b="1" dirty="0">
                <a:solidFill>
                  <a:srgbClr val="FF0000"/>
                </a:solidFill>
              </a:rPr>
              <a:t>18</a:t>
            </a:r>
            <a:r>
              <a:rPr lang="zh-CN" altLang="en-US" b="1" dirty="0">
                <a:solidFill>
                  <a:srgbClr val="FF0000"/>
                </a:solidFill>
              </a:rPr>
              <a:t>个税种已有</a:t>
            </a:r>
            <a:r>
              <a:rPr lang="en-US" altLang="zh-CN" b="1" dirty="0">
                <a:solidFill>
                  <a:srgbClr val="FF0000"/>
                </a:solidFill>
              </a:rPr>
              <a:t>13</a:t>
            </a:r>
            <a:r>
              <a:rPr lang="zh-CN" altLang="en-US" b="1" dirty="0">
                <a:solidFill>
                  <a:srgbClr val="FF0000"/>
                </a:solidFill>
              </a:rPr>
              <a:t>个通过立法</a:t>
            </a:r>
            <a:endParaRPr lang="en-US" altLang="zh-CN" b="1" dirty="0">
              <a:solidFill>
                <a:srgbClr val="FF0000"/>
              </a:solidFill>
            </a:endParaRPr>
          </a:p>
          <a:p>
            <a:r>
              <a:rPr lang="zh-CN" altLang="en-US" b="1" dirty="0"/>
              <a:t>实体法：</a:t>
            </a:r>
            <a:r>
              <a:rPr lang="zh-CN" altLang="en-US" dirty="0"/>
              <a:t>企业所得税法、个人所得税法、车船税法、环境保护税法、烟叶税法、船舶吨税法、耕地占用税法、车辆购置税法、资源税法、契税法、城市维护建设税法、印花税法、</a:t>
            </a:r>
            <a:r>
              <a:rPr lang="zh-CN" altLang="en-US" dirty="0">
                <a:solidFill>
                  <a:srgbClr val="0B38B5"/>
                </a:solidFill>
              </a:rPr>
              <a:t>增值税法（</a:t>
            </a:r>
            <a:r>
              <a:rPr lang="en-US" altLang="zh-CN" dirty="0">
                <a:solidFill>
                  <a:srgbClr val="0B38B5"/>
                </a:solidFill>
              </a:rPr>
              <a:t>2024</a:t>
            </a:r>
            <a:r>
              <a:rPr lang="zh-CN" altLang="en-US" dirty="0">
                <a:solidFill>
                  <a:srgbClr val="0B38B5"/>
                </a:solidFill>
              </a:rPr>
              <a:t>年</a:t>
            </a:r>
            <a:r>
              <a:rPr lang="en-US" altLang="zh-CN" dirty="0">
                <a:solidFill>
                  <a:srgbClr val="0B38B5"/>
                </a:solidFill>
              </a:rPr>
              <a:t>12</a:t>
            </a:r>
            <a:r>
              <a:rPr lang="zh-CN" altLang="en-US" dirty="0">
                <a:solidFill>
                  <a:srgbClr val="0B38B5"/>
                </a:solidFill>
              </a:rPr>
              <a:t>月）</a:t>
            </a:r>
            <a:endParaRPr lang="en-US" altLang="zh-CN" dirty="0">
              <a:solidFill>
                <a:srgbClr val="0B38B5"/>
              </a:solidFill>
            </a:endParaRPr>
          </a:p>
          <a:p>
            <a:r>
              <a:rPr lang="zh-CN" altLang="en-US" b="1" dirty="0"/>
              <a:t>程序法：</a:t>
            </a:r>
            <a:r>
              <a:rPr lang="zh-CN" altLang="en-US" dirty="0"/>
              <a:t>税收征收管理法</a:t>
            </a:r>
            <a:endParaRPr lang="zh-CN" altLang="en-US" dirty="0"/>
          </a:p>
          <a:p>
            <a:endParaRPr lang="zh-CN" altLang="en-US" dirty="0"/>
          </a:p>
          <a:p>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000" b="1" dirty="0">
                <a:solidFill>
                  <a:srgbClr val="0B38B5"/>
                </a:solidFill>
              </a:rPr>
              <a:t>税收程序法</a:t>
            </a:r>
            <a:endParaRPr lang="zh-CN" altLang="en-US" sz="4000" b="1" dirty="0">
              <a:solidFill>
                <a:srgbClr val="0B38B5"/>
              </a:solidFill>
            </a:endParaRPr>
          </a:p>
        </p:txBody>
      </p:sp>
      <p:sp>
        <p:nvSpPr>
          <p:cNvPr id="3" name="内容占位符 2"/>
          <p:cNvSpPr>
            <a:spLocks noGrp="1"/>
          </p:cNvSpPr>
          <p:nvPr>
            <p:ph idx="1"/>
          </p:nvPr>
        </p:nvSpPr>
        <p:spPr/>
        <p:txBody>
          <a:bodyPr/>
          <a:lstStyle/>
          <a:p>
            <a:r>
              <a:rPr lang="zh-CN" altLang="en-US" dirty="0"/>
              <a:t>税务管理法律制度（税务登记、账证管理、纳税申报）</a:t>
            </a:r>
            <a:endParaRPr lang="en-US" altLang="zh-CN" dirty="0"/>
          </a:p>
          <a:p>
            <a:r>
              <a:rPr lang="zh-CN" altLang="en-US" dirty="0"/>
              <a:t>税款征收法律制度（征收方式、税额确定、纳税期限）</a:t>
            </a:r>
            <a:endParaRPr lang="en-US" altLang="zh-CN" dirty="0"/>
          </a:p>
          <a:p>
            <a:r>
              <a:rPr lang="zh-CN" altLang="en-US" dirty="0"/>
              <a:t>税款征收保障法律制度（税收保全、强制执行、税收优先权、代位权、撤销权）</a:t>
            </a:r>
            <a:endParaRPr lang="en-US" altLang="zh-CN" dirty="0"/>
          </a:p>
          <a:p>
            <a:r>
              <a:rPr lang="zh-CN" altLang="en-US" dirty="0"/>
              <a:t>税收稽查法律制度</a:t>
            </a:r>
            <a:endParaRPr lang="en-US" altLang="zh-CN" dirty="0"/>
          </a:p>
          <a:p>
            <a:r>
              <a:rPr lang="zh-CN" altLang="en-US" dirty="0"/>
              <a:t>税收争议解决法律制度</a:t>
            </a:r>
            <a:endParaRPr lang="en-US" altLang="zh-CN" dirty="0"/>
          </a:p>
          <a:p>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600" b="1" dirty="0">
                <a:solidFill>
                  <a:srgbClr val="FF0000"/>
                </a:solidFill>
              </a:rPr>
              <a:t>1994</a:t>
            </a:r>
            <a:r>
              <a:rPr lang="zh-CN" altLang="en-US" sz="3600" b="1" dirty="0">
                <a:solidFill>
                  <a:srgbClr val="FF0000"/>
                </a:solidFill>
              </a:rPr>
              <a:t>年分税制改革</a:t>
            </a:r>
            <a:endParaRPr lang="zh-CN" altLang="en-US" sz="3600" b="1" dirty="0">
              <a:solidFill>
                <a:srgbClr val="FF0000"/>
              </a:solidFill>
            </a:endParaRPr>
          </a:p>
        </p:txBody>
      </p:sp>
      <p:sp>
        <p:nvSpPr>
          <p:cNvPr id="3" name="内容占位符 2"/>
          <p:cNvSpPr>
            <a:spLocks noGrp="1"/>
          </p:cNvSpPr>
          <p:nvPr>
            <p:ph idx="1"/>
          </p:nvPr>
        </p:nvSpPr>
        <p:spPr/>
        <p:txBody>
          <a:bodyPr/>
          <a:lstStyle/>
          <a:p>
            <a:endParaRPr lang="zh-CN" altLang="en-US"/>
          </a:p>
        </p:txBody>
      </p:sp>
      <p:pic>
        <p:nvPicPr>
          <p:cNvPr id="4" name="Picture 2" descr="E:\交大201709\课题\SIFL地方债\20190422浙大公管学院讲课\中央与地方财政关系（1953-2009）.jpg"/>
          <p:cNvPicPr>
            <a:picLocks noChangeAspect="1" noChangeArrowheads="1"/>
          </p:cNvPicPr>
          <p:nvPr/>
        </p:nvPicPr>
        <p:blipFill>
          <a:blip r:embed="rId1" cstate="print"/>
          <a:srcRect/>
          <a:stretch>
            <a:fillRect/>
          </a:stretch>
        </p:blipFill>
        <p:spPr bwMode="auto">
          <a:xfrm>
            <a:off x="1115616" y="1484784"/>
            <a:ext cx="7053132" cy="4777202"/>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708920"/>
            <a:ext cx="8229600" cy="3417243"/>
          </a:xfrm>
        </p:spPr>
        <p:txBody>
          <a:bodyPr>
            <a:normAutofit/>
          </a:bodyPr>
          <a:lstStyle/>
          <a:p>
            <a:pPr algn="ctr">
              <a:buNone/>
            </a:pPr>
            <a:r>
              <a:rPr lang="en-US" altLang="zh-CN" sz="4800" b="1" dirty="0">
                <a:solidFill>
                  <a:srgbClr val="FF0000"/>
                </a:solidFill>
              </a:rPr>
              <a:t>END</a:t>
            </a:r>
            <a:endParaRPr lang="zh-CN" altLang="en-US" sz="4800" b="1" dirty="0">
              <a:solidFill>
                <a:srgbClr val="FF0000"/>
              </a:solidFill>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1581</Words>
  <Application>WPS 演示</Application>
  <PresentationFormat>全屏显示(4:3)</PresentationFormat>
  <Paragraphs>156</Paragraphs>
  <Slides>27</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27</vt:i4>
      </vt:variant>
    </vt:vector>
  </HeadingPairs>
  <TitlesOfParts>
    <vt:vector size="34" baseType="lpstr">
      <vt:lpstr>Arial</vt:lpstr>
      <vt:lpstr>宋体</vt:lpstr>
      <vt:lpstr>Wingdings</vt:lpstr>
      <vt:lpstr>Calibri</vt:lpstr>
      <vt:lpstr>微软雅黑</vt:lpstr>
      <vt:lpstr>Arial Unicode MS</vt:lpstr>
      <vt:lpstr>Office 主题</vt:lpstr>
      <vt:lpstr>第七讲</vt:lpstr>
      <vt:lpstr>市场经济的特殊角色：公共经济主体</vt:lpstr>
      <vt:lpstr>公共产品</vt:lpstr>
      <vt:lpstr>财政行为</vt:lpstr>
      <vt:lpstr>财政法律制度的体系</vt:lpstr>
      <vt:lpstr>法律渊源</vt:lpstr>
      <vt:lpstr>政府财力</vt:lpstr>
      <vt:lpstr>预算法</vt:lpstr>
      <vt:lpstr>税收</vt:lpstr>
      <vt:lpstr>税收特性</vt:lpstr>
      <vt:lpstr>《大宪章》</vt:lpstr>
      <vt:lpstr>税收的构成要素</vt:lpstr>
      <vt:lpstr>税收分类</vt:lpstr>
      <vt:lpstr>PowerPoint 演示文稿</vt:lpstr>
      <vt:lpstr>我国的税种</vt:lpstr>
      <vt:lpstr>我国的税种</vt:lpstr>
      <vt:lpstr>我国的税种</vt:lpstr>
      <vt:lpstr>我国的税种</vt:lpstr>
      <vt:lpstr>PowerPoint 演示文稿</vt:lpstr>
      <vt:lpstr>我国的税种</vt:lpstr>
      <vt:lpstr>PowerPoint 演示文稿</vt:lpstr>
      <vt:lpstr>PowerPoint 演示文稿</vt:lpstr>
      <vt:lpstr>我国的税种</vt:lpstr>
      <vt:lpstr>税收立法</vt:lpstr>
      <vt:lpstr>税收程序法</vt:lpstr>
      <vt:lpstr>1994年分税制改革</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第七讲</dc:title>
  <dc:creator>Huang Tao</dc:creator>
  <cp:lastModifiedBy>王彦成</cp:lastModifiedBy>
  <cp:revision>36</cp:revision>
  <dcterms:created xsi:type="dcterms:W3CDTF">2022-05-15T17:32:00Z</dcterms:created>
  <dcterms:modified xsi:type="dcterms:W3CDTF">2026-06-20T15:55:56Z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50B6EAF19BC34D7CA8D2AB8FF41960CA_13</vt:lpwstr>
  </property>
  <property fmtid="{D5CDD505-2E9C-101B-9397-08002B2CF9AE}" pid="3" name="KSOProductBuildVer">
    <vt:lpwstr>2052-12.1.0.17147</vt:lpwstr>
  </property>
</Properties>
</file>