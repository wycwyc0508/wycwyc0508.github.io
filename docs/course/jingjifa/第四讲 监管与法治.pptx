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71" r:id="rId5"/>
    <p:sldId id="260" r:id="rId6"/>
    <p:sldId id="259" r:id="rId7"/>
    <p:sldId id="258" r:id="rId8"/>
    <p:sldId id="273" r:id="rId9"/>
    <p:sldId id="262" r:id="rId10"/>
    <p:sldId id="263" r:id="rId11"/>
    <p:sldId id="265" r:id="rId12"/>
    <p:sldId id="266" r:id="rId13"/>
    <p:sldId id="268" r:id="rId14"/>
    <p:sldId id="269" r:id="rId15"/>
    <p:sldId id="270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64" r:id="rId2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3" d="100"/>
          <a:sy n="63" d="100"/>
        </p:scale>
        <p:origin x="119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hyperlink" Target="mailto:huangtao@zju.edu.c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95536" y="2130425"/>
            <a:ext cx="8280920" cy="2234679"/>
          </a:xfrm>
        </p:spPr>
        <p:txBody>
          <a:bodyPr>
            <a:noAutofit/>
          </a:bodyPr>
          <a:lstStyle/>
          <a:p>
            <a:r>
              <a:rPr lang="zh-CN" altLang="en-US" sz="5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第四讲</a:t>
            </a:r>
            <a:br>
              <a:rPr lang="en-US" altLang="zh-CN" sz="5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br>
              <a:rPr lang="en-US" altLang="zh-CN" sz="5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zh-CN" altLang="en-US" sz="6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监管与法治</a:t>
            </a:r>
            <a:endParaRPr lang="zh-CN" altLang="en-US" sz="5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1026" name="Picture 2" descr="C:\Users\y\Desktop\黄韬微信公众号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555235" y="0"/>
            <a:ext cx="1588765" cy="158876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/>
              <a:t>“强监管”周期</a:t>
            </a:r>
            <a:r>
              <a:rPr lang="en-US" altLang="zh-CN" sz="3600" b="1" dirty="0"/>
              <a:t>/</a:t>
            </a:r>
            <a:r>
              <a:rPr lang="zh-CN" altLang="en-US" sz="3600" b="1" dirty="0"/>
              <a:t>时代</a:t>
            </a:r>
            <a:endParaRPr lang="zh-CN" altLang="en-US" sz="36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具体指向：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金融</a:t>
            </a:r>
            <a:endParaRPr lang="en-US" altLang="zh-CN" dirty="0"/>
          </a:p>
          <a:p>
            <a:r>
              <a:rPr lang="zh-CN" altLang="en-US" dirty="0"/>
              <a:t>房地产</a:t>
            </a:r>
            <a:endParaRPr lang="en-US" altLang="zh-CN" dirty="0"/>
          </a:p>
          <a:p>
            <a:r>
              <a:rPr lang="zh-CN" altLang="en-US" dirty="0"/>
              <a:t>互联网</a:t>
            </a:r>
            <a:endParaRPr lang="en-US" altLang="zh-CN" dirty="0"/>
          </a:p>
          <a:p>
            <a:r>
              <a:rPr lang="zh-CN" altLang="en-US" dirty="0"/>
              <a:t>教育培训</a:t>
            </a:r>
            <a:endParaRPr lang="en-US" altLang="zh-CN" dirty="0"/>
          </a:p>
          <a:p>
            <a:r>
              <a:rPr lang="zh-CN" altLang="en-US" dirty="0"/>
              <a:t>带货</a:t>
            </a:r>
            <a:endParaRPr lang="en-US" altLang="zh-CN" dirty="0"/>
          </a:p>
          <a:p>
            <a:r>
              <a:rPr lang="zh-CN" altLang="en-US" dirty="0"/>
              <a:t>游戏</a:t>
            </a:r>
            <a:endParaRPr lang="en-US" altLang="zh-CN" dirty="0"/>
          </a:p>
          <a:p>
            <a:r>
              <a:rPr lang="zh-CN" altLang="en-US" dirty="0"/>
              <a:t>医药</a:t>
            </a:r>
            <a:endParaRPr lang="en-US" altLang="zh-CN" dirty="0"/>
          </a:p>
          <a:p>
            <a:r>
              <a:rPr lang="zh-CN" altLang="en-US" dirty="0"/>
              <a:t>娱乐行业“粉圈”</a:t>
            </a:r>
            <a:endParaRPr lang="en-US" altLang="zh-CN" dirty="0"/>
          </a:p>
          <a:p>
            <a:r>
              <a:rPr lang="en-US" altLang="zh-CN" dirty="0"/>
              <a:t>……</a:t>
            </a:r>
            <a:endParaRPr lang="en-US" altLang="zh-CN" dirty="0"/>
          </a:p>
          <a:p>
            <a:r>
              <a:rPr lang="zh-CN" altLang="en-US" dirty="0">
                <a:solidFill>
                  <a:srgbClr val="0000FF"/>
                </a:solidFill>
              </a:rPr>
              <a:t>如何在“依法治国”政治定位下理解这些现象？</a:t>
            </a:r>
            <a:endParaRPr lang="zh-CN" alt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交大201709\备课\浙大\经济法（法学院本科）\中概股跌幅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31640" y="241598"/>
            <a:ext cx="6624736" cy="661640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b="1" dirty="0"/>
              <a:t>第一个观察和思考</a:t>
            </a:r>
            <a:endParaRPr lang="zh-CN" altLang="en-US" sz="40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</a:rPr>
              <a:t>“法律中性化”的格局是否会打破？</a:t>
            </a:r>
            <a:endParaRPr lang="en-US" altLang="zh-CN" dirty="0">
              <a:solidFill>
                <a:srgbClr val="0000FF"/>
              </a:solidFill>
            </a:endParaRPr>
          </a:p>
          <a:p>
            <a:r>
              <a:rPr lang="zh-CN" altLang="en-US" dirty="0"/>
              <a:t>改革开放</a:t>
            </a:r>
            <a:r>
              <a:rPr lang="en-US" altLang="zh-CN" dirty="0"/>
              <a:t>40</a:t>
            </a:r>
            <a:r>
              <a:rPr lang="zh-CN" altLang="en-US" dirty="0"/>
              <a:t>余年历史的经验：中性政府（姚洋）；中性法律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）去意识形态（对比拉美、印度）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）“做大蛋糕”重于“分蛋糕”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）监管周期（治乱周期）的自我修正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b="1" dirty="0"/>
              <a:t>第一个观察和思考</a:t>
            </a:r>
            <a:endParaRPr lang="zh-CN" altLang="en-US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</a:rPr>
              <a:t>现实挑战：</a:t>
            </a:r>
            <a:endParaRPr lang="en-US" altLang="zh-CN" dirty="0">
              <a:solidFill>
                <a:srgbClr val="0000FF"/>
              </a:solidFill>
            </a:endParaRPr>
          </a:p>
          <a:p>
            <a:r>
              <a:rPr lang="zh-CN" altLang="en-US" dirty="0"/>
              <a:t>“发展是硬道理”共识的可能消解</a:t>
            </a:r>
            <a:endParaRPr lang="en-US" altLang="zh-CN" dirty="0"/>
          </a:p>
          <a:p>
            <a:r>
              <a:rPr lang="zh-CN" altLang="en-US" dirty="0"/>
              <a:t>“有为政府”的强化（共同富裕、</a:t>
            </a:r>
            <a:r>
              <a:rPr lang="en-US" altLang="zh-CN" dirty="0"/>
              <a:t>ESG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“节制资本”的历史循环（？）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当下是一个新的监管周期还是一个新的监管时代？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/>
              <a:t>第二个观察和思考</a:t>
            </a:r>
            <a:endParaRPr lang="zh-CN" altLang="en-US" sz="36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en-US" b="1" dirty="0">
                <a:solidFill>
                  <a:srgbClr val="0000FF"/>
                </a:solidFill>
              </a:rPr>
              <a:t>监管法律自身的可能悖论</a:t>
            </a:r>
            <a:r>
              <a:rPr lang="zh-CN" altLang="en-US" dirty="0">
                <a:solidFill>
                  <a:srgbClr val="0000FF"/>
                </a:solidFill>
              </a:rPr>
              <a:t>：</a:t>
            </a:r>
            <a:endParaRPr lang="en-US" altLang="zh-CN" dirty="0">
              <a:solidFill>
                <a:srgbClr val="0000FF"/>
              </a:solidFill>
            </a:endParaRPr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r>
              <a:rPr lang="en-US" altLang="zh-CN" b="1" dirty="0"/>
              <a:t>1</a:t>
            </a:r>
            <a:r>
              <a:rPr lang="zh-CN" altLang="en-US" b="1" dirty="0"/>
              <a:t>）法律定位的政策目标多元化导致的可问责性减弱</a:t>
            </a:r>
            <a:endParaRPr lang="en-US" altLang="zh-CN" b="1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r>
              <a:rPr lang="zh-CN" altLang="en-US" dirty="0"/>
              <a:t>“既要</a:t>
            </a:r>
            <a:r>
              <a:rPr lang="en-US" altLang="zh-CN" dirty="0"/>
              <a:t>……</a:t>
            </a:r>
            <a:r>
              <a:rPr lang="zh-CN" altLang="en-US" dirty="0"/>
              <a:t>又要</a:t>
            </a:r>
            <a:r>
              <a:rPr lang="en-US" altLang="zh-CN" dirty="0"/>
              <a:t>……</a:t>
            </a:r>
            <a:r>
              <a:rPr lang="zh-CN" altLang="en-US" dirty="0"/>
              <a:t>还要”   </a:t>
            </a:r>
            <a:r>
              <a:rPr lang="zh-CN" altLang="en-US" dirty="0">
                <a:solidFill>
                  <a:srgbClr val="FF0000"/>
                </a:solidFill>
              </a:rPr>
              <a:t>（</a:t>
            </a:r>
            <a:r>
              <a:rPr lang="en-US" altLang="zh-CN" dirty="0">
                <a:solidFill>
                  <a:srgbClr val="FF0000"/>
                </a:solidFill>
              </a:rPr>
              <a:t>accountability</a:t>
            </a:r>
            <a:r>
              <a:rPr lang="zh-CN" altLang="en-US" dirty="0">
                <a:solidFill>
                  <a:srgbClr val="FF0000"/>
                </a:solidFill>
              </a:rPr>
              <a:t>问题）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r>
              <a:rPr lang="en-US" altLang="zh-CN" b="1" dirty="0"/>
              <a:t>2</a:t>
            </a:r>
            <a:r>
              <a:rPr lang="zh-CN" altLang="en-US" b="1" dirty="0"/>
              <a:t>）监管法律所宣示的政策目标与实际实现的社会结果之间的差异</a:t>
            </a:r>
            <a:endParaRPr lang="en-US" altLang="zh-CN" b="1" dirty="0"/>
          </a:p>
          <a:p>
            <a:endParaRPr lang="en-US" altLang="zh-CN" dirty="0"/>
          </a:p>
          <a:p>
            <a:r>
              <a:rPr lang="zh-CN" altLang="en-US" dirty="0"/>
              <a:t>金融监管法；反垄断法；劳动法；环境法；个人信息保护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11560" y="476671"/>
            <a:ext cx="7344816" cy="58758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b="1" dirty="0"/>
              <a:t>第三个观察和思考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484784"/>
            <a:ext cx="8229600" cy="5517232"/>
          </a:xfrm>
        </p:spPr>
        <p:txBody>
          <a:bodyPr>
            <a:normAutofit lnSpcReduction="10000"/>
          </a:bodyPr>
          <a:lstStyle/>
          <a:p>
            <a:r>
              <a:rPr lang="zh-CN" altLang="en-US" sz="2800" b="1" dirty="0">
                <a:solidFill>
                  <a:srgbClr val="0000FF"/>
                </a:solidFill>
              </a:rPr>
              <a:t>法律与政策的可预期性问题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endParaRPr lang="en-US" altLang="zh-CN" sz="2000" dirty="0"/>
          </a:p>
          <a:p>
            <a:r>
              <a:rPr lang="zh-CN" altLang="en-US" sz="2800" dirty="0"/>
              <a:t>如何理解“依法治国”？</a:t>
            </a:r>
            <a:endParaRPr lang="en-US" altLang="zh-CN" sz="2800" dirty="0"/>
          </a:p>
          <a:p>
            <a:r>
              <a:rPr lang="en-US" altLang="zh-CN" sz="2800" dirty="0"/>
              <a:t>《</a:t>
            </a:r>
            <a:r>
              <a:rPr lang="zh-CN" altLang="en-US" sz="2800" dirty="0"/>
              <a:t>立法法</a:t>
            </a:r>
            <a:r>
              <a:rPr lang="en-US" altLang="zh-CN" sz="2800" dirty="0"/>
              <a:t>》</a:t>
            </a:r>
            <a:r>
              <a:rPr lang="zh-CN" altLang="en-US" sz="2800" dirty="0"/>
              <a:t>指向的法律与“文件治国”</a:t>
            </a:r>
            <a:endParaRPr lang="en-US" altLang="zh-CN" sz="2800" dirty="0"/>
          </a:p>
          <a:p>
            <a:endParaRPr lang="en-US" altLang="zh-CN" sz="2400" dirty="0"/>
          </a:p>
          <a:p>
            <a:r>
              <a:rPr lang="en-US" altLang="zh-CN" sz="2000" dirty="0"/>
              <a:t>2021</a:t>
            </a:r>
            <a:r>
              <a:rPr lang="zh-CN" altLang="en-US" sz="2000" dirty="0"/>
              <a:t>年</a:t>
            </a:r>
            <a:r>
              <a:rPr lang="en-US" altLang="zh-CN" sz="2000" dirty="0"/>
              <a:t>7</a:t>
            </a:r>
            <a:r>
              <a:rPr lang="zh-CN" altLang="en-US" sz="2000" dirty="0"/>
              <a:t>月</a:t>
            </a:r>
            <a:r>
              <a:rPr lang="en-US" altLang="zh-CN" sz="2000" dirty="0"/>
              <a:t>6</a:t>
            </a:r>
            <a:r>
              <a:rPr lang="zh-CN" altLang="en-US" sz="2000" dirty="0"/>
              <a:t>日，中办、国办</a:t>
            </a:r>
            <a:r>
              <a:rPr lang="en-US" altLang="zh-CN" sz="2000" dirty="0"/>
              <a:t>《</a:t>
            </a:r>
            <a:r>
              <a:rPr lang="zh-CN" altLang="en-US" sz="2000" dirty="0"/>
              <a:t>关于依法从严打击证券违法活动的意见</a:t>
            </a:r>
            <a:r>
              <a:rPr lang="en-US" altLang="zh-CN" sz="2000" dirty="0"/>
              <a:t>》</a:t>
            </a:r>
            <a:endParaRPr lang="en-US" altLang="zh-CN" sz="2000" dirty="0"/>
          </a:p>
          <a:p>
            <a:r>
              <a:rPr lang="en-US" altLang="zh-CN" sz="2000" dirty="0"/>
              <a:t>2021</a:t>
            </a:r>
            <a:r>
              <a:rPr lang="zh-CN" altLang="en-US" sz="2000" dirty="0"/>
              <a:t>年</a:t>
            </a:r>
            <a:r>
              <a:rPr lang="en-US" altLang="zh-CN" sz="2000" dirty="0"/>
              <a:t>7</a:t>
            </a:r>
            <a:r>
              <a:rPr lang="zh-CN" altLang="en-US" sz="2000" dirty="0"/>
              <a:t>月</a:t>
            </a:r>
            <a:r>
              <a:rPr lang="en-US" altLang="zh-CN" sz="2000" dirty="0"/>
              <a:t>24</a:t>
            </a:r>
            <a:r>
              <a:rPr lang="zh-CN" altLang="en-US" sz="2000" dirty="0"/>
              <a:t>日，中办、国办</a:t>
            </a:r>
            <a:r>
              <a:rPr lang="en-US" altLang="zh-CN" sz="2000" dirty="0"/>
              <a:t>《</a:t>
            </a:r>
            <a:r>
              <a:rPr lang="zh-CN" altLang="en-US" sz="2000" dirty="0"/>
              <a:t>关于进一步减轻义务教育阶段学生作业负担和校外培训负担的意见</a:t>
            </a:r>
            <a:r>
              <a:rPr lang="en-US" altLang="zh-CN" sz="2000" dirty="0"/>
              <a:t>》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法律文件的颁行主体；颁行时间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《</a:t>
            </a:r>
            <a:r>
              <a:rPr lang="zh-CN" altLang="en-US" sz="2000" dirty="0"/>
              <a:t>经济参考报</a:t>
            </a:r>
            <a:r>
              <a:rPr lang="en-US" altLang="zh-CN" sz="2000" dirty="0"/>
              <a:t>》</a:t>
            </a:r>
            <a:r>
              <a:rPr lang="zh-CN" altLang="en-US" sz="2000" dirty="0"/>
              <a:t>：网络游戏是鸦片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b="1" dirty="0">
                <a:solidFill>
                  <a:srgbClr val="FF0000"/>
                </a:solidFill>
              </a:rPr>
              <a:t>营商环境的隐性指标；中概股信息披露的困境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b="1" dirty="0"/>
              <a:t>互联网行业</a:t>
            </a:r>
            <a:endParaRPr lang="zh-CN" altLang="en-US" sz="40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2020-2021</a:t>
            </a:r>
            <a:r>
              <a:rPr lang="zh-CN" altLang="en-US" dirty="0">
                <a:solidFill>
                  <a:srgbClr val="FF0000"/>
                </a:solidFill>
              </a:rPr>
              <a:t>：从蚂蚁到滴滴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/>
          </a:p>
          <a:p>
            <a:r>
              <a:rPr lang="zh-CN" altLang="en-US" dirty="0"/>
              <a:t>互联网金融</a:t>
            </a:r>
            <a:r>
              <a:rPr lang="en-US" altLang="zh-CN" dirty="0"/>
              <a:t>/</a:t>
            </a:r>
            <a:r>
              <a:rPr lang="zh-CN" altLang="en-US" dirty="0"/>
              <a:t>金融科技：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持牌经营；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银行化监管（巴塞尔协议；去杠杆）</a:t>
            </a:r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互联网行业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两大合规压力来源：反垄断；信息</a:t>
            </a:r>
            <a:r>
              <a:rPr lang="en-US" altLang="zh-CN" dirty="0"/>
              <a:t>/</a:t>
            </a:r>
            <a:r>
              <a:rPr lang="zh-CN" altLang="en-US" dirty="0"/>
              <a:t>数据合规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反垄断问题：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《</a:t>
            </a:r>
            <a:r>
              <a:rPr lang="zh-CN" altLang="en-US" dirty="0"/>
              <a:t>反垄断法</a:t>
            </a:r>
            <a:r>
              <a:rPr lang="en-US" altLang="zh-CN" dirty="0"/>
              <a:t>》</a:t>
            </a:r>
            <a:r>
              <a:rPr lang="zh-CN" altLang="en-US" dirty="0"/>
              <a:t>的功能：反“垄断”本身？</a:t>
            </a:r>
            <a:endParaRPr lang="en-US" altLang="zh-CN" dirty="0"/>
          </a:p>
          <a:p>
            <a:r>
              <a:rPr lang="zh-CN" altLang="en-US" dirty="0"/>
              <a:t>差别化执法问题</a:t>
            </a:r>
            <a:endParaRPr lang="en-US" altLang="zh-CN" dirty="0"/>
          </a:p>
          <a:p>
            <a:r>
              <a:rPr lang="zh-CN" altLang="en-US" dirty="0"/>
              <a:t>互联网行业的特殊性：放弃了审慎包容的原则？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互联网行业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个人信息保护问题：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/>
          </a:p>
          <a:p>
            <a:r>
              <a:rPr lang="zh-CN" altLang="en-US" dirty="0"/>
              <a:t>政策目标的权衡“保护”与“共享、利用”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“个体”信息的保护？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（滴滴案例；中概股当下面临的制度环境）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b="1" dirty="0">
                <a:solidFill>
                  <a:srgbClr val="0000CC"/>
                </a:solidFill>
              </a:rPr>
              <a:t>预算软约束与法治软约束</a:t>
            </a:r>
            <a:endParaRPr lang="zh-CN" altLang="en-US" sz="4000" b="1" dirty="0">
              <a:solidFill>
                <a:srgbClr val="0000CC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37112"/>
          </a:xfrm>
        </p:spPr>
        <p:txBody>
          <a:bodyPr>
            <a:normAutofit fontScale="77500" lnSpcReduction="20000"/>
          </a:bodyPr>
          <a:lstStyle/>
          <a:p>
            <a:r>
              <a:rPr lang="zh-CN" altLang="en-US" sz="3600" dirty="0">
                <a:solidFill>
                  <a:srgbClr val="FF0000"/>
                </a:solidFill>
                <a:latin typeface="+mn-ea"/>
              </a:rPr>
              <a:t>预算软约束：</a:t>
            </a:r>
            <a:r>
              <a:rPr lang="zh-CN" altLang="en-US" sz="3600" dirty="0">
                <a:latin typeface="+mn-ea"/>
              </a:rPr>
              <a:t>向企业提供资金的机构</a:t>
            </a:r>
            <a:r>
              <a:rPr lang="en-US" altLang="zh-CN" sz="3600" dirty="0">
                <a:latin typeface="+mn-ea"/>
              </a:rPr>
              <a:t>(</a:t>
            </a:r>
            <a:r>
              <a:rPr lang="zh-CN" altLang="en-US" sz="3600" dirty="0">
                <a:latin typeface="+mn-ea"/>
              </a:rPr>
              <a:t>政府或银行</a:t>
            </a:r>
            <a:r>
              <a:rPr lang="en-US" altLang="zh-CN" sz="3600" dirty="0">
                <a:latin typeface="+mn-ea"/>
              </a:rPr>
              <a:t>)</a:t>
            </a:r>
            <a:r>
              <a:rPr lang="zh-CN" altLang="en-US" sz="3600" dirty="0">
                <a:latin typeface="+mn-ea"/>
              </a:rPr>
              <a:t>未能坚持原先的商业约定，使企业的资金运用超过了它的当期收益的范围。这种现象被亚诺什</a:t>
            </a:r>
            <a:r>
              <a:rPr lang="en-US" altLang="zh-CN" sz="3600" dirty="0">
                <a:latin typeface="+mn-ea"/>
              </a:rPr>
              <a:t>·</a:t>
            </a:r>
            <a:r>
              <a:rPr lang="zh-CN" altLang="en-US" sz="3600" dirty="0">
                <a:latin typeface="+mn-ea"/>
              </a:rPr>
              <a:t>科尔奈 </a:t>
            </a:r>
            <a:r>
              <a:rPr lang="en-US" altLang="zh-CN" sz="3600" dirty="0">
                <a:latin typeface="+mn-ea"/>
              </a:rPr>
              <a:t>(</a:t>
            </a:r>
            <a:r>
              <a:rPr lang="en-US" altLang="zh-CN" sz="3600" dirty="0" err="1">
                <a:latin typeface="+mn-ea"/>
              </a:rPr>
              <a:t>Kornai</a:t>
            </a:r>
            <a:r>
              <a:rPr lang="en-US" altLang="zh-CN" sz="3600" dirty="0">
                <a:latin typeface="+mn-ea"/>
              </a:rPr>
              <a:t>) </a:t>
            </a:r>
            <a:r>
              <a:rPr lang="zh-CN" altLang="en-US" sz="3600" dirty="0">
                <a:latin typeface="+mn-ea"/>
              </a:rPr>
              <a:t>称为“预算软约束”。</a:t>
            </a:r>
            <a:endParaRPr lang="en-US" altLang="zh-CN" sz="3600" dirty="0">
              <a:latin typeface="+mn-ea"/>
            </a:endParaRPr>
          </a:p>
          <a:p>
            <a:r>
              <a:rPr lang="zh-CN" altLang="en-US" sz="3600" b="1" dirty="0">
                <a:latin typeface="+mn-ea"/>
              </a:rPr>
              <a:t>扩展至全体的公共部门</a:t>
            </a:r>
            <a:endParaRPr lang="en-US" altLang="zh-CN" sz="3600" b="1" dirty="0">
              <a:latin typeface="+mn-ea"/>
            </a:endParaRPr>
          </a:p>
          <a:p>
            <a:r>
              <a:rPr lang="zh-CN" altLang="en-US" sz="3600" dirty="0">
                <a:latin typeface="+mn-ea"/>
              </a:rPr>
              <a:t>典型例证：国有企业；现实中国的地方债务问题</a:t>
            </a:r>
            <a:endParaRPr lang="en-US" altLang="zh-CN" sz="3600" dirty="0">
              <a:latin typeface="+mn-ea"/>
            </a:endParaRPr>
          </a:p>
          <a:p>
            <a:r>
              <a:rPr lang="zh-CN" altLang="en-US" sz="3600" dirty="0">
                <a:solidFill>
                  <a:srgbClr val="FF0000"/>
                </a:solidFill>
                <a:latin typeface="+mn-ea"/>
              </a:rPr>
              <a:t>法治软约束：</a:t>
            </a:r>
            <a:r>
              <a:rPr lang="zh-CN" altLang="en-US" sz="3600" dirty="0">
                <a:latin typeface="+mn-ea"/>
              </a:rPr>
              <a:t>在一般或特定情形下，国家行使管制权力的范围和形式可以超越法律的边界</a:t>
            </a:r>
            <a:endParaRPr lang="en-US" altLang="zh-CN" sz="3600" dirty="0">
              <a:latin typeface="+mn-ea"/>
            </a:endParaRPr>
          </a:p>
          <a:p>
            <a:endParaRPr lang="en-US" altLang="zh-CN" sz="3600" dirty="0">
              <a:latin typeface="+mn-ea"/>
            </a:endParaRPr>
          </a:p>
          <a:p>
            <a:r>
              <a:rPr lang="zh-CN" altLang="en-US" sz="3600" dirty="0">
                <a:solidFill>
                  <a:srgbClr val="0000FF"/>
                </a:solidFill>
                <a:latin typeface="+mn-ea"/>
              </a:rPr>
              <a:t>中国防疫措施的特征：</a:t>
            </a:r>
            <a:r>
              <a:rPr lang="zh-CN" altLang="en-US" sz="3600" dirty="0">
                <a:latin typeface="+mn-ea"/>
              </a:rPr>
              <a:t>预算软约束（不惜一切代价）</a:t>
            </a:r>
            <a:r>
              <a:rPr lang="en-US" altLang="zh-CN" sz="3600" dirty="0">
                <a:latin typeface="+mn-ea"/>
              </a:rPr>
              <a:t>+</a:t>
            </a:r>
            <a:r>
              <a:rPr lang="zh-CN" altLang="en-US" sz="3600" dirty="0">
                <a:latin typeface="+mn-ea"/>
              </a:rPr>
              <a:t>法治软约束（特殊时期“不得已”）</a:t>
            </a:r>
            <a:endParaRPr lang="en-US" altLang="zh-CN" sz="3600" dirty="0">
              <a:latin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00CC"/>
                </a:solidFill>
              </a:rPr>
              <a:t>“弱法治”悖论</a:t>
            </a:r>
            <a:endParaRPr lang="zh-CN" altLang="en-US" b="1" dirty="0">
              <a:solidFill>
                <a:srgbClr val="0000CC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“弱法治”的优势：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dirty="0"/>
              <a:t>集中力量办大事</a:t>
            </a:r>
            <a:endParaRPr lang="en-US" altLang="zh-CN" dirty="0"/>
          </a:p>
          <a:p>
            <a:r>
              <a:rPr lang="zh-CN" altLang="en-US" dirty="0"/>
              <a:t>“不惜一切代价”的决心（精神力量）</a:t>
            </a:r>
            <a:endParaRPr lang="en-US" altLang="zh-CN" dirty="0"/>
          </a:p>
          <a:p>
            <a:r>
              <a:rPr lang="zh-CN" altLang="en-US" dirty="0"/>
              <a:t>节省交易成本</a:t>
            </a:r>
            <a:endParaRPr lang="en-US" altLang="zh-CN" dirty="0"/>
          </a:p>
          <a:p>
            <a:r>
              <a:rPr lang="zh-CN" altLang="en-US" dirty="0"/>
              <a:t>执行力强</a:t>
            </a:r>
            <a:endParaRPr lang="en-US" altLang="zh-CN" dirty="0"/>
          </a:p>
          <a:p>
            <a:r>
              <a:rPr lang="zh-CN" altLang="en-US" dirty="0">
                <a:solidFill>
                  <a:srgbClr val="0000CC"/>
                </a:solidFill>
              </a:rPr>
              <a:t>实现条件：为什么其他国家没有办法“抄作业”？ （中国唯一性的原因何在？）</a:t>
            </a:r>
            <a:endParaRPr lang="en-US" altLang="zh-CN" dirty="0">
              <a:solidFill>
                <a:srgbClr val="0000CC"/>
              </a:solidFill>
            </a:endParaRPr>
          </a:p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00CC"/>
                </a:solidFill>
              </a:rPr>
              <a:t>“弱法治”悖论</a:t>
            </a:r>
            <a:endParaRPr lang="zh-CN" altLang="en-US" dirty="0">
              <a:solidFill>
                <a:srgbClr val="0000CC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484784"/>
            <a:ext cx="8229600" cy="4824536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“弱法治”可能带来的问题：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en-US" altLang="zh-CN" dirty="0"/>
              <a:t>1. </a:t>
            </a:r>
            <a:r>
              <a:rPr lang="zh-CN" altLang="en-US" dirty="0"/>
              <a:t>社会成员分摊了资源调动的成本</a:t>
            </a:r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“预算软约束”导致“道德风险”问题</a:t>
            </a:r>
            <a:endParaRPr lang="en-US" altLang="zh-CN" dirty="0"/>
          </a:p>
          <a:p>
            <a:r>
              <a:rPr lang="en-US" altLang="zh-CN" dirty="0"/>
              <a:t>3. </a:t>
            </a:r>
            <a:r>
              <a:rPr lang="zh-CN" altLang="en-US" dirty="0"/>
              <a:t>隐性税负；“劫贫济富”</a:t>
            </a:r>
            <a:endParaRPr lang="en-US" altLang="zh-CN" dirty="0"/>
          </a:p>
          <a:p>
            <a:r>
              <a:rPr lang="en-US" altLang="zh-CN" dirty="0"/>
              <a:t>4. </a:t>
            </a:r>
            <a:r>
              <a:rPr lang="zh-CN" altLang="en-US" dirty="0"/>
              <a:t>公共政策调整的刚性（只能强化，不能弱化）</a:t>
            </a:r>
            <a:endParaRPr lang="en-US" altLang="zh-CN" dirty="0"/>
          </a:p>
          <a:p>
            <a:r>
              <a:rPr lang="en-US" altLang="zh-CN" dirty="0"/>
              <a:t>5. </a:t>
            </a:r>
            <a:r>
              <a:rPr lang="zh-CN" altLang="en-US" dirty="0"/>
              <a:t>个人自由、隐私权利与社会控制的平衡</a:t>
            </a:r>
            <a:endParaRPr lang="en-US" altLang="zh-CN" dirty="0"/>
          </a:p>
          <a:p>
            <a:r>
              <a:rPr lang="en-US" altLang="zh-CN" dirty="0"/>
              <a:t>6. </a:t>
            </a:r>
            <a:r>
              <a:rPr lang="zh-CN" altLang="en-US" dirty="0"/>
              <a:t>权力监督与透明度；问责缺失；专业决策的地位（维稳机制）</a:t>
            </a:r>
            <a:endParaRPr lang="en-US" altLang="zh-CN" dirty="0"/>
          </a:p>
          <a:p>
            <a:r>
              <a:rPr lang="zh-CN" altLang="en-US" dirty="0">
                <a:solidFill>
                  <a:srgbClr val="0000CC"/>
                </a:solidFill>
              </a:rPr>
              <a:t>相关现象：互联网经济的巨大作用（提升效率</a:t>
            </a:r>
            <a:r>
              <a:rPr lang="en-US" altLang="zh-CN" dirty="0">
                <a:solidFill>
                  <a:srgbClr val="0000CC"/>
                </a:solidFill>
              </a:rPr>
              <a:t>+</a:t>
            </a:r>
            <a:r>
              <a:rPr lang="zh-CN" altLang="en-US" dirty="0">
                <a:solidFill>
                  <a:srgbClr val="0000CC"/>
                </a:solidFill>
              </a:rPr>
              <a:t>实现社会公平）</a:t>
            </a:r>
            <a:endParaRPr lang="zh-CN" altLang="en-US" dirty="0">
              <a:solidFill>
                <a:srgbClr val="0000CC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案例研讨：价格管制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899592" y="0"/>
            <a:ext cx="7904631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00CC"/>
                </a:solidFill>
              </a:rPr>
              <a:t>价格管制的争议</a:t>
            </a:r>
            <a:endParaRPr lang="zh-CN" altLang="en-US" b="1" dirty="0">
              <a:solidFill>
                <a:srgbClr val="0000CC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行政处罚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《</a:t>
            </a:r>
            <a:r>
              <a:rPr lang="zh-CN" altLang="en-US" dirty="0"/>
              <a:t>价格法</a:t>
            </a:r>
            <a:r>
              <a:rPr lang="en-US" altLang="zh-CN" dirty="0"/>
              <a:t>》</a:t>
            </a:r>
            <a:r>
              <a:rPr lang="zh-CN" altLang="en-US" dirty="0"/>
              <a:t>第</a:t>
            </a:r>
            <a:r>
              <a:rPr lang="en-US" altLang="zh-CN" dirty="0"/>
              <a:t>14</a:t>
            </a:r>
            <a:r>
              <a:rPr lang="zh-CN" altLang="en-US" dirty="0"/>
              <a:t>条：经营者不得有下列不正当价格行为： </a:t>
            </a:r>
            <a:r>
              <a:rPr lang="en-US" altLang="zh-CN" dirty="0"/>
              <a:t>……</a:t>
            </a:r>
            <a:r>
              <a:rPr lang="zh-CN" altLang="en-US" dirty="0">
                <a:solidFill>
                  <a:srgbClr val="0000CC"/>
                </a:solidFill>
              </a:rPr>
              <a:t>（三）捏造、散布涨价信息，哄抬价格，推动商品价格过高上涨的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en-US" altLang="zh-CN" dirty="0"/>
              <a:t>《</a:t>
            </a:r>
            <a:r>
              <a:rPr lang="zh-CN" altLang="en-US" dirty="0"/>
              <a:t>价格法</a:t>
            </a:r>
            <a:r>
              <a:rPr lang="en-US" altLang="zh-CN" dirty="0"/>
              <a:t>》</a:t>
            </a:r>
            <a:r>
              <a:rPr lang="zh-CN" altLang="en-US" dirty="0"/>
              <a:t>第</a:t>
            </a:r>
            <a:r>
              <a:rPr lang="en-US" altLang="zh-CN" dirty="0"/>
              <a:t>40</a:t>
            </a:r>
            <a:r>
              <a:rPr lang="zh-CN" altLang="en-US" dirty="0"/>
              <a:t>条：经营者有本法第十四条所列行为之一的，责令改正，没收违法所得，可以并处违法所得五倍以下的罚款；没有违法所得的，予以警告，可以并处罚款；情节严重的，责令停业整顿，或者由工商行政管理机关吊销营业执照。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《</a:t>
            </a:r>
            <a:r>
              <a:rPr lang="zh-CN" altLang="en-US" dirty="0">
                <a:solidFill>
                  <a:srgbClr val="FF0000"/>
                </a:solidFill>
              </a:rPr>
              <a:t>刑法</a:t>
            </a:r>
            <a:r>
              <a:rPr lang="en-US" altLang="zh-CN" dirty="0">
                <a:solidFill>
                  <a:srgbClr val="FF0000"/>
                </a:solidFill>
              </a:rPr>
              <a:t>》</a:t>
            </a:r>
            <a:r>
              <a:rPr lang="zh-CN" altLang="en-US" dirty="0"/>
              <a:t>第</a:t>
            </a:r>
            <a:r>
              <a:rPr lang="en-US" altLang="zh-CN" dirty="0"/>
              <a:t>225</a:t>
            </a:r>
            <a:r>
              <a:rPr lang="zh-CN" altLang="en-US" dirty="0"/>
              <a:t>条：非法经营罪</a:t>
            </a: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00CC"/>
                </a:solidFill>
              </a:rPr>
              <a:t>价格管制的争议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正面观点：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1. </a:t>
            </a:r>
            <a:r>
              <a:rPr lang="zh-CN" altLang="en-US" dirty="0"/>
              <a:t>短期内供求失衡，价格暴涨</a:t>
            </a:r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行为经济学角度：消费者非理性抢购</a:t>
            </a:r>
            <a:endParaRPr lang="en-US" altLang="zh-CN" dirty="0"/>
          </a:p>
          <a:p>
            <a:r>
              <a:rPr lang="en-US" altLang="zh-CN" dirty="0"/>
              <a:t>3. </a:t>
            </a:r>
            <a:r>
              <a:rPr lang="zh-CN" altLang="en-US" dirty="0"/>
              <a:t>局部范围内形成垄断效应</a:t>
            </a:r>
            <a:endParaRPr lang="en-US" altLang="zh-CN" dirty="0"/>
          </a:p>
          <a:p>
            <a:r>
              <a:rPr lang="en-US" altLang="zh-CN" dirty="0"/>
              <a:t>4. </a:t>
            </a:r>
            <a:r>
              <a:rPr lang="zh-CN" altLang="en-US" dirty="0"/>
              <a:t>价格问题上不能只关注效率，忽视公平</a:t>
            </a:r>
            <a:endParaRPr lang="en-US" altLang="zh-CN" dirty="0"/>
          </a:p>
          <a:p>
            <a:r>
              <a:rPr lang="en-US" altLang="zh-CN" dirty="0"/>
              <a:t>5. </a:t>
            </a:r>
            <a:r>
              <a:rPr lang="zh-CN" altLang="en-US" dirty="0"/>
              <a:t>预防出现“打砸抢”等社会危机</a:t>
            </a: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00CC"/>
                </a:solidFill>
              </a:rPr>
              <a:t>价格管制的争议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713387"/>
          </a:xfrm>
        </p:spPr>
        <p:txBody>
          <a:bodyPr>
            <a:normAutofit fontScale="85000" lnSpcReduction="10000"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反面观点：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消灭了价格信号，引发更多“不必要”、“非理性”的需求（降低了囤货的成本）</a:t>
            </a:r>
            <a:endParaRPr lang="en-US" altLang="zh-CN" dirty="0"/>
          </a:p>
          <a:p>
            <a:r>
              <a:rPr lang="zh-CN" altLang="en-US" dirty="0"/>
              <a:t>无法通过刺激供给来引导市场更多的生产或者货物的流入（尤其考虑到疫情期间原材料价格的巨大变化）</a:t>
            </a:r>
            <a:endParaRPr lang="en-US" altLang="zh-CN" dirty="0"/>
          </a:p>
          <a:p>
            <a:r>
              <a:rPr lang="zh-CN" altLang="en-US" dirty="0"/>
              <a:t>“价高者得”的替代机制：“先来先得”或者配额（</a:t>
            </a:r>
            <a:r>
              <a:rPr lang="en-US" altLang="zh-CN" dirty="0"/>
              <a:t>rationing</a:t>
            </a:r>
            <a:r>
              <a:rPr lang="zh-CN" altLang="en-US" dirty="0"/>
              <a:t>）制度的高成本</a:t>
            </a:r>
            <a:endParaRPr lang="en-US" altLang="zh-CN" dirty="0"/>
          </a:p>
          <a:p>
            <a:r>
              <a:rPr lang="zh-CN" altLang="en-US" dirty="0"/>
              <a:t>导致既无效率，又不公平（事实上不利于弱势群体）</a:t>
            </a:r>
            <a:endParaRPr lang="en-US" altLang="zh-CN" dirty="0"/>
          </a:p>
          <a:p>
            <a:r>
              <a:rPr lang="zh-CN" altLang="en-US" dirty="0"/>
              <a:t>滋生地下交易和私力救济</a:t>
            </a:r>
            <a:endParaRPr lang="en-US" altLang="zh-CN" dirty="0"/>
          </a:p>
          <a:p>
            <a:r>
              <a:rPr lang="zh-CN" altLang="en-US" dirty="0"/>
              <a:t>执法上的困境（如何认定“哄抬”？）</a:t>
            </a:r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778098"/>
          </a:xfrm>
        </p:spPr>
        <p:txBody>
          <a:bodyPr/>
          <a:lstStyle/>
          <a:p>
            <a:r>
              <a:rPr lang="zh-CN" altLang="en-US" b="1" dirty="0">
                <a:solidFill>
                  <a:srgbClr val="0000CC"/>
                </a:solidFill>
              </a:rPr>
              <a:t>价格管制的争议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040560"/>
          </a:xfrm>
        </p:spPr>
        <p:txBody>
          <a:bodyPr>
            <a:noAutofit/>
          </a:bodyPr>
          <a:lstStyle/>
          <a:p>
            <a:r>
              <a:rPr lang="zh-CN" altLang="zh-CN" sz="2800" b="1" u="sng" dirty="0"/>
              <a:t>明·凌濛初编著《二刻拍案惊奇》</a:t>
            </a:r>
            <a:endParaRPr lang="en-US" altLang="zh-CN" sz="2800" b="1" u="sng" dirty="0"/>
          </a:p>
          <a:p>
            <a:r>
              <a:rPr lang="zh-CN" altLang="en-US" sz="2800" dirty="0"/>
              <a:t>“</a:t>
            </a:r>
            <a:r>
              <a:rPr lang="zh-CN" altLang="zh-CN" sz="2800" dirty="0"/>
              <a:t>嘉靖四十三年，吴中大水，田禾淹尽，寸草不生。米价踊贵，各处禁粜闭籴，</a:t>
            </a:r>
            <a:r>
              <a:rPr lang="zh-CN" altLang="zh-CN" sz="2800" dirty="0">
                <a:solidFill>
                  <a:srgbClr val="FF0000"/>
                </a:solidFill>
              </a:rPr>
              <a:t>官府严示平价，越发米不入境</a:t>
            </a:r>
            <a:r>
              <a:rPr lang="zh-CN" altLang="zh-CN" sz="2800" dirty="0"/>
              <a:t>了。</a:t>
            </a:r>
            <a:r>
              <a:rPr lang="zh-CN" altLang="en-US" sz="2800" dirty="0"/>
              <a:t>”</a:t>
            </a:r>
            <a:endParaRPr lang="en-US" altLang="zh-CN" sz="2800" dirty="0"/>
          </a:p>
          <a:p>
            <a:r>
              <a:rPr lang="zh-CN" altLang="en-US" sz="2800" dirty="0"/>
              <a:t>“</a:t>
            </a:r>
            <a:r>
              <a:rPr lang="zh-CN" altLang="zh-CN" sz="2800" dirty="0"/>
              <a:t>元来大凡年荒米贵，官府只合静听民情，</a:t>
            </a:r>
            <a:r>
              <a:rPr lang="zh-CN" altLang="zh-CN" sz="2800" dirty="0">
                <a:solidFill>
                  <a:srgbClr val="FF0000"/>
                </a:solidFill>
              </a:rPr>
              <a:t>不去生事</a:t>
            </a:r>
            <a:r>
              <a:rPr lang="zh-CN" altLang="zh-CN" sz="2800" dirty="0"/>
              <a:t>。少不得有一伙有本钱趋利的商人，贪那贵价，从外方贱处贩将米来；有一伙有家当囤米的财主，贪那贵价，从家里廒中发出米去。</a:t>
            </a:r>
            <a:r>
              <a:rPr lang="zh-CN" altLang="zh-CN" sz="2800" dirty="0">
                <a:solidFill>
                  <a:srgbClr val="FF0000"/>
                </a:solidFill>
              </a:rPr>
              <a:t>米既渐渐辐辏，价自渐渐平减</a:t>
            </a:r>
            <a:r>
              <a:rPr lang="zh-CN" altLang="zh-CN" sz="2800" dirty="0"/>
              <a:t>，这个道理也是极容易明白的。</a:t>
            </a:r>
            <a:r>
              <a:rPr lang="zh-CN" altLang="en-US" sz="2800" dirty="0"/>
              <a:t>”</a:t>
            </a:r>
            <a:endParaRPr lang="zh-CN" altLang="zh-CN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00CC"/>
                </a:solidFill>
              </a:rPr>
              <a:t>价格管制的争议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en-US" dirty="0"/>
              <a:t>“</a:t>
            </a:r>
            <a:r>
              <a:rPr lang="zh-CN" altLang="zh-CN" dirty="0"/>
              <a:t>最是那做了官府，专一遇荒就行禁粜、闭籴、平价等事。他认道是不使外方籴了本地米去，</a:t>
            </a:r>
            <a:r>
              <a:rPr lang="zh-CN" altLang="zh-CN" dirty="0">
                <a:solidFill>
                  <a:srgbClr val="FF0000"/>
                </a:solidFill>
              </a:rPr>
              <a:t>不知一行禁止，就有棍徒诈害</a:t>
            </a:r>
            <a:r>
              <a:rPr lang="zh-CN" altLang="zh-CN" dirty="0"/>
              <a:t>，遇见本地交易，便自声扬犯禁，拿到公庭，立受枷责。那有身家的怕惹事端，家中有米，只索</a:t>
            </a:r>
            <a:r>
              <a:rPr lang="zh-CN" altLang="zh-CN" dirty="0">
                <a:solidFill>
                  <a:srgbClr val="FF0000"/>
                </a:solidFill>
              </a:rPr>
              <a:t>闭仓高坐</a:t>
            </a:r>
            <a:r>
              <a:rPr lang="zh-CN" altLang="zh-CN" dirty="0"/>
              <a:t>，又且官有定价，不许贵卖，无大利息，何苦出粜？那些贩米的客人，见官价不高，也无想头。就是小民私下愿增价暗籴，俱怕败露受贵受罚。有本钱的人，不肯担这样干系，干这样没要紧的事。所以越弄得市上无米，米价转高，愚民不知，上官不谙，只埋怨道：</a:t>
            </a:r>
            <a:r>
              <a:rPr lang="en-US" altLang="zh-CN" dirty="0"/>
              <a:t>‘</a:t>
            </a:r>
            <a:r>
              <a:rPr lang="zh-CN" altLang="zh-CN" dirty="0"/>
              <a:t>如此禁闭，米只不多；如此仰价，米只不贱。</a:t>
            </a:r>
            <a:r>
              <a:rPr lang="en-US" altLang="zh-CN" dirty="0"/>
              <a:t>’</a:t>
            </a:r>
            <a:r>
              <a:rPr lang="zh-CN" altLang="zh-CN" dirty="0"/>
              <a:t>没得解说，只囫囵说一句救荒无奇策罢了。</a:t>
            </a:r>
            <a:r>
              <a:rPr lang="zh-CN" altLang="zh-CN" dirty="0">
                <a:solidFill>
                  <a:srgbClr val="FF0000"/>
                </a:solidFill>
              </a:rPr>
              <a:t>谁知多是要行荒政，反致越荒的</a:t>
            </a:r>
            <a:r>
              <a:rPr lang="zh-CN" altLang="zh-CN" dirty="0"/>
              <a:t>。</a:t>
            </a:r>
            <a:r>
              <a:rPr lang="en-US" altLang="zh-CN" dirty="0"/>
              <a:t>” 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00CC"/>
                </a:solidFill>
              </a:rPr>
              <a:t>价格管制的争议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b="1" dirty="0"/>
              <a:t>某一年，</a:t>
            </a:r>
            <a:r>
              <a:rPr lang="zh-CN" altLang="zh-CN" b="1" dirty="0"/>
              <a:t>在澳大利亚发生了一起恐怖袭击事件，恐怖分子在咖啡厅劫持人质，周围大量现场群众吓疯了，立即掏出手机叫</a:t>
            </a:r>
            <a:r>
              <a:rPr lang="en-US" altLang="zh-CN" b="1" dirty="0" err="1"/>
              <a:t>Uber</a:t>
            </a:r>
            <a:r>
              <a:rPr lang="zh-CN" altLang="zh-CN" b="1" dirty="0"/>
              <a:t>（一种打车软件）逃离，</a:t>
            </a:r>
            <a:r>
              <a:rPr lang="en-US" altLang="zh-CN" b="1" dirty="0" err="1"/>
              <a:t>Uber</a:t>
            </a:r>
            <a:r>
              <a:rPr lang="zh-CN" altLang="zh-CN" b="1" dirty="0"/>
              <a:t>的服务费用因此瞬间涨价到</a:t>
            </a:r>
            <a:r>
              <a:rPr lang="en-US" altLang="zh-CN" b="1" dirty="0"/>
              <a:t>4</a:t>
            </a:r>
            <a:r>
              <a:rPr lang="zh-CN" altLang="zh-CN" b="1" dirty="0"/>
              <a:t>倍。事后新闻媒体大肆抨击</a:t>
            </a:r>
            <a:r>
              <a:rPr lang="en-US" altLang="zh-CN" b="1" dirty="0" err="1"/>
              <a:t>Uber</a:t>
            </a:r>
            <a:r>
              <a:rPr lang="zh-CN" altLang="zh-CN" b="1" dirty="0"/>
              <a:t>，说道</a:t>
            </a:r>
            <a:r>
              <a:rPr lang="en-US" altLang="zh-CN" b="1" dirty="0"/>
              <a:t>“</a:t>
            </a:r>
            <a:r>
              <a:rPr lang="zh-CN" altLang="zh-CN" b="1" dirty="0"/>
              <a:t>难道富人就能逃命，穷人就该等死么？</a:t>
            </a:r>
            <a:r>
              <a:rPr lang="en-US" altLang="zh-CN" b="1" dirty="0"/>
              <a:t>”</a:t>
            </a:r>
            <a:endParaRPr lang="en-US" altLang="zh-CN" b="1" dirty="0"/>
          </a:p>
          <a:p>
            <a:r>
              <a:rPr lang="zh-CN" altLang="en-US" b="1" dirty="0">
                <a:solidFill>
                  <a:srgbClr val="FF0000"/>
                </a:solidFill>
              </a:rPr>
              <a:t>思考：为什么过年期间杭州马路上的出租车会比平时多？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Picture 2" descr="C:\Users\y\Desktop\国难财1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827584" y="476672"/>
            <a:ext cx="6984776" cy="5901630"/>
          </a:xfrm>
          <a:prstGeom prst="rect">
            <a:avLst/>
          </a:prstGeom>
          <a:noFill/>
        </p:spPr>
      </p:pic>
      <p:cxnSp>
        <p:nvCxnSpPr>
          <p:cNvPr id="7" name="直接连接符 6"/>
          <p:cNvCxnSpPr/>
          <p:nvPr/>
        </p:nvCxnSpPr>
        <p:spPr>
          <a:xfrm flipV="1">
            <a:off x="1763688" y="1556792"/>
            <a:ext cx="4176464" cy="72008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2051720" y="4437112"/>
            <a:ext cx="4392488" cy="7200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/>
          <a:lstStyle/>
          <a:p>
            <a:pPr algn="ctr"/>
            <a:r>
              <a:rPr lang="zh-CN" altLang="en-US" dirty="0"/>
              <a:t>谢谢！</a:t>
            </a:r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r>
              <a:rPr lang="en-US" altLang="zh-CN" dirty="0">
                <a:hlinkClick r:id="rId1"/>
              </a:rPr>
              <a:t>huangtao@zju.edu.cn</a:t>
            </a:r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r>
              <a:rPr lang="en-US" altLang="zh-CN" dirty="0"/>
              <a:t>136-8160-7385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2050" name="Picture 2" descr="C:\Users\y\Desktop\黄韬微信公众号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52485" y="4797152"/>
            <a:ext cx="1660208" cy="132901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2361</Words>
  <Application>WPS 演示</Application>
  <PresentationFormat>全屏显示(4:3)</PresentationFormat>
  <Paragraphs>182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2" baseType="lpstr">
      <vt:lpstr>Arial</vt:lpstr>
      <vt:lpstr>宋体</vt:lpstr>
      <vt:lpstr>Wingdings</vt:lpstr>
      <vt:lpstr>华文楷体</vt:lpstr>
      <vt:lpstr>微软雅黑</vt:lpstr>
      <vt:lpstr>Arial Unicode MS</vt:lpstr>
      <vt:lpstr>Calibri</vt:lpstr>
      <vt:lpstr>Office 主题</vt:lpstr>
      <vt:lpstr>第四讲  监管与法治</vt:lpstr>
      <vt:lpstr>“强监管”周期/时代</vt:lpstr>
      <vt:lpstr>PowerPoint 演示文稿</vt:lpstr>
      <vt:lpstr>第一个观察和思考</vt:lpstr>
      <vt:lpstr>第一个观察和思考</vt:lpstr>
      <vt:lpstr>第二个观察和思考</vt:lpstr>
      <vt:lpstr>PowerPoint 演示文稿</vt:lpstr>
      <vt:lpstr>第三个观察和思考</vt:lpstr>
      <vt:lpstr>互联网行业</vt:lpstr>
      <vt:lpstr>互联网行业</vt:lpstr>
      <vt:lpstr>互联网行业</vt:lpstr>
      <vt:lpstr>预算软约束与法治软约束</vt:lpstr>
      <vt:lpstr>“弱法治”悖论</vt:lpstr>
      <vt:lpstr>“弱法治”悖论</vt:lpstr>
      <vt:lpstr>案例研讨：价格管制</vt:lpstr>
      <vt:lpstr>PowerPoint 演示文稿</vt:lpstr>
      <vt:lpstr>价格管制的争议</vt:lpstr>
      <vt:lpstr>价格管制的争议</vt:lpstr>
      <vt:lpstr>价格管制的争议</vt:lpstr>
      <vt:lpstr>价格管制的争议</vt:lpstr>
      <vt:lpstr>价格管制的争议</vt:lpstr>
      <vt:lpstr>价格管制的争议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从法律视角看近期监管政策变化</dc:title>
  <dc:creator>Huang Tao</dc:creator>
  <cp:lastModifiedBy>王彦成</cp:lastModifiedBy>
  <cp:revision>56</cp:revision>
  <dcterms:created xsi:type="dcterms:W3CDTF">2021-08-14T17:20:00Z</dcterms:created>
  <dcterms:modified xsi:type="dcterms:W3CDTF">2026-05-26T05:17:46Z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C21A581DBF2C4ECCA70557BAF540C598_13</vt:lpwstr>
  </property>
  <property fmtid="{D5CDD505-2E9C-101B-9397-08002B2CF9AE}" pid="3" name="KSOProductBuildVer">
    <vt:lpwstr>2052-12.1.0.17147</vt:lpwstr>
  </property>
</Properties>
</file>