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313" r:id="rId4"/>
    <p:sldId id="30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299" r:id="rId18"/>
    <p:sldId id="315" r:id="rId19"/>
    <p:sldId id="316" r:id="rId20"/>
    <p:sldId id="314" r:id="rId21"/>
    <p:sldId id="325" r:id="rId22"/>
    <p:sldId id="317" r:id="rId23"/>
    <p:sldId id="318" r:id="rId24"/>
    <p:sldId id="319" r:id="rId25"/>
    <p:sldId id="320" r:id="rId26"/>
    <p:sldId id="321" r:id="rId27"/>
    <p:sldId id="322" r:id="rId28"/>
    <p:sldId id="323" r:id="rId29"/>
    <p:sldId id="324" r:id="rId3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63" d="100"/>
          <a:sy n="63" d="100"/>
        </p:scale>
        <p:origin x="119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95536" y="2130425"/>
            <a:ext cx="8280920" cy="2234679"/>
          </a:xfrm>
        </p:spPr>
        <p:txBody>
          <a:bodyPr>
            <a:norm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</a:rPr>
              <a:t>第三讲</a:t>
            </a:r>
            <a:br>
              <a:rPr lang="en-US" altLang="zh-CN" sz="4000" b="1" dirty="0">
                <a:solidFill>
                  <a:srgbClr val="FF0000"/>
                </a:solidFill>
              </a:rPr>
            </a:br>
            <a:br>
              <a:rPr lang="en-US" altLang="zh-CN" sz="4000" b="1" dirty="0">
                <a:solidFill>
                  <a:srgbClr val="FF0000"/>
                </a:solidFill>
              </a:rPr>
            </a:br>
            <a:r>
              <a:rPr lang="zh-CN" altLang="en-US" sz="4000" b="1" dirty="0">
                <a:solidFill>
                  <a:srgbClr val="FF0000"/>
                </a:solidFill>
              </a:rPr>
              <a:t>公平、效率与市场经济法律制度</a:t>
            </a:r>
            <a:endParaRPr lang="zh-CN" altLang="en-US" sz="4000" b="1" dirty="0">
              <a:solidFill>
                <a:srgbClr val="FF0000"/>
              </a:solidFill>
            </a:endParaRPr>
          </a:p>
        </p:txBody>
      </p:sp>
      <p:pic>
        <p:nvPicPr>
          <p:cNvPr id="1026" name="Picture 2" descr="C:\Users\y\Desktop\黄韬微信公众号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555235" y="0"/>
            <a:ext cx="1588765" cy="158876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zh-CN" altLang="en-US" sz="4000" b="1" dirty="0">
                <a:solidFill>
                  <a:srgbClr val="0000FF"/>
                </a:solidFill>
              </a:rPr>
              <a:t>思考</a:t>
            </a:r>
            <a:endParaRPr lang="zh-CN" altLang="en-US" sz="4000" b="1" dirty="0">
              <a:solidFill>
                <a:srgbClr val="0000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 fontScale="70000" lnSpcReduction="20000"/>
          </a:bodyPr>
          <a:lstStyle/>
          <a:p>
            <a:r>
              <a:rPr lang="zh-CN" altLang="en-US" b="1" dirty="0"/>
              <a:t>常见的说法：</a:t>
            </a:r>
            <a:endParaRPr lang="en-US" altLang="zh-CN" b="1" dirty="0"/>
          </a:p>
          <a:p>
            <a:r>
              <a:rPr lang="zh-CN" altLang="en-US" b="1" dirty="0"/>
              <a:t>之一：市场经济只注重效率，忽视公平，因此需要国家的干预（保护弱势群体、调节收入差距、反垄断</a:t>
            </a:r>
            <a:r>
              <a:rPr lang="en-US" altLang="zh-CN" b="1" dirty="0"/>
              <a:t>……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r>
              <a:rPr lang="zh-CN" altLang="en-US" b="1" dirty="0"/>
              <a:t>之二：经济学家注重效率，而法学家注重公平正义</a:t>
            </a:r>
            <a:endParaRPr lang="en-US" altLang="zh-CN" b="1" dirty="0"/>
          </a:p>
          <a:p>
            <a:endParaRPr lang="en-US" altLang="zh-CN" dirty="0"/>
          </a:p>
          <a:p>
            <a:r>
              <a:rPr lang="zh-CN" altLang="en-US" b="1" dirty="0">
                <a:solidFill>
                  <a:srgbClr val="FF0000"/>
                </a:solidFill>
              </a:rPr>
              <a:t>思考问题：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dirty="0"/>
              <a:t>——</a:t>
            </a:r>
            <a:r>
              <a:rPr lang="zh-CN" altLang="en-US" dirty="0"/>
              <a:t>公平与效率是否（始终）对立？</a:t>
            </a:r>
            <a:endParaRPr lang="en-US" altLang="zh-CN" dirty="0"/>
          </a:p>
          <a:p>
            <a:r>
              <a:rPr lang="en-US" altLang="zh-CN" dirty="0"/>
              <a:t>——</a:t>
            </a:r>
            <a:r>
              <a:rPr lang="zh-CN" altLang="en-US" dirty="0"/>
              <a:t>何谓“公平”？何谓“效率”</a:t>
            </a:r>
            <a:endParaRPr lang="en-US" altLang="zh-CN" dirty="0"/>
          </a:p>
          <a:p>
            <a:r>
              <a:rPr lang="en-US" altLang="zh-CN" dirty="0"/>
              <a:t>——</a:t>
            </a:r>
            <a:r>
              <a:rPr lang="zh-CN" altLang="en-US" dirty="0"/>
              <a:t>市场经济提升了公平，还是牺牲了公平？</a:t>
            </a:r>
            <a:endParaRPr lang="en-US" altLang="zh-CN" dirty="0"/>
          </a:p>
          <a:p>
            <a:r>
              <a:rPr lang="en-US" altLang="zh-CN" dirty="0"/>
              <a:t>——</a:t>
            </a:r>
            <a:r>
              <a:rPr lang="zh-CN" altLang="en-US" dirty="0"/>
              <a:t>为了公平，国家是否应当干预，如何干预？干预的目标是什么？</a:t>
            </a:r>
            <a:endParaRPr lang="en-US" altLang="zh-CN" dirty="0"/>
          </a:p>
          <a:p>
            <a:r>
              <a:rPr lang="en-US" altLang="zh-CN" dirty="0"/>
              <a:t>——</a:t>
            </a:r>
            <a:r>
              <a:rPr lang="zh-CN" altLang="en-US" dirty="0"/>
              <a:t>如何理解“实现共同富裕”</a:t>
            </a:r>
            <a:endParaRPr lang="en-US" altLang="zh-CN" dirty="0"/>
          </a:p>
          <a:p>
            <a:endParaRPr lang="en-US" altLang="zh-CN" dirty="0"/>
          </a:p>
          <a:p>
            <a:pPr lvl="0"/>
            <a:r>
              <a:rPr lang="zh-CN" altLang="en-US" b="1" dirty="0">
                <a:solidFill>
                  <a:srgbClr val="0000FF"/>
                </a:solidFill>
              </a:rPr>
              <a:t>为什么</a:t>
            </a:r>
            <a:r>
              <a:rPr lang="zh-CN" altLang="zh-CN" b="1" dirty="0">
                <a:solidFill>
                  <a:srgbClr val="0000FF"/>
                </a:solidFill>
              </a:rPr>
              <a:t>米尔顿</a:t>
            </a:r>
            <a:r>
              <a:rPr lang="en-US" altLang="zh-CN" b="1" dirty="0">
                <a:solidFill>
                  <a:srgbClr val="0000FF"/>
                </a:solidFill>
              </a:rPr>
              <a:t>·</a:t>
            </a:r>
            <a:r>
              <a:rPr lang="zh-CN" altLang="zh-CN" b="1" dirty="0">
                <a:solidFill>
                  <a:srgbClr val="0000FF"/>
                </a:solidFill>
              </a:rPr>
              <a:t>弗里德曼</a:t>
            </a:r>
            <a:r>
              <a:rPr lang="zh-CN" altLang="en-US" b="1" dirty="0">
                <a:solidFill>
                  <a:srgbClr val="0000FF"/>
                </a:solidFill>
              </a:rPr>
              <a:t>说：</a:t>
            </a:r>
            <a:r>
              <a:rPr lang="zh-CN" altLang="zh-CN" b="1" dirty="0">
                <a:solidFill>
                  <a:srgbClr val="0000FF"/>
                </a:solidFill>
              </a:rPr>
              <a:t>一个将自由置于首位的社会，不但会拥有更多的自由，而且会有更多的平等。</a:t>
            </a:r>
            <a:endParaRPr lang="zh-CN" altLang="zh-CN" dirty="0">
              <a:solidFill>
                <a:srgbClr val="0000FF"/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259632" y="476672"/>
            <a:ext cx="6858000" cy="68897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0000FF"/>
                </a:solidFill>
              </a:rPr>
              <a:t>什么是“好的”法律？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43200" y="4648200"/>
            <a:ext cx="8001000" cy="5410200"/>
          </a:xfrm>
          <a:noFill/>
        </p:spPr>
        <p:txBody>
          <a:bodyPr/>
          <a:lstStyle/>
          <a:p>
            <a:pPr marL="609600" indent="-609600">
              <a:lnSpc>
                <a:spcPct val="120000"/>
              </a:lnSpc>
              <a:buFontTx/>
              <a:buNone/>
            </a:pPr>
            <a:endParaRPr lang="zh-CN" altLang="en-US"/>
          </a:p>
          <a:p>
            <a:pPr marL="609600" indent="-609600">
              <a:lnSpc>
                <a:spcPct val="120000"/>
              </a:lnSpc>
              <a:buFontTx/>
              <a:buNone/>
            </a:pPr>
            <a:endParaRPr lang="zh-CN" altLang="en-US" sz="2800">
              <a:solidFill>
                <a:srgbClr val="91074F"/>
              </a:solidFill>
            </a:endParaRPr>
          </a:p>
        </p:txBody>
      </p:sp>
      <p:sp>
        <p:nvSpPr>
          <p:cNvPr id="449541" name="Text Box 5"/>
          <p:cNvSpPr txBox="1">
            <a:spLocks noChangeArrowheads="1"/>
          </p:cNvSpPr>
          <p:nvPr/>
        </p:nvSpPr>
        <p:spPr bwMode="auto">
          <a:xfrm>
            <a:off x="755576" y="1484784"/>
            <a:ext cx="7010400" cy="371475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</a:rPr>
              <a:t>传统法学：</a:t>
            </a:r>
            <a:r>
              <a:rPr lang="zh-CN" altLang="en-US" b="1" dirty="0">
                <a:solidFill>
                  <a:srgbClr val="003399"/>
                </a:solidFill>
              </a:rPr>
              <a:t>公平、正义、人权保障、保护弱势群体</a:t>
            </a:r>
            <a:r>
              <a:rPr lang="en-US" altLang="zh-CN" b="1" dirty="0">
                <a:solidFill>
                  <a:srgbClr val="003399"/>
                </a:solidFill>
              </a:rPr>
              <a:t>……</a:t>
            </a:r>
            <a:endParaRPr lang="en-US" altLang="zh-CN" b="1" dirty="0">
              <a:solidFill>
                <a:srgbClr val="003399"/>
              </a:solidFill>
            </a:endParaRPr>
          </a:p>
        </p:txBody>
      </p:sp>
      <p:sp>
        <p:nvSpPr>
          <p:cNvPr id="449542" name="Text Box 6"/>
          <p:cNvSpPr txBox="1">
            <a:spLocks noChangeArrowheads="1"/>
          </p:cNvSpPr>
          <p:nvPr/>
        </p:nvSpPr>
        <p:spPr bwMode="auto">
          <a:xfrm>
            <a:off x="755576" y="2132856"/>
            <a:ext cx="5715000" cy="371513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</a:rPr>
              <a:t>法律经济学：</a:t>
            </a:r>
            <a:r>
              <a:rPr lang="zh-CN" altLang="en-US" b="1" dirty="0">
                <a:solidFill>
                  <a:srgbClr val="003399"/>
                </a:solidFill>
              </a:rPr>
              <a:t>以“效率（</a:t>
            </a:r>
            <a:r>
              <a:rPr lang="en-US" altLang="zh-CN" b="1" dirty="0">
                <a:solidFill>
                  <a:srgbClr val="003399"/>
                </a:solidFill>
              </a:rPr>
              <a:t>efficiency</a:t>
            </a:r>
            <a:r>
              <a:rPr lang="zh-CN" altLang="en-US" b="1" dirty="0">
                <a:solidFill>
                  <a:srgbClr val="003399"/>
                </a:solidFill>
              </a:rPr>
              <a:t>）”为标准</a:t>
            </a:r>
            <a:endParaRPr lang="zh-CN" altLang="en-US" b="1" dirty="0">
              <a:solidFill>
                <a:srgbClr val="003399"/>
              </a:solidFill>
            </a:endParaRPr>
          </a:p>
        </p:txBody>
      </p:sp>
      <p:sp>
        <p:nvSpPr>
          <p:cNvPr id="449543" name="Text Box 7"/>
          <p:cNvSpPr txBox="1">
            <a:spLocks noChangeArrowheads="1"/>
          </p:cNvSpPr>
          <p:nvPr/>
        </p:nvSpPr>
        <p:spPr bwMode="auto">
          <a:xfrm>
            <a:off x="539552" y="2780928"/>
            <a:ext cx="9067800" cy="371475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</a:rPr>
              <a:t>（</a:t>
            </a:r>
            <a:r>
              <a:rPr lang="en-US" altLang="zh-CN" b="1" dirty="0">
                <a:solidFill>
                  <a:schemeClr val="tx1"/>
                </a:solidFill>
              </a:rPr>
              <a:t>1</a:t>
            </a:r>
            <a:r>
              <a:rPr lang="zh-CN" altLang="en-US" b="1" dirty="0">
                <a:solidFill>
                  <a:schemeClr val="tx1"/>
                </a:solidFill>
              </a:rPr>
              <a:t>）抽象的“公平、正义、人权”是无法验证的，没有明确标准的，是同义反复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449544" name="Text Box 8"/>
          <p:cNvSpPr txBox="1">
            <a:spLocks noChangeArrowheads="1"/>
          </p:cNvSpPr>
          <p:nvPr/>
        </p:nvSpPr>
        <p:spPr bwMode="auto">
          <a:xfrm>
            <a:off x="539552" y="3429000"/>
            <a:ext cx="8991600" cy="366713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</a:rPr>
              <a:t>（</a:t>
            </a:r>
            <a:r>
              <a:rPr lang="en-US" altLang="zh-CN" b="1" dirty="0">
                <a:solidFill>
                  <a:schemeClr val="tx1"/>
                </a:solidFill>
              </a:rPr>
              <a:t>2</a:t>
            </a:r>
            <a:r>
              <a:rPr lang="zh-CN" altLang="en-US" b="1" dirty="0">
                <a:solidFill>
                  <a:schemeClr val="tx1"/>
                </a:solidFill>
              </a:rPr>
              <a:t>）正义的实现都是要付出代价的    （</a:t>
            </a:r>
            <a:r>
              <a:rPr lang="en-US" altLang="zh-CN" b="1" dirty="0">
                <a:solidFill>
                  <a:schemeClr val="tx1"/>
                </a:solidFill>
              </a:rPr>
              <a:t>12</a:t>
            </a:r>
            <a:r>
              <a:rPr lang="zh-CN" altLang="en-US" b="1" dirty="0">
                <a:solidFill>
                  <a:schemeClr val="tx1"/>
                </a:solidFill>
              </a:rPr>
              <a:t>年义务教育一定比</a:t>
            </a:r>
            <a:r>
              <a:rPr lang="en-US" altLang="zh-CN" b="1" dirty="0">
                <a:solidFill>
                  <a:schemeClr val="tx1"/>
                </a:solidFill>
              </a:rPr>
              <a:t>9</a:t>
            </a:r>
            <a:r>
              <a:rPr lang="zh-CN" altLang="en-US" b="1" dirty="0">
                <a:solidFill>
                  <a:schemeClr val="tx1"/>
                </a:solidFill>
              </a:rPr>
              <a:t>年义务教育更好？）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49545" name="Text Box 9"/>
          <p:cNvSpPr txBox="1">
            <a:spLocks noChangeArrowheads="1"/>
          </p:cNvSpPr>
          <p:nvPr/>
        </p:nvSpPr>
        <p:spPr bwMode="auto">
          <a:xfrm>
            <a:off x="539552" y="4005064"/>
            <a:ext cx="8382000" cy="641350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</a:rPr>
              <a:t>（</a:t>
            </a:r>
            <a:r>
              <a:rPr lang="en-US" altLang="zh-CN" b="1" dirty="0">
                <a:solidFill>
                  <a:schemeClr val="tx1"/>
                </a:solidFill>
              </a:rPr>
              <a:t>3</a:t>
            </a:r>
            <a:r>
              <a:rPr lang="zh-CN" altLang="en-US" b="1" dirty="0">
                <a:solidFill>
                  <a:schemeClr val="tx1"/>
                </a:solidFill>
              </a:rPr>
              <a:t>）真实世界的法律问题，</a:t>
            </a:r>
            <a:r>
              <a:rPr lang="en-US" altLang="zh-CN" b="1" dirty="0">
                <a:solidFill>
                  <a:schemeClr val="tx1"/>
                </a:solidFill>
              </a:rPr>
              <a:t>99%</a:t>
            </a:r>
            <a:r>
              <a:rPr lang="zh-CN" altLang="en-US" b="1" dirty="0">
                <a:solidFill>
                  <a:schemeClr val="tx1"/>
                </a:solidFill>
              </a:rPr>
              <a:t>不是处理权利有无的问题；而是处理权利冲突的问题。在这方面，传统法学的“正义话语”，“权利话语”无法施展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49546" name="Text Box 10"/>
          <p:cNvSpPr txBox="1">
            <a:spLocks noChangeArrowheads="1"/>
          </p:cNvSpPr>
          <p:nvPr/>
        </p:nvSpPr>
        <p:spPr bwMode="auto">
          <a:xfrm>
            <a:off x="827584" y="5013176"/>
            <a:ext cx="8153400" cy="366713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3399"/>
                </a:solidFill>
              </a:rPr>
              <a:t>讨论</a:t>
            </a:r>
            <a:r>
              <a:rPr lang="zh-CN" altLang="en-US" b="1" dirty="0">
                <a:solidFill>
                  <a:schemeClr val="tx1"/>
                </a:solidFill>
              </a:rPr>
              <a:t>真实的例子：政府是否可以将被恐怖分子劫持的飞机击落？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49548" name="Text Box 12"/>
          <p:cNvSpPr txBox="1">
            <a:spLocks noChangeArrowheads="1"/>
          </p:cNvSpPr>
          <p:nvPr/>
        </p:nvSpPr>
        <p:spPr bwMode="auto">
          <a:xfrm>
            <a:off x="827584" y="5589240"/>
            <a:ext cx="8153400" cy="779463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3399"/>
                </a:solidFill>
              </a:rPr>
              <a:t>另：</a:t>
            </a:r>
            <a:r>
              <a:rPr lang="zh-CN" altLang="en-US" b="1" dirty="0">
                <a:solidFill>
                  <a:schemeClr val="tx1"/>
                </a:solidFill>
              </a:rPr>
              <a:t>可否对恐怖分子施以酷刑以获得即将发生的恐怖活动的信息？</a:t>
            </a:r>
            <a:endParaRPr lang="zh-CN" altLang="en-US" b="1" dirty="0">
              <a:solidFill>
                <a:schemeClr val="tx1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</a:rPr>
              <a:t>        律师可否告发当事人？</a:t>
            </a:r>
            <a:endParaRPr lang="zh-CN" alt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9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49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49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49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49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49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49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9541" grpId="0"/>
      <p:bldP spid="449542" grpId="0"/>
      <p:bldP spid="449543" grpId="0"/>
      <p:bldP spid="449544" grpId="0"/>
      <p:bldP spid="449545" grpId="0"/>
      <p:bldP spid="449546" grpId="0"/>
      <p:bldP spid="44954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电车难题</a:t>
            </a:r>
            <a:endParaRPr lang="zh-CN" altLang="en-US" dirty="0"/>
          </a:p>
        </p:txBody>
      </p:sp>
      <p:pic>
        <p:nvPicPr>
          <p:cNvPr id="5123" name="Picture 2" descr="E:\交大201709\备课\交大\法律经济学\电车难题\电车难题1.jpg"/>
          <p:cNvPicPr>
            <a:picLocks noGrp="1" noChangeAspect="1" noChangeArrowheads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>
          <a:xfrm>
            <a:off x="773113" y="1646238"/>
            <a:ext cx="7620000" cy="4025900"/>
          </a:xfr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电车难题</a:t>
            </a:r>
            <a:endParaRPr lang="zh-CN" altLang="en-US" dirty="0"/>
          </a:p>
        </p:txBody>
      </p:sp>
      <p:pic>
        <p:nvPicPr>
          <p:cNvPr id="6147" name="Picture 2" descr="E:\交大201709\备课\交大\法律经济学\电车难题\电车难题2.jpg"/>
          <p:cNvPicPr>
            <a:picLocks noGrp="1" noChangeAspect="1" noChangeArrowheads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>
          <a:xfrm>
            <a:off x="809625" y="1125538"/>
            <a:ext cx="7546975" cy="5065712"/>
          </a:xfr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0000FF"/>
                </a:solidFill>
              </a:rPr>
              <a:t>真实的案例</a:t>
            </a:r>
            <a:endParaRPr lang="zh-CN" altLang="en-US" sz="4000" b="1" dirty="0">
              <a:solidFill>
                <a:srgbClr val="0000FF"/>
              </a:solidFill>
            </a:endParaRPr>
          </a:p>
        </p:txBody>
      </p:sp>
      <p:sp>
        <p:nvSpPr>
          <p:cNvPr id="717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sz="2000" b="1" dirty="0">
                <a:solidFill>
                  <a:srgbClr val="FF0000"/>
                </a:solidFill>
              </a:rPr>
              <a:t>这是发生在十九世纪英国，一个真实的人吃人事件。</a:t>
            </a:r>
            <a:endParaRPr lang="zh-CN" altLang="zh-CN" sz="2000" b="1" dirty="0">
              <a:solidFill>
                <a:srgbClr val="FF0000"/>
              </a:solidFill>
            </a:endParaRPr>
          </a:p>
          <a:p>
            <a:r>
              <a:rPr lang="zh-CN" altLang="zh-CN" sz="2000" dirty="0"/>
              <a:t>当时，一艘英国游船玛格丽特号出海，船上一共有四名船员，船长杜特勒，水手史蒂芬和布瑞克，还有一名在船上做侍者的帕克。帕克十八岁，是个孤儿，没有成家，这是他第一次出海。</a:t>
            </a:r>
            <a:endParaRPr lang="zh-CN" altLang="zh-CN" sz="2000" dirty="0"/>
          </a:p>
          <a:p>
            <a:r>
              <a:rPr lang="zh-CN" altLang="zh-CN" sz="2000" dirty="0"/>
              <a:t>这天，玛格丽特号游船行驶到南大西洋，准备绕过好望角时，突然遇到了暴风雨，狂风巨浪击破了游船，船舱进水，正在慢慢下沉，四名船员只好逃到了救生筏上。</a:t>
            </a:r>
            <a:endParaRPr lang="zh-CN" altLang="zh-CN" sz="2000" dirty="0"/>
          </a:p>
          <a:p>
            <a:r>
              <a:rPr lang="zh-CN" altLang="zh-CN" sz="2000" dirty="0"/>
              <a:t>没有水，没有食物，四人随波逐流，在海上熬到了第十九天。十八岁的帕克因为饥渴难耐，偷偷喝了海水，病得奄奄一息，蜷缩在一边。船长杜特勒绝望之下，提议四人抽签，决定谁先死，以救活其它人。布瑞克反对抽签，船长就用眼神示意布瑞克看着昏睡着的帕克，并怂恿史蒂芬说：“没有其它的办法了，只能用帕克救大家的性命”。</a:t>
            </a:r>
            <a:endParaRPr lang="zh-CN" altLang="zh-CN" sz="2000" dirty="0"/>
          </a:p>
          <a:p>
            <a:endParaRPr lang="zh-CN" alt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0000FF"/>
                </a:solidFill>
              </a:rPr>
              <a:t>真实的案例</a:t>
            </a:r>
            <a:endParaRPr lang="zh-CN" altLang="en-US" sz="4000" b="1" dirty="0">
              <a:solidFill>
                <a:srgbClr val="0000FF"/>
              </a:solidFill>
            </a:endParaRP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zh-CN" dirty="0"/>
              <a:t>史蒂芬用小刀刺破了帕克的颈内静脉，杀死了他。后来的几天，这三名船员吃喝着帕克的血和肉，直到第二十四天，船长在获救当天的日记中写道：</a:t>
            </a:r>
            <a:r>
              <a:rPr lang="en-US" altLang="zh-CN" dirty="0"/>
              <a:t>“</a:t>
            </a:r>
            <a:r>
              <a:rPr lang="zh-CN" altLang="zh-CN" dirty="0"/>
              <a:t>当我们吃着我们的早餐时，一艘船出现了</a:t>
            </a:r>
            <a:r>
              <a:rPr lang="en-US" altLang="zh-CN" dirty="0"/>
              <a:t>……”</a:t>
            </a:r>
            <a:r>
              <a:rPr lang="zh-CN" altLang="zh-CN" dirty="0"/>
              <a:t>。这个早餐就是十八岁帕克的尸体。他们被德国船救起，很快回到了英国，接着遭到逮捕，以杀人罪受到审判。</a:t>
            </a:r>
            <a:endParaRPr lang="zh-CN" altLang="zh-CN" dirty="0"/>
          </a:p>
          <a:p>
            <a:r>
              <a:rPr lang="zh-CN" altLang="zh-CN" dirty="0"/>
              <a:t>三名船员被法官判处绞刑，但后来在民意的压力下，英国女王发布赦令，赦免了三人的死刑。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8196" name="Picture 3" descr="E:\交大201709\备课\交大\法律经济学\电车难题\少年派的奇幻漂流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504046" y="0"/>
            <a:ext cx="2639954" cy="1484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899592" y="476672"/>
            <a:ext cx="7200800" cy="68897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0000FF"/>
                </a:solidFill>
              </a:rPr>
              <a:t>无处不在的“价值权衡”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43200" y="4648200"/>
            <a:ext cx="8001000" cy="5410200"/>
          </a:xfrm>
          <a:noFill/>
        </p:spPr>
        <p:txBody>
          <a:bodyPr/>
          <a:lstStyle/>
          <a:p>
            <a:pPr marL="609600" indent="-609600">
              <a:lnSpc>
                <a:spcPct val="120000"/>
              </a:lnSpc>
              <a:buFontTx/>
              <a:buNone/>
            </a:pPr>
            <a:endParaRPr lang="zh-CN" altLang="en-US"/>
          </a:p>
          <a:p>
            <a:pPr marL="609600" indent="-609600">
              <a:lnSpc>
                <a:spcPct val="120000"/>
              </a:lnSpc>
              <a:buFontTx/>
              <a:buNone/>
            </a:pPr>
            <a:endParaRPr lang="zh-CN" altLang="en-US" sz="2800">
              <a:solidFill>
                <a:srgbClr val="91074F"/>
              </a:solidFill>
            </a:endParaRPr>
          </a:p>
        </p:txBody>
      </p:sp>
      <p:sp>
        <p:nvSpPr>
          <p:cNvPr id="461828" name="Text Box 4"/>
          <p:cNvSpPr txBox="1">
            <a:spLocks noChangeArrowheads="1"/>
          </p:cNvSpPr>
          <p:nvPr/>
        </p:nvSpPr>
        <p:spPr bwMode="auto">
          <a:xfrm>
            <a:off x="467544" y="1412776"/>
            <a:ext cx="9296400" cy="371475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ED1201"/>
                </a:solidFill>
              </a:rPr>
              <a:t>因为正义的实现是有代价的，所以我们必须“权衡”</a:t>
            </a:r>
            <a:r>
              <a:rPr lang="zh-CN" altLang="en-US" dirty="0">
                <a:solidFill>
                  <a:srgbClr val="ED1201"/>
                </a:solidFill>
              </a:rPr>
              <a:t> 。</a:t>
            </a:r>
            <a:r>
              <a:rPr lang="zh-CN" altLang="en-US" b="1" dirty="0">
                <a:solidFill>
                  <a:srgbClr val="ED1201"/>
                </a:solidFill>
              </a:rPr>
              <a:t>以</a:t>
            </a:r>
            <a:r>
              <a:rPr lang="zh-CN" altLang="en-US" b="1" u="sng" dirty="0">
                <a:solidFill>
                  <a:srgbClr val="0000FF"/>
                </a:solidFill>
              </a:rPr>
              <a:t>司法成本</a:t>
            </a:r>
            <a:r>
              <a:rPr lang="zh-CN" altLang="en-US" b="1" dirty="0">
                <a:solidFill>
                  <a:srgbClr val="ED1201"/>
                </a:solidFill>
              </a:rPr>
              <a:t>为例：</a:t>
            </a:r>
            <a:r>
              <a:rPr lang="zh-CN" altLang="en-US" dirty="0">
                <a:solidFill>
                  <a:srgbClr val="ED1201"/>
                </a:solidFill>
              </a:rPr>
              <a:t> </a:t>
            </a:r>
            <a:endParaRPr lang="zh-CN" altLang="en-US" dirty="0">
              <a:solidFill>
                <a:srgbClr val="ED1201"/>
              </a:solidFill>
            </a:endParaRPr>
          </a:p>
        </p:txBody>
      </p:sp>
      <p:sp>
        <p:nvSpPr>
          <p:cNvPr id="461829" name="Text Box 5"/>
          <p:cNvSpPr txBox="1">
            <a:spLocks noChangeArrowheads="1"/>
          </p:cNvSpPr>
          <p:nvPr/>
        </p:nvSpPr>
        <p:spPr bwMode="auto">
          <a:xfrm>
            <a:off x="467544" y="1988840"/>
            <a:ext cx="7848600" cy="366713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</a:rPr>
              <a:t>伏尔泰（</a:t>
            </a:r>
            <a:r>
              <a:rPr lang="en-US" altLang="zh-CN" b="1" dirty="0">
                <a:solidFill>
                  <a:schemeClr val="tx1"/>
                </a:solidFill>
              </a:rPr>
              <a:t>1749</a:t>
            </a:r>
            <a:r>
              <a:rPr lang="zh-CN" altLang="en-US" b="1" dirty="0">
                <a:solidFill>
                  <a:schemeClr val="tx1"/>
                </a:solidFill>
              </a:rPr>
              <a:t>）：“放过</a:t>
            </a:r>
            <a:r>
              <a:rPr lang="zh-CN" altLang="en-US" b="1" dirty="0">
                <a:solidFill>
                  <a:srgbClr val="003399"/>
                </a:solidFill>
              </a:rPr>
              <a:t>两个</a:t>
            </a:r>
            <a:r>
              <a:rPr lang="zh-CN" altLang="en-US" b="1" dirty="0">
                <a:solidFill>
                  <a:schemeClr val="tx1"/>
                </a:solidFill>
              </a:rPr>
              <a:t>确实有罪的人，胜过冤枉一位无辜的好人”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461830" name="Text Box 6"/>
          <p:cNvSpPr txBox="1">
            <a:spLocks noChangeArrowheads="1"/>
          </p:cNvSpPr>
          <p:nvPr/>
        </p:nvSpPr>
        <p:spPr bwMode="auto">
          <a:xfrm>
            <a:off x="467544" y="2636912"/>
            <a:ext cx="8001000" cy="366713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</a:rPr>
              <a:t>马修</a:t>
            </a:r>
            <a:r>
              <a:rPr lang="en-US" altLang="zh-CN" b="1" dirty="0">
                <a:solidFill>
                  <a:schemeClr val="tx1"/>
                </a:solidFill>
              </a:rPr>
              <a:t>·</a:t>
            </a:r>
            <a:r>
              <a:rPr lang="zh-CN" altLang="en-US" b="1" dirty="0">
                <a:solidFill>
                  <a:schemeClr val="tx1"/>
                </a:solidFill>
              </a:rPr>
              <a:t>海勒（</a:t>
            </a:r>
            <a:r>
              <a:rPr lang="en-US" altLang="zh-CN" b="1" dirty="0">
                <a:solidFill>
                  <a:schemeClr val="tx1"/>
                </a:solidFill>
              </a:rPr>
              <a:t>1678</a:t>
            </a:r>
            <a:r>
              <a:rPr lang="zh-CN" altLang="en-US" b="1" dirty="0">
                <a:solidFill>
                  <a:schemeClr val="tx1"/>
                </a:solidFill>
              </a:rPr>
              <a:t>）：“与其错杀一人，不如放过</a:t>
            </a:r>
            <a:r>
              <a:rPr lang="zh-CN" altLang="en-US" b="1" dirty="0">
                <a:solidFill>
                  <a:srgbClr val="003399"/>
                </a:solidFill>
              </a:rPr>
              <a:t>五个</a:t>
            </a:r>
            <a:r>
              <a:rPr lang="zh-CN" altLang="en-US" b="1" dirty="0">
                <a:solidFill>
                  <a:schemeClr val="tx1"/>
                </a:solidFill>
              </a:rPr>
              <a:t>罪人”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461831" name="Text Box 7"/>
          <p:cNvSpPr txBox="1">
            <a:spLocks noChangeArrowheads="1"/>
          </p:cNvSpPr>
          <p:nvPr/>
        </p:nvSpPr>
        <p:spPr bwMode="auto">
          <a:xfrm>
            <a:off x="539552" y="3212976"/>
            <a:ext cx="8229600" cy="366713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</a:rPr>
              <a:t>威廉</a:t>
            </a:r>
            <a:r>
              <a:rPr lang="en-US" altLang="zh-CN" b="1" dirty="0">
                <a:solidFill>
                  <a:schemeClr val="tx1"/>
                </a:solidFill>
              </a:rPr>
              <a:t>·</a:t>
            </a:r>
            <a:r>
              <a:rPr lang="zh-CN" altLang="en-US" b="1" dirty="0">
                <a:solidFill>
                  <a:schemeClr val="tx1"/>
                </a:solidFill>
              </a:rPr>
              <a:t>布莱克斯通（</a:t>
            </a:r>
            <a:r>
              <a:rPr lang="en-US" altLang="zh-CN" b="1" dirty="0">
                <a:solidFill>
                  <a:schemeClr val="tx1"/>
                </a:solidFill>
              </a:rPr>
              <a:t>18</a:t>
            </a:r>
            <a:r>
              <a:rPr lang="zh-CN" altLang="en-US" b="1" dirty="0">
                <a:solidFill>
                  <a:schemeClr val="tx1"/>
                </a:solidFill>
              </a:rPr>
              <a:t>世纪）：“令一位无辜者受罪，不如放过</a:t>
            </a:r>
            <a:r>
              <a:rPr lang="zh-CN" altLang="en-US" b="1" dirty="0">
                <a:solidFill>
                  <a:srgbClr val="003399"/>
                </a:solidFill>
              </a:rPr>
              <a:t>十个</a:t>
            </a:r>
            <a:r>
              <a:rPr lang="zh-CN" altLang="en-US" b="1" dirty="0">
                <a:solidFill>
                  <a:schemeClr val="tx1"/>
                </a:solidFill>
              </a:rPr>
              <a:t>罪人”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461832" name="Text Box 8"/>
          <p:cNvSpPr txBox="1">
            <a:spLocks noChangeArrowheads="1"/>
          </p:cNvSpPr>
          <p:nvPr/>
        </p:nvSpPr>
        <p:spPr bwMode="auto">
          <a:xfrm>
            <a:off x="467544" y="3789040"/>
            <a:ext cx="9982200" cy="371475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</a:rPr>
              <a:t>约翰</a:t>
            </a:r>
            <a:r>
              <a:rPr lang="en-US" altLang="zh-CN" b="1" dirty="0">
                <a:solidFill>
                  <a:schemeClr val="tx1"/>
                </a:solidFill>
              </a:rPr>
              <a:t>·</a:t>
            </a:r>
            <a:r>
              <a:rPr lang="zh-CN" altLang="en-US" b="1" dirty="0">
                <a:solidFill>
                  <a:schemeClr val="tx1"/>
                </a:solidFill>
              </a:rPr>
              <a:t>福蒂斯鸠（</a:t>
            </a:r>
            <a:r>
              <a:rPr lang="en-US" altLang="zh-CN" b="1" dirty="0">
                <a:solidFill>
                  <a:schemeClr val="tx1"/>
                </a:solidFill>
              </a:rPr>
              <a:t>1471</a:t>
            </a:r>
            <a:r>
              <a:rPr lang="zh-CN" altLang="en-US" b="1" dirty="0">
                <a:solidFill>
                  <a:schemeClr val="tx1"/>
                </a:solidFill>
              </a:rPr>
              <a:t>）：“与误杀一位无辜者相比，我宁愿</a:t>
            </a:r>
            <a:r>
              <a:rPr lang="zh-CN" altLang="en-US" b="1" dirty="0">
                <a:solidFill>
                  <a:srgbClr val="003399"/>
                </a:solidFill>
              </a:rPr>
              <a:t>二十个</a:t>
            </a:r>
            <a:r>
              <a:rPr lang="zh-CN" altLang="en-US" b="1" dirty="0">
                <a:solidFill>
                  <a:schemeClr val="tx1"/>
                </a:solidFill>
              </a:rPr>
              <a:t>罪人免于一死”。</a:t>
            </a:r>
            <a:r>
              <a:rPr lang="zh-CN" altLang="en-US" dirty="0"/>
              <a:t> </a:t>
            </a:r>
            <a:endParaRPr lang="en-US" altLang="zh-CN" dirty="0"/>
          </a:p>
        </p:txBody>
      </p:sp>
      <p:sp>
        <p:nvSpPr>
          <p:cNvPr id="461833" name="Text Box 9"/>
          <p:cNvSpPr txBox="1">
            <a:spLocks noChangeArrowheads="1"/>
          </p:cNvSpPr>
          <p:nvPr/>
        </p:nvSpPr>
        <p:spPr bwMode="auto">
          <a:xfrm>
            <a:off x="467544" y="4365104"/>
            <a:ext cx="8229600" cy="366713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</a:rPr>
              <a:t>本杰明</a:t>
            </a:r>
            <a:r>
              <a:rPr lang="en-US" altLang="zh-CN" b="1" dirty="0">
                <a:solidFill>
                  <a:schemeClr val="tx1"/>
                </a:solidFill>
              </a:rPr>
              <a:t>·</a:t>
            </a:r>
            <a:r>
              <a:rPr lang="zh-CN" altLang="en-US" b="1" dirty="0">
                <a:solidFill>
                  <a:schemeClr val="tx1"/>
                </a:solidFill>
              </a:rPr>
              <a:t>富兰克林（</a:t>
            </a:r>
            <a:r>
              <a:rPr lang="en-US" altLang="zh-CN" b="1" dirty="0">
                <a:solidFill>
                  <a:schemeClr val="tx1"/>
                </a:solidFill>
              </a:rPr>
              <a:t>1785</a:t>
            </a:r>
            <a:r>
              <a:rPr lang="zh-CN" altLang="en-US" b="1" dirty="0">
                <a:solidFill>
                  <a:schemeClr val="tx1"/>
                </a:solidFill>
              </a:rPr>
              <a:t>）：“与其让一位无辜者受罪，不如放过</a:t>
            </a:r>
            <a:r>
              <a:rPr lang="zh-CN" altLang="en-US" b="1" dirty="0">
                <a:solidFill>
                  <a:srgbClr val="003399"/>
                </a:solidFill>
              </a:rPr>
              <a:t>一百名</a:t>
            </a:r>
            <a:r>
              <a:rPr lang="zh-CN" altLang="en-US" b="1" dirty="0">
                <a:solidFill>
                  <a:schemeClr val="tx1"/>
                </a:solidFill>
              </a:rPr>
              <a:t>罪人”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461834" name="Text Box 10"/>
          <p:cNvSpPr txBox="1">
            <a:spLocks noChangeArrowheads="1"/>
          </p:cNvSpPr>
          <p:nvPr/>
        </p:nvSpPr>
        <p:spPr bwMode="auto">
          <a:xfrm>
            <a:off x="539552" y="4941168"/>
            <a:ext cx="8382000" cy="366713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</a:rPr>
              <a:t>摩西</a:t>
            </a:r>
            <a:r>
              <a:rPr lang="en-US" altLang="zh-CN" b="1" dirty="0">
                <a:solidFill>
                  <a:schemeClr val="tx1"/>
                </a:solidFill>
              </a:rPr>
              <a:t>·</a:t>
            </a:r>
            <a:r>
              <a:rPr lang="zh-CN" altLang="en-US" b="1" dirty="0">
                <a:solidFill>
                  <a:schemeClr val="tx1"/>
                </a:solidFill>
              </a:rPr>
              <a:t>迈蒙尼德斯（</a:t>
            </a:r>
            <a:r>
              <a:rPr lang="en-US" altLang="zh-CN" b="1" dirty="0">
                <a:solidFill>
                  <a:schemeClr val="tx1"/>
                </a:solidFill>
              </a:rPr>
              <a:t>12</a:t>
            </a:r>
            <a:r>
              <a:rPr lang="zh-CN" altLang="en-US" b="1" dirty="0">
                <a:solidFill>
                  <a:schemeClr val="tx1"/>
                </a:solidFill>
              </a:rPr>
              <a:t>世纪）：“宁可放过</a:t>
            </a:r>
            <a:r>
              <a:rPr lang="zh-CN" altLang="en-US" b="1" dirty="0">
                <a:solidFill>
                  <a:srgbClr val="003399"/>
                </a:solidFill>
              </a:rPr>
              <a:t>一千名</a:t>
            </a:r>
            <a:r>
              <a:rPr lang="zh-CN" altLang="en-US" b="1" dirty="0">
                <a:solidFill>
                  <a:schemeClr val="tx1"/>
                </a:solidFill>
              </a:rPr>
              <a:t>罪人，也不可妄杀一名无辜者”。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461835" name="Text Box 11"/>
          <p:cNvSpPr txBox="1">
            <a:spLocks noChangeArrowheads="1"/>
          </p:cNvSpPr>
          <p:nvPr/>
        </p:nvSpPr>
        <p:spPr bwMode="auto">
          <a:xfrm>
            <a:off x="539552" y="5589240"/>
            <a:ext cx="7467600" cy="779463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</a:rPr>
              <a:t>中国古话：“宁可错杀一千，不可放过一人” ？</a:t>
            </a:r>
            <a:endParaRPr lang="zh-CN" altLang="en-US" b="1" dirty="0">
              <a:solidFill>
                <a:schemeClr val="tx1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660066"/>
                </a:solidFill>
              </a:rPr>
              <a:t>程序正义的“价格”问题：中国能容忍类似辛普森的案件吗？</a:t>
            </a:r>
            <a:endParaRPr lang="zh-CN" altLang="en-US" b="1" dirty="0">
              <a:solidFill>
                <a:srgbClr val="6600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61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61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61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61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61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61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61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461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828" grpId="0"/>
      <p:bldP spid="461829" grpId="0"/>
      <p:bldP spid="461830" grpId="0"/>
      <p:bldP spid="461831" grpId="0"/>
      <p:bldP spid="461832" grpId="0"/>
      <p:bldP spid="461833" grpId="0"/>
      <p:bldP spid="461834" grpId="0"/>
      <p:bldP spid="46183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827584" y="332656"/>
            <a:ext cx="7550224" cy="688975"/>
          </a:xfrm>
        </p:spPr>
        <p:txBody>
          <a:bodyPr/>
          <a:lstStyle/>
          <a:p>
            <a:pPr>
              <a:defRPr/>
            </a:pPr>
            <a:r>
              <a:rPr lang="zh-CN" altLang="en-US" sz="2600" b="1" dirty="0">
                <a:solidFill>
                  <a:srgbClr val="0000FF"/>
                </a:solidFill>
              </a:rPr>
              <a:t>“公平、正义、人权”背后的经济学逻辑</a:t>
            </a:r>
            <a:endParaRPr lang="zh-CN" altLang="en-US" sz="2600" b="1" dirty="0">
              <a:solidFill>
                <a:srgbClr val="0000FF"/>
              </a:solidFill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43200" y="4648200"/>
            <a:ext cx="8001000" cy="5410200"/>
          </a:xfrm>
          <a:noFill/>
        </p:spPr>
        <p:txBody>
          <a:bodyPr/>
          <a:lstStyle/>
          <a:p>
            <a:pPr marL="609600" indent="-609600">
              <a:lnSpc>
                <a:spcPct val="120000"/>
              </a:lnSpc>
              <a:buFontTx/>
              <a:buNone/>
            </a:pPr>
            <a:endParaRPr lang="zh-CN" altLang="en-US" dirty="0"/>
          </a:p>
          <a:p>
            <a:pPr marL="609600" indent="-609600">
              <a:lnSpc>
                <a:spcPct val="120000"/>
              </a:lnSpc>
              <a:buFontTx/>
              <a:buNone/>
            </a:pPr>
            <a:endParaRPr lang="zh-CN" altLang="en-US" sz="2800" dirty="0">
              <a:solidFill>
                <a:srgbClr val="91074F"/>
              </a:solidFill>
            </a:endParaRPr>
          </a:p>
        </p:txBody>
      </p:sp>
      <p:sp>
        <p:nvSpPr>
          <p:cNvPr id="450564" name="Text Box 4"/>
          <p:cNvSpPr txBox="1">
            <a:spLocks noChangeArrowheads="1"/>
          </p:cNvSpPr>
          <p:nvPr/>
        </p:nvSpPr>
        <p:spPr bwMode="auto">
          <a:xfrm>
            <a:off x="685800" y="1295400"/>
            <a:ext cx="8077200" cy="641350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ED1201"/>
                </a:solidFill>
              </a:rPr>
              <a:t>我们诉诸</a:t>
            </a:r>
            <a:r>
              <a:rPr lang="zh-CN" altLang="en-US" dirty="0">
                <a:solidFill>
                  <a:srgbClr val="ED1201"/>
                </a:solidFill>
              </a:rPr>
              <a:t> </a:t>
            </a:r>
            <a:r>
              <a:rPr lang="zh-CN" altLang="en-US" b="1" dirty="0">
                <a:solidFill>
                  <a:srgbClr val="ED1201"/>
                </a:solidFill>
              </a:rPr>
              <a:t>“公平、正义、人权”这类话语去评价法律制度是因为我们的思想不够深刻，没有找到更加有说服力，有“穿透力”的科学解释方法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50565" name="Text Box 5"/>
          <p:cNvSpPr txBox="1">
            <a:spLocks noChangeArrowheads="1"/>
          </p:cNvSpPr>
          <p:nvPr/>
        </p:nvSpPr>
        <p:spPr bwMode="auto">
          <a:xfrm>
            <a:off x="685800" y="2286000"/>
            <a:ext cx="8229600" cy="641350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</a:rPr>
              <a:t>现实的法律制度之所以能够持续存在，原因不在于它是符合“公平、正义、人权”观念的（这些观念是因时因地的），而是因为它符合了经济学的效率原则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50567" name="Text Box 7"/>
          <p:cNvSpPr txBox="1">
            <a:spLocks noChangeArrowheads="1"/>
          </p:cNvSpPr>
          <p:nvPr/>
        </p:nvSpPr>
        <p:spPr bwMode="auto">
          <a:xfrm>
            <a:off x="685800" y="3276600"/>
            <a:ext cx="7162800" cy="366713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3399"/>
                </a:solidFill>
              </a:rPr>
              <a:t>讨论：</a:t>
            </a:r>
            <a:r>
              <a:rPr lang="zh-CN" altLang="en-US" b="1" dirty="0">
                <a:solidFill>
                  <a:schemeClr val="tx1"/>
                </a:solidFill>
              </a:rPr>
              <a:t>发生信用卡被盗刷，谁来承担风险（责任）是最公平的？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50568" name="Text Box 8"/>
          <p:cNvSpPr txBox="1">
            <a:spLocks noChangeArrowheads="1"/>
          </p:cNvSpPr>
          <p:nvPr/>
        </p:nvSpPr>
        <p:spPr bwMode="auto">
          <a:xfrm>
            <a:off x="685800" y="3810000"/>
            <a:ext cx="5410200" cy="366713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</a:rPr>
              <a:t>信用卡持卡人还是商户？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50569" name="Text Box 9"/>
          <p:cNvSpPr txBox="1">
            <a:spLocks noChangeArrowheads="1"/>
          </p:cNvSpPr>
          <p:nvPr/>
        </p:nvSpPr>
        <p:spPr bwMode="auto">
          <a:xfrm>
            <a:off x="685800" y="4419600"/>
            <a:ext cx="8305800" cy="366713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3399"/>
                </a:solidFill>
              </a:rPr>
              <a:t>讨论：</a:t>
            </a:r>
            <a:r>
              <a:rPr lang="zh-CN" altLang="en-US" b="1" dirty="0">
                <a:solidFill>
                  <a:schemeClr val="tx1"/>
                </a:solidFill>
              </a:rPr>
              <a:t>民事诉讼中，“谁主张，谁举证”为什么在一般情况下是合理的？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50570" name="Text Box 10"/>
          <p:cNvSpPr txBox="1">
            <a:spLocks noChangeArrowheads="1"/>
          </p:cNvSpPr>
          <p:nvPr/>
        </p:nvSpPr>
        <p:spPr bwMode="auto">
          <a:xfrm>
            <a:off x="685800" y="4953000"/>
            <a:ext cx="6934200" cy="366713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</a:rPr>
              <a:t>刑法中，“无罪推定”为什么被认为是一项基本人权？</a:t>
            </a:r>
            <a:endParaRPr lang="en-US" altLang="zh-CN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50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50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50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50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50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50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64" grpId="0"/>
      <p:bldP spid="450565" grpId="0"/>
      <p:bldP spid="450567" grpId="0"/>
      <p:bldP spid="450568" grpId="0"/>
      <p:bldP spid="450569" grpId="0"/>
      <p:bldP spid="45057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624" y="476672"/>
            <a:ext cx="6477000" cy="688975"/>
          </a:xfrm>
        </p:spPr>
        <p:txBody>
          <a:bodyPr/>
          <a:lstStyle/>
          <a:p>
            <a:pPr>
              <a:defRPr/>
            </a:pPr>
            <a:r>
              <a:rPr lang="zh-CN" altLang="en-US" sz="2600" b="1" dirty="0">
                <a:solidFill>
                  <a:srgbClr val="0000FF"/>
                </a:solidFill>
              </a:rPr>
              <a:t>“公平、正义、人权”背后的经济学逻辑</a:t>
            </a:r>
            <a:endParaRPr lang="zh-CN" altLang="en-US" sz="2600" b="1" dirty="0">
              <a:solidFill>
                <a:srgbClr val="0000FF"/>
              </a:solidFill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43200" y="4648200"/>
            <a:ext cx="8001000" cy="5410200"/>
          </a:xfrm>
          <a:noFill/>
        </p:spPr>
        <p:txBody>
          <a:bodyPr/>
          <a:lstStyle/>
          <a:p>
            <a:pPr marL="609600" indent="-609600">
              <a:lnSpc>
                <a:spcPct val="120000"/>
              </a:lnSpc>
              <a:buFontTx/>
              <a:buNone/>
            </a:pPr>
            <a:endParaRPr lang="zh-CN" altLang="en-US" dirty="0"/>
          </a:p>
          <a:p>
            <a:pPr marL="609600" indent="-609600">
              <a:lnSpc>
                <a:spcPct val="120000"/>
              </a:lnSpc>
              <a:buFontTx/>
              <a:buNone/>
            </a:pPr>
            <a:endParaRPr lang="zh-CN" altLang="en-US" sz="2800" dirty="0">
              <a:solidFill>
                <a:srgbClr val="91074F"/>
              </a:solidFill>
            </a:endParaRPr>
          </a:p>
        </p:txBody>
      </p:sp>
      <p:sp>
        <p:nvSpPr>
          <p:cNvPr id="451588" name="Text Box 4"/>
          <p:cNvSpPr txBox="1">
            <a:spLocks noChangeArrowheads="1"/>
          </p:cNvSpPr>
          <p:nvPr/>
        </p:nvSpPr>
        <p:spPr bwMode="auto">
          <a:xfrm>
            <a:off x="762000" y="1524000"/>
            <a:ext cx="7620000" cy="366713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3399"/>
                </a:solidFill>
              </a:rPr>
              <a:t>讨论：</a:t>
            </a:r>
            <a:r>
              <a:rPr lang="zh-CN" altLang="en-US" b="1" dirty="0">
                <a:solidFill>
                  <a:schemeClr val="tx1"/>
                </a:solidFill>
              </a:rPr>
              <a:t>对自身身体的所有、支配权利为什么属于每一个个体自身？</a:t>
            </a:r>
            <a:r>
              <a:rPr lang="zh-CN" altLang="en-US" dirty="0">
                <a:solidFill>
                  <a:schemeClr val="tx1"/>
                </a:solidFill>
              </a:rPr>
              <a:t> 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51589" name="Text Box 5"/>
          <p:cNvSpPr txBox="1">
            <a:spLocks noChangeArrowheads="1"/>
          </p:cNvSpPr>
          <p:nvPr/>
        </p:nvSpPr>
        <p:spPr bwMode="auto">
          <a:xfrm>
            <a:off x="762000" y="2209800"/>
            <a:ext cx="7620000" cy="779463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3399"/>
                </a:solidFill>
              </a:rPr>
              <a:t>讨论：</a:t>
            </a:r>
            <a:r>
              <a:rPr lang="zh-CN" altLang="en-US" b="1" dirty="0">
                <a:solidFill>
                  <a:schemeClr val="tx1"/>
                </a:solidFill>
              </a:rPr>
              <a:t>言论自由是天赋人权吗？</a:t>
            </a:r>
            <a:endParaRPr lang="zh-CN" altLang="en-US" b="1" dirty="0">
              <a:solidFill>
                <a:schemeClr val="tx1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</a:rPr>
              <a:t>古代</a:t>
            </a:r>
            <a:r>
              <a:rPr lang="en-US" altLang="zh-CN" b="1" dirty="0">
                <a:solidFill>
                  <a:schemeClr val="tx1"/>
                </a:solidFill>
              </a:rPr>
              <a:t>/</a:t>
            </a:r>
            <a:r>
              <a:rPr lang="zh-CN" altLang="en-US" b="1" dirty="0">
                <a:solidFill>
                  <a:schemeClr val="tx1"/>
                </a:solidFill>
              </a:rPr>
              <a:t>现代；政治言论</a:t>
            </a:r>
            <a:r>
              <a:rPr lang="en-US" altLang="zh-CN" b="1" dirty="0">
                <a:solidFill>
                  <a:schemeClr val="tx1"/>
                </a:solidFill>
              </a:rPr>
              <a:t>/</a:t>
            </a:r>
            <a:r>
              <a:rPr lang="zh-CN" altLang="en-US" b="1" dirty="0">
                <a:solidFill>
                  <a:schemeClr val="tx1"/>
                </a:solidFill>
              </a:rPr>
              <a:t>商业言论；针对公众人物</a:t>
            </a:r>
            <a:r>
              <a:rPr lang="en-US" altLang="zh-CN" b="1" dirty="0">
                <a:solidFill>
                  <a:schemeClr val="tx1"/>
                </a:solidFill>
              </a:rPr>
              <a:t>/</a:t>
            </a:r>
            <a:r>
              <a:rPr lang="zh-CN" altLang="en-US" b="1" dirty="0">
                <a:solidFill>
                  <a:schemeClr val="tx1"/>
                </a:solidFill>
              </a:rPr>
              <a:t>针对普通</a:t>
            </a:r>
            <a:r>
              <a:rPr lang="zh-CN" altLang="en-US" b="1" dirty="0"/>
              <a:t>个体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451591" name="Text Box 7"/>
          <p:cNvSpPr txBox="1">
            <a:spLocks noChangeArrowheads="1"/>
          </p:cNvSpPr>
          <p:nvPr/>
        </p:nvSpPr>
        <p:spPr bwMode="auto">
          <a:xfrm>
            <a:off x="762000" y="3276600"/>
            <a:ext cx="7620000" cy="366713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3399"/>
                </a:solidFill>
              </a:rPr>
              <a:t>讨论：</a:t>
            </a:r>
            <a:r>
              <a:rPr lang="zh-CN" altLang="en-US" b="1" dirty="0">
                <a:solidFill>
                  <a:schemeClr val="tx1"/>
                </a:solidFill>
              </a:rPr>
              <a:t>汽车上牌收费是否侵犯公民的基本权利？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451592" name="Text Box 8"/>
          <p:cNvSpPr txBox="1">
            <a:spLocks noChangeArrowheads="1"/>
          </p:cNvSpPr>
          <p:nvPr/>
        </p:nvSpPr>
        <p:spPr bwMode="auto">
          <a:xfrm>
            <a:off x="762000" y="4038600"/>
            <a:ext cx="7239000" cy="366713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3399"/>
                </a:solidFill>
              </a:rPr>
              <a:t>讨论：</a:t>
            </a:r>
            <a:r>
              <a:rPr lang="zh-CN" altLang="en-US" b="1" dirty="0">
                <a:solidFill>
                  <a:schemeClr val="tx1"/>
                </a:solidFill>
              </a:rPr>
              <a:t>从“连坐”制度到责任自负，这是人权的进步？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451593" name="Text Box 9"/>
          <p:cNvSpPr txBox="1">
            <a:spLocks noChangeArrowheads="1"/>
          </p:cNvSpPr>
          <p:nvPr/>
        </p:nvSpPr>
        <p:spPr bwMode="auto">
          <a:xfrm>
            <a:off x="762000" y="4724400"/>
            <a:ext cx="8610600" cy="371513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3399"/>
                </a:solidFill>
              </a:rPr>
              <a:t>讨论：</a:t>
            </a:r>
            <a:r>
              <a:rPr lang="zh-CN" altLang="en-US" b="1" dirty="0">
                <a:solidFill>
                  <a:schemeClr val="tx1"/>
                </a:solidFill>
              </a:rPr>
              <a:t>为什么可以免除</a:t>
            </a:r>
            <a:r>
              <a:rPr lang="zh-CN" altLang="en-US" b="1" dirty="0"/>
              <a:t>或减轻</a:t>
            </a:r>
            <a:r>
              <a:rPr lang="zh-CN" altLang="en-US" b="1" dirty="0">
                <a:solidFill>
                  <a:schemeClr val="tx1"/>
                </a:solidFill>
              </a:rPr>
              <a:t>精神病人</a:t>
            </a:r>
            <a:r>
              <a:rPr lang="en-US" altLang="zh-CN" b="1" dirty="0">
                <a:solidFill>
                  <a:schemeClr val="tx1"/>
                </a:solidFill>
              </a:rPr>
              <a:t>/</a:t>
            </a:r>
            <a:r>
              <a:rPr lang="zh-CN" altLang="en-US" b="1" dirty="0">
                <a:solidFill>
                  <a:schemeClr val="tx1"/>
                </a:solidFill>
              </a:rPr>
              <a:t>未成年人的刑事责任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51596" name="Text Box 12"/>
          <p:cNvSpPr txBox="1">
            <a:spLocks noChangeArrowheads="1"/>
          </p:cNvSpPr>
          <p:nvPr/>
        </p:nvSpPr>
        <p:spPr bwMode="auto">
          <a:xfrm>
            <a:off x="762000" y="5410200"/>
            <a:ext cx="8610600" cy="366713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3399"/>
                </a:solidFill>
              </a:rPr>
              <a:t>讨论：</a:t>
            </a:r>
            <a:r>
              <a:rPr lang="zh-CN" altLang="en-US" b="1" dirty="0">
                <a:solidFill>
                  <a:schemeClr val="tx1"/>
                </a:solidFill>
              </a:rPr>
              <a:t>是否可以对违背婚约的行为提起诉讼？（诉权是天赋的吗？）</a:t>
            </a:r>
            <a:endParaRPr lang="zh-CN" alt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51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51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51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51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51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51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588" grpId="0"/>
      <p:bldP spid="451589" grpId="0"/>
      <p:bldP spid="451591" grpId="0"/>
      <p:bldP spid="451592" grpId="0"/>
      <p:bldP spid="451593" grpId="0"/>
      <p:bldP spid="45159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404664"/>
            <a:ext cx="6768752" cy="68897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0000FF"/>
                </a:solidFill>
              </a:rPr>
              <a:t>关于“效率”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43200" y="4648200"/>
            <a:ext cx="8001000" cy="5410200"/>
          </a:xfrm>
          <a:noFill/>
        </p:spPr>
        <p:txBody>
          <a:bodyPr/>
          <a:lstStyle/>
          <a:p>
            <a:pPr marL="609600" indent="-609600">
              <a:lnSpc>
                <a:spcPct val="120000"/>
              </a:lnSpc>
              <a:buFontTx/>
              <a:buNone/>
            </a:pPr>
            <a:endParaRPr lang="zh-CN" altLang="en-US" dirty="0"/>
          </a:p>
          <a:p>
            <a:pPr marL="609600" indent="-609600">
              <a:lnSpc>
                <a:spcPct val="120000"/>
              </a:lnSpc>
              <a:buFontTx/>
              <a:buNone/>
            </a:pPr>
            <a:endParaRPr lang="zh-CN" altLang="en-US" sz="2800" dirty="0">
              <a:solidFill>
                <a:srgbClr val="91074F"/>
              </a:solidFill>
            </a:endParaRPr>
          </a:p>
        </p:txBody>
      </p:sp>
      <p:sp>
        <p:nvSpPr>
          <p:cNvPr id="453636" name="Text Box 4"/>
          <p:cNvSpPr txBox="1">
            <a:spLocks noChangeArrowheads="1"/>
          </p:cNvSpPr>
          <p:nvPr/>
        </p:nvSpPr>
        <p:spPr bwMode="auto">
          <a:xfrm>
            <a:off x="762000" y="1524000"/>
            <a:ext cx="3276600" cy="366713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chemeClr val="tx1"/>
                </a:solidFill>
              </a:rPr>
              <a:t>两种意义上的“效率”</a:t>
            </a:r>
            <a:r>
              <a:rPr lang="zh-CN" altLang="en-US">
                <a:solidFill>
                  <a:schemeClr val="tx1"/>
                </a:solidFill>
              </a:rPr>
              <a:t>  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53637" name="Text Box 5"/>
          <p:cNvSpPr txBox="1">
            <a:spLocks noChangeArrowheads="1"/>
          </p:cNvSpPr>
          <p:nvPr/>
        </p:nvSpPr>
        <p:spPr bwMode="auto">
          <a:xfrm>
            <a:off x="762000" y="2057400"/>
            <a:ext cx="7543800" cy="371513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ED1201"/>
                </a:solidFill>
              </a:rPr>
              <a:t>帕累托效率（</a:t>
            </a:r>
            <a:r>
              <a:rPr lang="en-US" altLang="zh-CN" b="1" dirty="0">
                <a:solidFill>
                  <a:srgbClr val="ED1201"/>
                </a:solidFill>
                <a:latin typeface="Times New Roman" panose="02020603050405020304" pitchFamily="18" charset="0"/>
              </a:rPr>
              <a:t>Pareto Efficiency</a:t>
            </a:r>
            <a:r>
              <a:rPr lang="zh-CN" altLang="en-US" b="1" dirty="0">
                <a:solidFill>
                  <a:srgbClr val="ED1201"/>
                </a:solidFill>
              </a:rPr>
              <a:t>）</a:t>
            </a:r>
            <a:endParaRPr lang="zh-CN" altLang="en-US" b="1" dirty="0">
              <a:solidFill>
                <a:srgbClr val="ED1201"/>
              </a:solidFill>
            </a:endParaRPr>
          </a:p>
        </p:txBody>
      </p:sp>
      <p:sp>
        <p:nvSpPr>
          <p:cNvPr id="453638" name="Text Box 6"/>
          <p:cNvSpPr txBox="1">
            <a:spLocks noChangeArrowheads="1"/>
          </p:cNvSpPr>
          <p:nvPr/>
        </p:nvSpPr>
        <p:spPr bwMode="auto">
          <a:xfrm>
            <a:off x="762000" y="2590800"/>
            <a:ext cx="7848600" cy="915988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</a:rPr>
              <a:t>指资源分配的一种</a:t>
            </a:r>
            <a:r>
              <a:rPr lang="zh-CN" altLang="en-US" b="1" dirty="0">
                <a:solidFill>
                  <a:srgbClr val="003399"/>
                </a:solidFill>
              </a:rPr>
              <a:t>理想状态</a:t>
            </a:r>
            <a:r>
              <a:rPr lang="zh-CN" altLang="en-US" b="1" dirty="0">
                <a:solidFill>
                  <a:schemeClr val="tx1"/>
                </a:solidFill>
              </a:rPr>
              <a:t>，即假定固有的一群人和可分配的资源，从一种分配状态到另一种状态的变化中，在没有使任何人境况变坏的前提下，也不可能再使某些人的处境变好。</a:t>
            </a:r>
            <a:r>
              <a:rPr lang="zh-CN" altLang="en-US" dirty="0"/>
              <a:t> </a:t>
            </a:r>
            <a:endParaRPr lang="en-US" altLang="zh-CN" dirty="0"/>
          </a:p>
        </p:txBody>
      </p:sp>
      <p:sp>
        <p:nvSpPr>
          <p:cNvPr id="453640" name="Text Box 8"/>
          <p:cNvSpPr txBox="1">
            <a:spLocks noChangeArrowheads="1"/>
          </p:cNvSpPr>
          <p:nvPr/>
        </p:nvSpPr>
        <p:spPr bwMode="auto">
          <a:xfrm>
            <a:off x="762000" y="3657600"/>
            <a:ext cx="7391400" cy="366713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</a:rPr>
              <a:t>帕累托改进在现实可能存在吗？</a:t>
            </a:r>
            <a:r>
              <a:rPr lang="en-US" altLang="zh-CN" b="1" dirty="0">
                <a:solidFill>
                  <a:schemeClr val="tx1"/>
                </a:solidFill>
              </a:rPr>
              <a:t>——</a:t>
            </a:r>
            <a:r>
              <a:rPr lang="zh-CN" altLang="en-US" b="1" dirty="0">
                <a:solidFill>
                  <a:schemeClr val="tx1"/>
                </a:solidFill>
              </a:rPr>
              <a:t>中国的改革开放之初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53641" name="Text Box 9"/>
          <p:cNvSpPr txBox="1">
            <a:spLocks noChangeArrowheads="1"/>
          </p:cNvSpPr>
          <p:nvPr/>
        </p:nvSpPr>
        <p:spPr bwMode="auto">
          <a:xfrm>
            <a:off x="762000" y="4267200"/>
            <a:ext cx="7772400" cy="366713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chemeClr val="tx1"/>
                </a:solidFill>
              </a:rPr>
              <a:t>局部上存在：自由的交易，自由的婚姻，自由的合作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53642" name="Text Box 10"/>
          <p:cNvSpPr txBox="1">
            <a:spLocks noChangeArrowheads="1"/>
          </p:cNvSpPr>
          <p:nvPr/>
        </p:nvSpPr>
        <p:spPr bwMode="auto">
          <a:xfrm>
            <a:off x="762000" y="4876800"/>
            <a:ext cx="8382000" cy="371513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</a:rPr>
              <a:t>但考虑到第三方可能的损失以及财富分配效应，帕累托效率很难存在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53643" name="Text Box 11"/>
          <p:cNvSpPr txBox="1">
            <a:spLocks noChangeArrowheads="1"/>
          </p:cNvSpPr>
          <p:nvPr/>
        </p:nvSpPr>
        <p:spPr bwMode="auto">
          <a:xfrm>
            <a:off x="762000" y="5410200"/>
            <a:ext cx="8229600" cy="371513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</a:rPr>
              <a:t>法律制度的目标：不应定位为帕累托效率，否则社会很难进步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53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53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53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53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53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53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53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3636" grpId="0"/>
      <p:bldP spid="453637" grpId="0"/>
      <p:bldP spid="453638" grpId="0"/>
      <p:bldP spid="453640" grpId="0"/>
      <p:bldP spid="453641" grpId="0"/>
      <p:bldP spid="453642" grpId="0"/>
      <p:bldP spid="45364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827584" y="404664"/>
            <a:ext cx="7488832" cy="68897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0000FF"/>
                </a:solidFill>
              </a:rPr>
              <a:t>关于“效率”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43200" y="4648200"/>
            <a:ext cx="8001000" cy="5410200"/>
          </a:xfrm>
          <a:noFill/>
        </p:spPr>
        <p:txBody>
          <a:bodyPr/>
          <a:lstStyle/>
          <a:p>
            <a:pPr marL="609600" indent="-609600">
              <a:lnSpc>
                <a:spcPct val="120000"/>
              </a:lnSpc>
              <a:buFontTx/>
              <a:buNone/>
            </a:pPr>
            <a:endParaRPr lang="zh-CN" altLang="en-US" dirty="0"/>
          </a:p>
          <a:p>
            <a:pPr marL="609600" indent="-609600">
              <a:lnSpc>
                <a:spcPct val="120000"/>
              </a:lnSpc>
              <a:buFontTx/>
              <a:buNone/>
            </a:pPr>
            <a:endParaRPr lang="zh-CN" altLang="en-US" sz="2800" dirty="0">
              <a:solidFill>
                <a:srgbClr val="91074F"/>
              </a:solidFill>
            </a:endParaRPr>
          </a:p>
        </p:txBody>
      </p:sp>
      <p:sp>
        <p:nvSpPr>
          <p:cNvPr id="454660" name="Text Box 4"/>
          <p:cNvSpPr txBox="1">
            <a:spLocks noChangeArrowheads="1"/>
          </p:cNvSpPr>
          <p:nvPr/>
        </p:nvSpPr>
        <p:spPr bwMode="auto">
          <a:xfrm>
            <a:off x="762000" y="1371600"/>
            <a:ext cx="7315200" cy="371513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</a:rPr>
              <a:t>卡尔多</a:t>
            </a:r>
            <a:r>
              <a:rPr lang="en-US" altLang="zh-CN" b="1" dirty="0">
                <a:solidFill>
                  <a:srgbClr val="FF0000"/>
                </a:solidFill>
              </a:rPr>
              <a:t>-</a:t>
            </a:r>
            <a:r>
              <a:rPr lang="zh-CN" altLang="en-US" b="1" dirty="0">
                <a:solidFill>
                  <a:srgbClr val="FF0000"/>
                </a:solidFill>
              </a:rPr>
              <a:t>希克斯效率 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en-US" altLang="zh-CN" b="1" dirty="0" err="1">
                <a:solidFill>
                  <a:srgbClr val="FF0000"/>
                </a:solidFill>
              </a:rPr>
              <a:t>Karldor</a:t>
            </a:r>
            <a:r>
              <a:rPr lang="en-US" altLang="zh-CN" b="1" dirty="0">
                <a:solidFill>
                  <a:srgbClr val="FF0000"/>
                </a:solidFill>
              </a:rPr>
              <a:t> Hicks Efficiency)</a:t>
            </a:r>
            <a:r>
              <a:rPr lang="en-US" altLang="zh-CN" dirty="0">
                <a:solidFill>
                  <a:srgbClr val="FF0000"/>
                </a:solidFill>
              </a:rPr>
              <a:t>   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454661" name="Text Box 5"/>
          <p:cNvSpPr txBox="1">
            <a:spLocks noChangeArrowheads="1"/>
          </p:cNvSpPr>
          <p:nvPr/>
        </p:nvSpPr>
        <p:spPr bwMode="auto">
          <a:xfrm>
            <a:off x="762000" y="1905000"/>
            <a:ext cx="7467600" cy="641350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chemeClr val="tx1"/>
                </a:solidFill>
              </a:rPr>
              <a:t>使一些人受损，另一些人受益；但只要总体上来看益大于损，这就表明总的社会福利增加了（被认定为有效率）</a:t>
            </a:r>
            <a:r>
              <a:rPr lang="zh-CN" altLang="en-US"/>
              <a:t> </a:t>
            </a:r>
            <a:endParaRPr lang="en-US" altLang="zh-CN"/>
          </a:p>
        </p:txBody>
      </p:sp>
      <p:sp>
        <p:nvSpPr>
          <p:cNvPr id="454662" name="Text Box 6"/>
          <p:cNvSpPr txBox="1">
            <a:spLocks noChangeArrowheads="1"/>
          </p:cNvSpPr>
          <p:nvPr/>
        </p:nvSpPr>
        <p:spPr bwMode="auto">
          <a:xfrm>
            <a:off x="762000" y="2743200"/>
            <a:ext cx="7239000" cy="366713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chemeClr val="tx1"/>
                </a:solidFill>
              </a:rPr>
              <a:t>强调</a:t>
            </a:r>
            <a:r>
              <a:rPr lang="zh-CN" altLang="en-US" b="1">
                <a:solidFill>
                  <a:srgbClr val="003399"/>
                </a:solidFill>
              </a:rPr>
              <a:t>社会财富的最大化</a:t>
            </a:r>
            <a:r>
              <a:rPr lang="zh-CN" altLang="en-US" b="1">
                <a:solidFill>
                  <a:schemeClr val="tx1"/>
                </a:solidFill>
              </a:rPr>
              <a:t>，存在“假想的补偿”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54664" name="Text Box 8"/>
          <p:cNvSpPr txBox="1">
            <a:spLocks noChangeArrowheads="1"/>
          </p:cNvSpPr>
          <p:nvPr/>
        </p:nvSpPr>
        <p:spPr bwMode="auto">
          <a:xfrm>
            <a:off x="762000" y="3352800"/>
            <a:ext cx="8077200" cy="648512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u="sng" dirty="0">
                <a:solidFill>
                  <a:schemeClr val="tx1"/>
                </a:solidFill>
              </a:rPr>
              <a:t>大多数情况下</a:t>
            </a:r>
            <a:r>
              <a:rPr lang="zh-CN" altLang="en-US" b="1" dirty="0">
                <a:solidFill>
                  <a:schemeClr val="tx1"/>
                </a:solidFill>
              </a:rPr>
              <a:t>的</a:t>
            </a:r>
            <a:r>
              <a:rPr lang="zh-CN" altLang="en-US" b="1" dirty="0">
                <a:solidFill>
                  <a:srgbClr val="003399"/>
                </a:solidFill>
              </a:rPr>
              <a:t>自愿交易</a:t>
            </a:r>
            <a:r>
              <a:rPr lang="zh-CN" altLang="en-US" b="1" dirty="0">
                <a:solidFill>
                  <a:schemeClr val="tx1"/>
                </a:solidFill>
              </a:rPr>
              <a:t>（婚姻、合作</a:t>
            </a:r>
            <a:r>
              <a:rPr lang="en-US" altLang="zh-CN" b="1" dirty="0">
                <a:solidFill>
                  <a:schemeClr val="tx1"/>
                </a:solidFill>
              </a:rPr>
              <a:t>……</a:t>
            </a:r>
            <a:r>
              <a:rPr lang="zh-CN" altLang="en-US" b="1" dirty="0">
                <a:solidFill>
                  <a:schemeClr val="tx1"/>
                </a:solidFill>
              </a:rPr>
              <a:t>）都符合卡尔多</a:t>
            </a:r>
            <a:r>
              <a:rPr lang="en-US" altLang="zh-CN" b="1" dirty="0">
                <a:solidFill>
                  <a:schemeClr val="tx1"/>
                </a:solidFill>
              </a:rPr>
              <a:t>-</a:t>
            </a:r>
            <a:r>
              <a:rPr lang="zh-CN" altLang="en-US" b="1" dirty="0">
                <a:solidFill>
                  <a:schemeClr val="tx1"/>
                </a:solidFill>
              </a:rPr>
              <a:t>希克斯效率，这也是契约自由、婚姻自由原则的经济学基础</a:t>
            </a:r>
            <a:r>
              <a:rPr lang="zh-CN" altLang="en-US" dirty="0"/>
              <a:t>   </a:t>
            </a:r>
            <a:r>
              <a:rPr lang="en-US" altLang="zh-CN" sz="1400" b="1" i="1" u="sng" dirty="0">
                <a:solidFill>
                  <a:srgbClr val="FF0000"/>
                </a:solidFill>
              </a:rPr>
              <a:t>【</a:t>
            </a:r>
            <a:r>
              <a:rPr lang="zh-CN" altLang="en-US" sz="1400" b="1" i="1" u="sng" dirty="0">
                <a:solidFill>
                  <a:srgbClr val="FF0000"/>
                </a:solidFill>
              </a:rPr>
              <a:t>一般情况下，“自愿”即意味着“效率”</a:t>
            </a:r>
            <a:r>
              <a:rPr lang="en-US" altLang="zh-CN" sz="1400" b="1" i="1" u="sng" dirty="0">
                <a:solidFill>
                  <a:srgbClr val="FF0000"/>
                </a:solidFill>
              </a:rPr>
              <a:t>】</a:t>
            </a:r>
            <a:endParaRPr lang="en-US" altLang="zh-CN" sz="1400" b="1" i="1" u="sng" dirty="0">
              <a:solidFill>
                <a:srgbClr val="FF0000"/>
              </a:solidFill>
            </a:endParaRPr>
          </a:p>
        </p:txBody>
      </p:sp>
      <p:sp>
        <p:nvSpPr>
          <p:cNvPr id="454665" name="Text Box 9"/>
          <p:cNvSpPr txBox="1">
            <a:spLocks noChangeArrowheads="1"/>
          </p:cNvSpPr>
          <p:nvPr/>
        </p:nvSpPr>
        <p:spPr bwMode="auto">
          <a:xfrm>
            <a:off x="762000" y="4191000"/>
            <a:ext cx="7848600" cy="1202510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</a:rPr>
              <a:t>某甲认为自己的某种商品价值</a:t>
            </a:r>
            <a:r>
              <a:rPr lang="en-US" altLang="zh-CN" b="1" dirty="0">
                <a:solidFill>
                  <a:schemeClr val="tx1"/>
                </a:solidFill>
              </a:rPr>
              <a:t>5</a:t>
            </a:r>
            <a:r>
              <a:rPr lang="zh-CN" altLang="en-US" b="1" dirty="0">
                <a:solidFill>
                  <a:schemeClr val="tx1"/>
                </a:solidFill>
              </a:rPr>
              <a:t>元，而某乙认为该商品值</a:t>
            </a:r>
            <a:r>
              <a:rPr lang="en-US" altLang="zh-CN" b="1" dirty="0">
                <a:solidFill>
                  <a:schemeClr val="tx1"/>
                </a:solidFill>
              </a:rPr>
              <a:t>12</a:t>
            </a:r>
            <a:r>
              <a:rPr lang="zh-CN" altLang="en-US" b="1" dirty="0">
                <a:solidFill>
                  <a:schemeClr val="tx1"/>
                </a:solidFill>
              </a:rPr>
              <a:t>元。如果两人以</a:t>
            </a:r>
            <a:r>
              <a:rPr lang="en-US" altLang="zh-CN" b="1" dirty="0">
                <a:solidFill>
                  <a:schemeClr val="tx1"/>
                </a:solidFill>
              </a:rPr>
              <a:t>10</a:t>
            </a:r>
            <a:r>
              <a:rPr lang="zh-CN" altLang="en-US" b="1" dirty="0">
                <a:solidFill>
                  <a:schemeClr val="tx1"/>
                </a:solidFill>
              </a:rPr>
              <a:t>元的价格（事实上可以是</a:t>
            </a:r>
            <a:r>
              <a:rPr lang="en-US" altLang="zh-CN" b="1" dirty="0">
                <a:solidFill>
                  <a:schemeClr val="tx1"/>
                </a:solidFill>
              </a:rPr>
              <a:t>5</a:t>
            </a:r>
            <a:r>
              <a:rPr lang="zh-CN" altLang="en-US" b="1" dirty="0">
                <a:solidFill>
                  <a:schemeClr val="tx1"/>
                </a:solidFill>
              </a:rPr>
              <a:t>元到</a:t>
            </a:r>
            <a:r>
              <a:rPr lang="en-US" altLang="zh-CN" b="1" dirty="0">
                <a:solidFill>
                  <a:schemeClr val="tx1"/>
                </a:solidFill>
              </a:rPr>
              <a:t>12</a:t>
            </a:r>
            <a:r>
              <a:rPr lang="zh-CN" altLang="en-US" b="1" dirty="0">
                <a:solidFill>
                  <a:schemeClr val="tx1"/>
                </a:solidFill>
              </a:rPr>
              <a:t>元之间任何价格）成交，就会创造</a:t>
            </a:r>
            <a:r>
              <a:rPr lang="en-US" altLang="zh-CN" b="1" u="sng" dirty="0">
                <a:solidFill>
                  <a:schemeClr val="tx1"/>
                </a:solidFill>
              </a:rPr>
              <a:t>7</a:t>
            </a:r>
            <a:r>
              <a:rPr lang="zh-CN" altLang="en-US" b="1" u="sng" dirty="0">
                <a:solidFill>
                  <a:schemeClr val="tx1"/>
                </a:solidFill>
              </a:rPr>
              <a:t>元的社会财富（福利）的增量</a:t>
            </a:r>
            <a:r>
              <a:rPr lang="zh-CN" altLang="en-US" b="1" dirty="0">
                <a:solidFill>
                  <a:schemeClr val="tx1"/>
                </a:solidFill>
              </a:rPr>
              <a:t>。因为，在</a:t>
            </a:r>
            <a:r>
              <a:rPr lang="en-US" altLang="zh-CN" b="1" dirty="0">
                <a:solidFill>
                  <a:schemeClr val="tx1"/>
                </a:solidFill>
              </a:rPr>
              <a:t>10</a:t>
            </a:r>
            <a:r>
              <a:rPr lang="zh-CN" altLang="en-US" b="1" dirty="0">
                <a:solidFill>
                  <a:schemeClr val="tx1"/>
                </a:solidFill>
              </a:rPr>
              <a:t>元的价位上，某甲认为他获得了</a:t>
            </a:r>
            <a:r>
              <a:rPr lang="en-US" altLang="zh-CN" b="1" dirty="0">
                <a:solidFill>
                  <a:schemeClr val="tx1"/>
                </a:solidFill>
              </a:rPr>
              <a:t>5</a:t>
            </a:r>
            <a:r>
              <a:rPr lang="zh-CN" altLang="en-US" b="1" dirty="0">
                <a:solidFill>
                  <a:schemeClr val="tx1"/>
                </a:solidFill>
              </a:rPr>
              <a:t>元的境况改善（利润），某乙则认为他获得了</a:t>
            </a:r>
            <a:r>
              <a:rPr lang="en-US" altLang="zh-CN" b="1" dirty="0">
                <a:solidFill>
                  <a:schemeClr val="tx1"/>
                </a:solidFill>
              </a:rPr>
              <a:t>2</a:t>
            </a:r>
            <a:r>
              <a:rPr lang="zh-CN" altLang="en-US" b="1" dirty="0">
                <a:solidFill>
                  <a:schemeClr val="tx1"/>
                </a:solidFill>
              </a:rPr>
              <a:t>元的境况改善（消费者剩余）</a:t>
            </a:r>
            <a:endParaRPr lang="zh-CN" altLang="en-US" b="1" i="1" dirty="0">
              <a:solidFill>
                <a:srgbClr val="003399"/>
              </a:solidFill>
            </a:endParaRPr>
          </a:p>
        </p:txBody>
      </p:sp>
      <p:sp>
        <p:nvSpPr>
          <p:cNvPr id="454667" name="Text Box 11"/>
          <p:cNvSpPr txBox="1">
            <a:spLocks noChangeArrowheads="1"/>
          </p:cNvSpPr>
          <p:nvPr/>
        </p:nvSpPr>
        <p:spPr bwMode="auto">
          <a:xfrm>
            <a:off x="762000" y="5867400"/>
            <a:ext cx="7848600" cy="366713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</a:rPr>
              <a:t>什么情况下，自愿交易未能实现卡尔多</a:t>
            </a:r>
            <a:r>
              <a:rPr lang="en-US" altLang="zh-CN" b="1" dirty="0">
                <a:solidFill>
                  <a:schemeClr val="tx1"/>
                </a:solidFill>
              </a:rPr>
              <a:t>-</a:t>
            </a:r>
            <a:r>
              <a:rPr lang="zh-CN" altLang="en-US" b="1" dirty="0">
                <a:solidFill>
                  <a:schemeClr val="tx1"/>
                </a:solidFill>
              </a:rPr>
              <a:t>希克斯效率？</a:t>
            </a:r>
            <a:r>
              <a:rPr lang="zh-CN" altLang="en-US" b="1" u="sng" dirty="0">
                <a:solidFill>
                  <a:schemeClr val="tx1"/>
                </a:solidFill>
              </a:rPr>
              <a:t>（私法自治的例外）</a:t>
            </a:r>
            <a:endParaRPr lang="zh-CN" altLang="en-US" b="1" u="sng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54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54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54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54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54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54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4660" grpId="0"/>
      <p:bldP spid="454661" grpId="0"/>
      <p:bldP spid="454662" grpId="0"/>
      <p:bldP spid="454664" grpId="0"/>
      <p:bldP spid="454665" grpId="0"/>
      <p:bldP spid="45466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关于“效率”</a:t>
            </a:r>
            <a:endParaRPr lang="zh-CN" altLang="en-US" dirty="0"/>
          </a:p>
        </p:txBody>
      </p:sp>
      <p:pic>
        <p:nvPicPr>
          <p:cNvPr id="14339" name="Picture 2" descr="E:\交大201709\备课\交大\法律经济学\电车难题\消费者剩余.jpg"/>
          <p:cNvPicPr>
            <a:picLocks noGrp="1" noChangeAspect="1" noChangeArrowheads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>
          <a:xfrm>
            <a:off x="1600200" y="1676400"/>
            <a:ext cx="5638800" cy="4462463"/>
          </a:xfr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152400"/>
            <a:ext cx="7776864" cy="68897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en-US" sz="3600" b="1" dirty="0">
                <a:solidFill>
                  <a:srgbClr val="0000FF"/>
                </a:solidFill>
              </a:rPr>
              <a:t>关于“效率”</a:t>
            </a:r>
            <a:endParaRPr lang="zh-CN" altLang="en-US" sz="3600" b="1" dirty="0">
              <a:solidFill>
                <a:srgbClr val="0000FF"/>
              </a:solidFill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43200" y="4648200"/>
            <a:ext cx="8001000" cy="5410200"/>
          </a:xfrm>
          <a:noFill/>
        </p:spPr>
        <p:txBody>
          <a:bodyPr/>
          <a:lstStyle/>
          <a:p>
            <a:pPr marL="609600" indent="-609600">
              <a:lnSpc>
                <a:spcPct val="120000"/>
              </a:lnSpc>
              <a:buFontTx/>
              <a:buNone/>
            </a:pPr>
            <a:endParaRPr lang="zh-CN" altLang="en-US" dirty="0"/>
          </a:p>
          <a:p>
            <a:pPr marL="609600" indent="-609600">
              <a:lnSpc>
                <a:spcPct val="120000"/>
              </a:lnSpc>
              <a:buFontTx/>
              <a:buNone/>
            </a:pPr>
            <a:endParaRPr lang="zh-CN" altLang="en-US" sz="2800" dirty="0">
              <a:solidFill>
                <a:srgbClr val="91074F"/>
              </a:solidFill>
            </a:endParaRPr>
          </a:p>
        </p:txBody>
      </p:sp>
      <p:sp>
        <p:nvSpPr>
          <p:cNvPr id="455684" name="Text Box 4"/>
          <p:cNvSpPr txBox="1">
            <a:spLocks noChangeArrowheads="1"/>
          </p:cNvSpPr>
          <p:nvPr/>
        </p:nvSpPr>
        <p:spPr bwMode="auto">
          <a:xfrm>
            <a:off x="609600" y="1219200"/>
            <a:ext cx="8001000" cy="641350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3399"/>
                </a:solidFill>
              </a:rPr>
              <a:t>讨论以下出于</a:t>
            </a:r>
            <a:r>
              <a:rPr lang="zh-CN" altLang="en-US" b="1" dirty="0">
                <a:solidFill>
                  <a:srgbClr val="ED1201"/>
                </a:solidFill>
              </a:rPr>
              <a:t>自愿</a:t>
            </a:r>
            <a:r>
              <a:rPr lang="zh-CN" altLang="en-US" b="1" dirty="0">
                <a:solidFill>
                  <a:srgbClr val="003399"/>
                </a:solidFill>
              </a:rPr>
              <a:t>的行为：</a:t>
            </a:r>
            <a:r>
              <a:rPr lang="zh-CN" altLang="en-US" b="1" dirty="0">
                <a:solidFill>
                  <a:schemeClr val="tx1"/>
                </a:solidFill>
              </a:rPr>
              <a:t>毒品交易、赌博交易、性交易、人口贩卖、买卖熊胆（鱼翅、象牙）、代孕、多妻（多夫） 、同性婚姻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55685" name="Text Box 5"/>
          <p:cNvSpPr txBox="1">
            <a:spLocks noChangeArrowheads="1"/>
          </p:cNvSpPr>
          <p:nvPr/>
        </p:nvSpPr>
        <p:spPr bwMode="auto">
          <a:xfrm>
            <a:off x="762000" y="2590800"/>
            <a:ext cx="3733800" cy="366713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</a:rPr>
              <a:t>为什么古代没有婚姻自由原则？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55687" name="Text Box 7"/>
          <p:cNvSpPr txBox="1">
            <a:spLocks noChangeArrowheads="1"/>
          </p:cNvSpPr>
          <p:nvPr/>
        </p:nvSpPr>
        <p:spPr bwMode="auto">
          <a:xfrm>
            <a:off x="762000" y="3124200"/>
            <a:ext cx="5029200" cy="366713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3399"/>
                </a:solidFill>
              </a:rPr>
              <a:t>法律的例外（似乎与契约自由相悖）：</a:t>
            </a:r>
            <a:endParaRPr lang="zh-CN" altLang="en-US" b="1" dirty="0">
              <a:solidFill>
                <a:srgbClr val="003399"/>
              </a:solidFill>
            </a:endParaRPr>
          </a:p>
        </p:txBody>
      </p:sp>
      <p:sp>
        <p:nvSpPr>
          <p:cNvPr id="455688" name="Text Box 8"/>
          <p:cNvSpPr txBox="1">
            <a:spLocks noChangeArrowheads="1"/>
          </p:cNvSpPr>
          <p:nvPr/>
        </p:nvSpPr>
        <p:spPr bwMode="auto">
          <a:xfrm>
            <a:off x="762000" y="3657600"/>
            <a:ext cx="5257800" cy="366713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</a:rPr>
              <a:t>共同海损制度；紧急避险制度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55689" name="Text Box 9"/>
          <p:cNvSpPr txBox="1">
            <a:spLocks noChangeArrowheads="1"/>
          </p:cNvSpPr>
          <p:nvPr/>
        </p:nvSpPr>
        <p:spPr bwMode="auto">
          <a:xfrm>
            <a:off x="762000" y="4267200"/>
            <a:ext cx="7620000" cy="366713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</a:rPr>
              <a:t>之前讨论的信用卡盗刷问题，持卡人受损，但总体上社会成本是降低的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55690" name="Text Box 10"/>
          <p:cNvSpPr txBox="1">
            <a:spLocks noChangeArrowheads="1"/>
          </p:cNvSpPr>
          <p:nvPr/>
        </p:nvSpPr>
        <p:spPr bwMode="auto">
          <a:xfrm>
            <a:off x="762000" y="4876800"/>
            <a:ext cx="7543800" cy="649288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</a:rPr>
              <a:t>讨论：我有一台</a:t>
            </a:r>
            <a:r>
              <a:rPr lang="en-US" altLang="zh-CN" b="1" dirty="0">
                <a:solidFill>
                  <a:schemeClr val="tx1"/>
                </a:solidFill>
              </a:rPr>
              <a:t>IPAD</a:t>
            </a:r>
            <a:r>
              <a:rPr lang="zh-CN" altLang="en-US" b="1" dirty="0">
                <a:solidFill>
                  <a:schemeClr val="tx1"/>
                </a:solidFill>
              </a:rPr>
              <a:t>，利用率很低，你是不是可以“效率”原则来要求无偿获得所有权或使用权？ </a:t>
            </a:r>
            <a:r>
              <a:rPr lang="en-US" altLang="zh-CN" b="1" dirty="0">
                <a:solidFill>
                  <a:srgbClr val="FF0000"/>
                </a:solidFill>
              </a:rPr>
              <a:t>【</a:t>
            </a:r>
            <a:r>
              <a:rPr lang="zh-CN" altLang="en-US" b="1" dirty="0">
                <a:solidFill>
                  <a:srgbClr val="FF0000"/>
                </a:solidFill>
              </a:rPr>
              <a:t>功利主义与法律经济学的分歧</a:t>
            </a:r>
            <a:r>
              <a:rPr lang="en-US" altLang="zh-CN" b="1" dirty="0">
                <a:solidFill>
                  <a:srgbClr val="FF0000"/>
                </a:solidFill>
              </a:rPr>
              <a:t>】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455691" name="Text Box 11"/>
          <p:cNvSpPr txBox="1">
            <a:spLocks noChangeArrowheads="1"/>
          </p:cNvSpPr>
          <p:nvPr/>
        </p:nvSpPr>
        <p:spPr bwMode="auto">
          <a:xfrm>
            <a:off x="762000" y="5715000"/>
            <a:ext cx="6553200" cy="366713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</a:rPr>
              <a:t>对于“钉子户”，是否可以由政府或法院强拆？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55692" name="Text Box 12"/>
          <p:cNvSpPr txBox="1">
            <a:spLocks noChangeArrowheads="1"/>
          </p:cNvSpPr>
          <p:nvPr/>
        </p:nvSpPr>
        <p:spPr bwMode="auto">
          <a:xfrm>
            <a:off x="609600" y="1981200"/>
            <a:ext cx="8839200" cy="366713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3399"/>
                </a:solidFill>
              </a:rPr>
              <a:t>讨论：</a:t>
            </a:r>
            <a:r>
              <a:rPr lang="zh-CN" altLang="en-US" b="1" dirty="0">
                <a:solidFill>
                  <a:schemeClr val="tx1"/>
                </a:solidFill>
              </a:rPr>
              <a:t>器官自愿捐献</a:t>
            </a:r>
            <a:r>
              <a:rPr lang="en-US" altLang="zh-CN" b="1" dirty="0">
                <a:solidFill>
                  <a:schemeClr val="tx1"/>
                </a:solidFill>
              </a:rPr>
              <a:t>/</a:t>
            </a:r>
            <a:r>
              <a:rPr lang="zh-CN" altLang="en-US" b="1" dirty="0">
                <a:solidFill>
                  <a:schemeClr val="tx1"/>
                </a:solidFill>
              </a:rPr>
              <a:t>器官自愿出售</a:t>
            </a:r>
            <a:r>
              <a:rPr lang="en-US" altLang="zh-CN" b="1" dirty="0">
                <a:solidFill>
                  <a:schemeClr val="tx1"/>
                </a:solidFill>
              </a:rPr>
              <a:t>/</a:t>
            </a:r>
            <a:r>
              <a:rPr lang="zh-CN" altLang="en-US" b="1" dirty="0">
                <a:solidFill>
                  <a:schemeClr val="tx1"/>
                </a:solidFill>
              </a:rPr>
              <a:t>脑死亡情况下家属捐赠器官</a:t>
            </a:r>
            <a:r>
              <a:rPr lang="en-US" altLang="zh-CN" b="1" dirty="0">
                <a:solidFill>
                  <a:schemeClr val="tx1"/>
                </a:solidFill>
              </a:rPr>
              <a:t>/</a:t>
            </a:r>
            <a:r>
              <a:rPr lang="zh-CN" altLang="en-US" b="1" dirty="0">
                <a:solidFill>
                  <a:schemeClr val="tx1"/>
                </a:solidFill>
              </a:rPr>
              <a:t>摘取死囚器官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55693" name="Text Box 13"/>
          <p:cNvSpPr txBox="1">
            <a:spLocks noChangeArrowheads="1"/>
          </p:cNvSpPr>
          <p:nvPr/>
        </p:nvSpPr>
        <p:spPr bwMode="auto">
          <a:xfrm>
            <a:off x="4648200" y="2514600"/>
            <a:ext cx="4038600" cy="641350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660066"/>
                </a:solidFill>
              </a:rPr>
              <a:t>——</a:t>
            </a:r>
            <a:r>
              <a:rPr lang="zh-CN" altLang="en-US" b="1" dirty="0">
                <a:solidFill>
                  <a:srgbClr val="660066"/>
                </a:solidFill>
              </a:rPr>
              <a:t>在古代，婚姻是家庭行为，自由婚姻不符合卡尔多</a:t>
            </a:r>
            <a:r>
              <a:rPr lang="en-US" altLang="zh-CN" b="1" dirty="0">
                <a:solidFill>
                  <a:srgbClr val="660066"/>
                </a:solidFill>
              </a:rPr>
              <a:t>-</a:t>
            </a:r>
            <a:r>
              <a:rPr lang="zh-CN" altLang="en-US" b="1" dirty="0">
                <a:solidFill>
                  <a:srgbClr val="660066"/>
                </a:solidFill>
              </a:rPr>
              <a:t>希克斯效率</a:t>
            </a:r>
            <a:endParaRPr lang="zh-CN" altLang="en-US" b="1" dirty="0">
              <a:solidFill>
                <a:srgbClr val="6600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55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55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55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55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55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55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55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455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455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5684" grpId="0"/>
      <p:bldP spid="455685" grpId="0"/>
      <p:bldP spid="455687" grpId="0"/>
      <p:bldP spid="455688" grpId="0"/>
      <p:bldP spid="455689" grpId="0"/>
      <p:bldP spid="455690" grpId="0"/>
      <p:bldP spid="455691" grpId="0"/>
      <p:bldP spid="455692" grpId="0"/>
      <p:bldP spid="45569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899592" y="152400"/>
            <a:ext cx="7704856" cy="68897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0000FF"/>
                </a:solidFill>
              </a:rPr>
              <a:t>对法律经济学批评的回应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43200" y="4648200"/>
            <a:ext cx="8001000" cy="5410200"/>
          </a:xfrm>
          <a:noFill/>
        </p:spPr>
        <p:txBody>
          <a:bodyPr/>
          <a:lstStyle/>
          <a:p>
            <a:pPr marL="609600" indent="-609600">
              <a:lnSpc>
                <a:spcPct val="120000"/>
              </a:lnSpc>
              <a:buFontTx/>
              <a:buNone/>
            </a:pPr>
            <a:endParaRPr lang="zh-CN" altLang="en-US" dirty="0"/>
          </a:p>
          <a:p>
            <a:pPr marL="609600" indent="-609600">
              <a:lnSpc>
                <a:spcPct val="120000"/>
              </a:lnSpc>
              <a:buFontTx/>
              <a:buNone/>
            </a:pPr>
            <a:endParaRPr lang="zh-CN" altLang="en-US" sz="2800" dirty="0">
              <a:solidFill>
                <a:srgbClr val="91074F"/>
              </a:solidFill>
            </a:endParaRPr>
          </a:p>
        </p:txBody>
      </p:sp>
      <p:sp>
        <p:nvSpPr>
          <p:cNvPr id="456708" name="Text Box 4"/>
          <p:cNvSpPr txBox="1">
            <a:spLocks noChangeArrowheads="1"/>
          </p:cNvSpPr>
          <p:nvPr/>
        </p:nvSpPr>
        <p:spPr bwMode="auto">
          <a:xfrm>
            <a:off x="683568" y="1052736"/>
            <a:ext cx="6629400" cy="401638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ED1201"/>
                </a:solidFill>
              </a:rPr>
              <a:t>最猛烈的批评：经济学只讲效率，不讲公平！！！</a:t>
            </a:r>
            <a:r>
              <a:rPr lang="zh-CN" altLang="en-US" sz="2000" b="1" dirty="0">
                <a:solidFill>
                  <a:schemeClr val="tx1"/>
                </a:solidFill>
              </a:rPr>
              <a:t>  </a:t>
            </a:r>
            <a:endParaRPr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456709" name="Text Box 5"/>
          <p:cNvSpPr txBox="1">
            <a:spLocks noChangeArrowheads="1"/>
          </p:cNvSpPr>
          <p:nvPr/>
        </p:nvSpPr>
        <p:spPr bwMode="auto">
          <a:xfrm>
            <a:off x="762000" y="1600200"/>
            <a:ext cx="7086600" cy="371475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</a:rPr>
              <a:t>那么，法学家所讲的“公平”是哪一种意义上的“公平”？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56710" name="Text Box 6"/>
          <p:cNvSpPr txBox="1">
            <a:spLocks noChangeArrowheads="1"/>
          </p:cNvSpPr>
          <p:nvPr/>
        </p:nvSpPr>
        <p:spPr bwMode="auto">
          <a:xfrm>
            <a:off x="762000" y="2133600"/>
            <a:ext cx="8077200" cy="915988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</a:rPr>
              <a:t>第一种含义的“公平”：根据每个人的付出来分配收入，这种意义上的“公平”和“效率”是等同的    </a:t>
            </a:r>
            <a:r>
              <a:rPr lang="en-US" altLang="zh-CN" b="1" dirty="0">
                <a:solidFill>
                  <a:srgbClr val="003399"/>
                </a:solidFill>
              </a:rPr>
              <a:t>【</a:t>
            </a:r>
            <a:r>
              <a:rPr lang="zh-CN" altLang="en-US" b="1" dirty="0">
                <a:solidFill>
                  <a:srgbClr val="003399"/>
                </a:solidFill>
              </a:rPr>
              <a:t>形式正义（分配的正义）</a:t>
            </a:r>
            <a:r>
              <a:rPr lang="en-US" altLang="zh-CN" b="1" dirty="0">
                <a:solidFill>
                  <a:srgbClr val="003399"/>
                </a:solidFill>
              </a:rPr>
              <a:t>】    </a:t>
            </a:r>
            <a:r>
              <a:rPr lang="zh-CN" altLang="en-US" b="1" dirty="0">
                <a:solidFill>
                  <a:schemeClr val="tx1"/>
                </a:solidFill>
              </a:rPr>
              <a:t>又如：罪刑相适应；现代司法（不是海瑞式的司法）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56711" name="Text Box 7"/>
          <p:cNvSpPr txBox="1">
            <a:spLocks noChangeArrowheads="1"/>
          </p:cNvSpPr>
          <p:nvPr/>
        </p:nvSpPr>
        <p:spPr bwMode="auto">
          <a:xfrm>
            <a:off x="762000" y="3200400"/>
            <a:ext cx="8001000" cy="641350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</a:rPr>
              <a:t>第二种含义的“公平”：基于个人实际收入结果差异的考虑   </a:t>
            </a:r>
            <a:r>
              <a:rPr lang="en-US" altLang="zh-CN" b="1" dirty="0">
                <a:solidFill>
                  <a:srgbClr val="003399"/>
                </a:solidFill>
              </a:rPr>
              <a:t>【</a:t>
            </a:r>
            <a:r>
              <a:rPr lang="zh-CN" altLang="en-US" b="1" dirty="0">
                <a:solidFill>
                  <a:srgbClr val="003399"/>
                </a:solidFill>
              </a:rPr>
              <a:t>实质正义（再分配的正义）</a:t>
            </a:r>
            <a:r>
              <a:rPr lang="en-US" altLang="zh-CN" b="1" dirty="0">
                <a:solidFill>
                  <a:srgbClr val="003399"/>
                </a:solidFill>
              </a:rPr>
              <a:t>】</a:t>
            </a:r>
            <a:endParaRPr lang="en-US" altLang="zh-CN" b="1" dirty="0">
              <a:solidFill>
                <a:srgbClr val="003399"/>
              </a:solidFill>
            </a:endParaRPr>
          </a:p>
        </p:txBody>
      </p:sp>
      <p:sp>
        <p:nvSpPr>
          <p:cNvPr id="456712" name="Text Box 8"/>
          <p:cNvSpPr txBox="1">
            <a:spLocks noChangeArrowheads="1"/>
          </p:cNvSpPr>
          <p:nvPr/>
        </p:nvSpPr>
        <p:spPr bwMode="auto">
          <a:xfrm>
            <a:off x="762000" y="3886200"/>
            <a:ext cx="7924800" cy="915988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ED1201"/>
                </a:solidFill>
              </a:rPr>
              <a:t>果断的回应：对于第二种含义的“公平”，需通过税收等国家再分配政策实施，而不是通过法律机制本身来实现，即</a:t>
            </a:r>
            <a:r>
              <a:rPr lang="zh-CN" altLang="en-US" b="1" u="sng" dirty="0">
                <a:solidFill>
                  <a:srgbClr val="ED1201"/>
                </a:solidFill>
              </a:rPr>
              <a:t>法律只应关注“做大蛋糕”，而不因理会“分蛋糕”的事情</a:t>
            </a:r>
            <a:r>
              <a:rPr lang="zh-CN" altLang="en-US" b="1" dirty="0">
                <a:solidFill>
                  <a:srgbClr val="ED1201"/>
                </a:solidFill>
              </a:rPr>
              <a:t>，否则社会成本太高</a:t>
            </a:r>
            <a:endParaRPr lang="en-US" altLang="zh-CN" b="1" dirty="0">
              <a:solidFill>
                <a:srgbClr val="ED1201"/>
              </a:solidFill>
            </a:endParaRPr>
          </a:p>
        </p:txBody>
      </p:sp>
      <p:sp>
        <p:nvSpPr>
          <p:cNvPr id="456714" name="Text Box 10"/>
          <p:cNvSpPr txBox="1">
            <a:spLocks noChangeArrowheads="1"/>
          </p:cNvSpPr>
          <p:nvPr/>
        </p:nvSpPr>
        <p:spPr bwMode="auto">
          <a:xfrm>
            <a:off x="762000" y="4953000"/>
            <a:ext cx="8077200" cy="641350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</a:rPr>
              <a:t>利用法律规则进行收入再分配（保护弱势群体的旗号），最终的结果将是损害弱势群体          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56715" name="Text Box 11"/>
          <p:cNvSpPr txBox="1">
            <a:spLocks noChangeArrowheads="1"/>
          </p:cNvSpPr>
          <p:nvPr/>
        </p:nvSpPr>
        <p:spPr bwMode="auto">
          <a:xfrm>
            <a:off x="762000" y="5791200"/>
            <a:ext cx="8229600" cy="648512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</a:rPr>
              <a:t>例如：劳动法；消费者权益保护法；医疗事故的严格责任；高利贷管制；南京彭宇案</a:t>
            </a:r>
            <a:r>
              <a:rPr lang="zh-CN" altLang="en-US" b="1" dirty="0"/>
              <a:t>（</a:t>
            </a:r>
            <a:r>
              <a:rPr lang="zh-CN" altLang="en-US" b="1" dirty="0">
                <a:solidFill>
                  <a:schemeClr val="tx1"/>
                </a:solidFill>
              </a:rPr>
              <a:t>海瑞式的司法）</a:t>
            </a:r>
            <a:endParaRPr lang="zh-CN" alt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56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56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56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56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56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56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56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6708" grpId="0"/>
      <p:bldP spid="456709" grpId="0"/>
      <p:bldP spid="456710" grpId="0"/>
      <p:bldP spid="456711" grpId="0"/>
      <p:bldP spid="456712" grpId="0"/>
      <p:bldP spid="456714" grpId="0"/>
      <p:bldP spid="4567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1" dirty="0">
                <a:solidFill>
                  <a:srgbClr val="0000FF"/>
                </a:solidFill>
              </a:rPr>
              <a:t>如何实现“共同富裕”</a:t>
            </a:r>
            <a:endParaRPr lang="zh-CN" altLang="en-US" sz="4000" b="1" dirty="0">
              <a:solidFill>
                <a:srgbClr val="0000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为什么一说“共同富裕”，就联想到“分配”问题（切蛋糕）</a:t>
            </a:r>
            <a:endParaRPr lang="en-US" altLang="zh-CN" dirty="0"/>
          </a:p>
          <a:p>
            <a:r>
              <a:rPr lang="zh-CN" altLang="en-US" dirty="0"/>
              <a:t>一次分配、二次分配与三次分配</a:t>
            </a:r>
            <a:endParaRPr lang="en-US" altLang="zh-CN" dirty="0"/>
          </a:p>
          <a:p>
            <a:r>
              <a:rPr lang="zh-CN" altLang="en-US" dirty="0"/>
              <a:t>遗产税、房地产税的提议；薇娅补税</a:t>
            </a:r>
            <a:endParaRPr lang="en-US" altLang="zh-CN" dirty="0"/>
          </a:p>
          <a:p>
            <a:r>
              <a:rPr lang="zh-CN" altLang="en-US" dirty="0"/>
              <a:t>“所有制”问题上的想象</a:t>
            </a:r>
            <a:endParaRPr lang="en-US" altLang="zh-CN" dirty="0"/>
          </a:p>
          <a:p>
            <a:r>
              <a:rPr lang="zh-CN" altLang="en-US" b="1" dirty="0">
                <a:solidFill>
                  <a:srgbClr val="0000FF"/>
                </a:solidFill>
              </a:rPr>
              <a:t>法律会如何回应？</a:t>
            </a:r>
            <a:endParaRPr lang="en-US" altLang="zh-CN" b="1" dirty="0">
              <a:solidFill>
                <a:srgbClr val="0000FF"/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1" dirty="0">
                <a:solidFill>
                  <a:srgbClr val="0000FF"/>
                </a:solidFill>
              </a:rPr>
              <a:t>“分配”问题的可能法律因应</a:t>
            </a:r>
            <a:endParaRPr lang="zh-CN" altLang="en-US" sz="4000" b="1" dirty="0">
              <a:solidFill>
                <a:srgbClr val="0000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一次分配：最低工资标准；社保福利；特殊行业限薪</a:t>
            </a:r>
            <a:endParaRPr lang="en-US" altLang="zh-CN" dirty="0"/>
          </a:p>
          <a:p>
            <a:r>
              <a:rPr lang="zh-CN" altLang="en-US" dirty="0"/>
              <a:t>二次分配：税收机制</a:t>
            </a:r>
            <a:endParaRPr lang="en-US" altLang="zh-CN" dirty="0"/>
          </a:p>
          <a:p>
            <a:r>
              <a:rPr lang="zh-CN" altLang="en-US" dirty="0"/>
              <a:t>三次分配：慈善、企业社会责任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</a:rPr>
              <a:t>广义的收入再分配政策</a:t>
            </a:r>
            <a:endParaRPr lang="en-US" altLang="zh-CN" sz="3600" b="1" dirty="0">
              <a:solidFill>
                <a:srgbClr val="0000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更多的价格管制（美团降费、药品降价）</a:t>
            </a:r>
            <a:endParaRPr lang="en-US" altLang="zh-CN" dirty="0"/>
          </a:p>
          <a:p>
            <a:r>
              <a:rPr lang="zh-CN" altLang="en-US" dirty="0"/>
              <a:t>遏制资本（限制投资领域、反垄断、劳资关系的调整）</a:t>
            </a:r>
            <a:endParaRPr lang="en-US" altLang="zh-CN" dirty="0"/>
          </a:p>
          <a:p>
            <a:r>
              <a:rPr lang="zh-CN" altLang="en-US" dirty="0"/>
              <a:t>财政转移支付（扶贫、乡村振兴）</a:t>
            </a:r>
            <a:endParaRPr lang="en-US" altLang="zh-CN" dirty="0"/>
          </a:p>
          <a:p>
            <a:r>
              <a:rPr lang="zh-CN" altLang="en-US" dirty="0"/>
              <a:t>获得教育等公共服务的平等化（</a:t>
            </a:r>
            <a:r>
              <a:rPr lang="en-US" altLang="zh-CN" dirty="0"/>
              <a:t>affirmative action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“弱势群体保护”立法和司法政策（消费者、妇女、劳工、低收入阶层</a:t>
            </a:r>
            <a:r>
              <a:rPr lang="en-US" altLang="zh-CN" dirty="0"/>
              <a:t>……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712" y="476672"/>
            <a:ext cx="5410200" cy="68897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0000FF"/>
                </a:solidFill>
              </a:rPr>
              <a:t>Judge </a:t>
            </a:r>
            <a:r>
              <a:rPr lang="en-US" altLang="zh-CN" b="1" dirty="0" err="1">
                <a:solidFill>
                  <a:srgbClr val="0000FF"/>
                </a:solidFill>
              </a:rPr>
              <a:t>Hai</a:t>
            </a:r>
            <a:r>
              <a:rPr lang="en-US" altLang="zh-CN" b="1" dirty="0">
                <a:solidFill>
                  <a:srgbClr val="0000FF"/>
                </a:solidFill>
              </a:rPr>
              <a:t> </a:t>
            </a:r>
            <a:r>
              <a:rPr lang="en-US" altLang="zh-CN" b="1" dirty="0" err="1">
                <a:solidFill>
                  <a:srgbClr val="0000FF"/>
                </a:solidFill>
              </a:rPr>
              <a:t>Rui</a:t>
            </a:r>
            <a:endParaRPr lang="en-US" altLang="zh-CN" b="1" dirty="0">
              <a:solidFill>
                <a:srgbClr val="0000FF"/>
              </a:solidFill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43200" y="4648200"/>
            <a:ext cx="8001000" cy="5410200"/>
          </a:xfrm>
          <a:noFill/>
        </p:spPr>
        <p:txBody>
          <a:bodyPr/>
          <a:lstStyle/>
          <a:p>
            <a:pPr marL="609600" indent="-609600">
              <a:lnSpc>
                <a:spcPct val="120000"/>
              </a:lnSpc>
              <a:buFontTx/>
              <a:buNone/>
            </a:pPr>
            <a:endParaRPr lang="zh-CN" altLang="en-US"/>
          </a:p>
          <a:p>
            <a:pPr marL="609600" indent="-609600">
              <a:lnSpc>
                <a:spcPct val="120000"/>
              </a:lnSpc>
              <a:buFontTx/>
              <a:buNone/>
            </a:pPr>
            <a:endParaRPr lang="zh-CN" altLang="en-US" sz="2800">
              <a:solidFill>
                <a:srgbClr val="91074F"/>
              </a:solidFill>
            </a:endParaRPr>
          </a:p>
        </p:txBody>
      </p:sp>
      <p:sp>
        <p:nvSpPr>
          <p:cNvPr id="445444" name="Text Box 4"/>
          <p:cNvSpPr txBox="1">
            <a:spLocks noChangeArrowheads="1"/>
          </p:cNvSpPr>
          <p:nvPr/>
        </p:nvSpPr>
        <p:spPr bwMode="auto">
          <a:xfrm>
            <a:off x="762000" y="1371600"/>
            <a:ext cx="7543800" cy="1800225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       </a:t>
            </a:r>
            <a:r>
              <a:rPr lang="zh-CN" altLang="en-US" sz="2800" b="1">
                <a:solidFill>
                  <a:srgbClr val="003399"/>
                </a:solidFill>
              </a:rPr>
              <a:t>窃谓凡讼之可疑者，与其屈兄，宁屈其弟；与其屈叔伯，宁屈其侄；与其屈贫民，宁屈富民；与其屈愚直，宁屈刁顽。事在争产业，与其屈小民，宁屈乡宦，以救弊也。</a:t>
            </a:r>
            <a:r>
              <a:rPr lang="zh-CN" altLang="en-US"/>
              <a:t> </a:t>
            </a:r>
            <a:r>
              <a:rPr lang="en-US" altLang="zh-CN">
                <a:solidFill>
                  <a:schemeClr val="tx1"/>
                </a:solidFill>
              </a:rPr>
              <a:t>  </a:t>
            </a:r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445452" name="Picture 12" descr="海瑞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743200" y="3352800"/>
            <a:ext cx="3352800" cy="2830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5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45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44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</a:rPr>
              <a:t>历史上的“共同富裕政策”</a:t>
            </a:r>
            <a:endParaRPr lang="zh-CN" altLang="en-US" sz="3600" b="1" dirty="0">
              <a:solidFill>
                <a:srgbClr val="0000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汉武帝刘彻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dirty="0"/>
              <a:t>——《</a:t>
            </a:r>
            <a:r>
              <a:rPr lang="zh-CN" altLang="en-US" dirty="0"/>
              <a:t>迁茂陵令</a:t>
            </a:r>
            <a:r>
              <a:rPr lang="en-US" altLang="zh-CN" dirty="0"/>
              <a:t>》</a:t>
            </a:r>
            <a:endParaRPr lang="en-US" altLang="zh-CN" dirty="0"/>
          </a:p>
          <a:p>
            <a:r>
              <a:rPr lang="en-US" altLang="zh-CN" dirty="0"/>
              <a:t>——</a:t>
            </a:r>
            <a:r>
              <a:rPr lang="zh-CN" altLang="en-US" dirty="0"/>
              <a:t>盐铁国营政策</a:t>
            </a:r>
            <a:endParaRPr lang="en-US" altLang="zh-CN" dirty="0"/>
          </a:p>
          <a:p>
            <a:r>
              <a:rPr lang="en-US" altLang="zh-CN" dirty="0"/>
              <a:t>——</a:t>
            </a:r>
            <a:r>
              <a:rPr lang="zh-CN" altLang="en-US" dirty="0"/>
              <a:t>“算缗”和“告缗”</a:t>
            </a:r>
            <a:endParaRPr lang="en-US" altLang="zh-CN" dirty="0"/>
          </a:p>
          <a:p>
            <a:r>
              <a:rPr lang="zh-CN" altLang="en-US" i="1" dirty="0"/>
              <a:t>    “得民财物以亿计，奴婢以千万数，田大县数百顷，小县百余顷，宅亦如之。于是商贾中家以上大氐破，民甘食好衣，不事畜藏之业，而县官以盐铁缗钱之故，用少饶矣。”</a:t>
            </a:r>
            <a:r>
              <a:rPr lang="zh-CN" altLang="en-US" b="1" dirty="0"/>
              <a:t>（</a:t>
            </a:r>
            <a:r>
              <a:rPr lang="en-US" altLang="zh-CN" b="1" dirty="0"/>
              <a:t>《</a:t>
            </a:r>
            <a:r>
              <a:rPr lang="zh-CN" altLang="en-US" b="1" dirty="0"/>
              <a:t>汉书</a:t>
            </a:r>
            <a:r>
              <a:rPr lang="en-US" altLang="zh-CN" b="1" dirty="0"/>
              <a:t>·</a:t>
            </a:r>
            <a:r>
              <a:rPr lang="zh-CN" altLang="en-US" b="1" dirty="0"/>
              <a:t>食货志</a:t>
            </a:r>
            <a:r>
              <a:rPr lang="en-US" altLang="zh-CN" b="1" dirty="0"/>
              <a:t>》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pPr>
              <a:buNone/>
            </a:pPr>
            <a:endParaRPr lang="en-US" altLang="zh-CN" dirty="0"/>
          </a:p>
          <a:p>
            <a:r>
              <a:rPr lang="en-US" altLang="zh-CN" b="1" dirty="0"/>
              <a:t>《</a:t>
            </a:r>
            <a:r>
              <a:rPr lang="zh-CN" altLang="en-US" b="1" dirty="0"/>
              <a:t>轮台罪己诏</a:t>
            </a:r>
            <a:r>
              <a:rPr lang="en-US" altLang="zh-CN" b="1" dirty="0"/>
              <a:t>》</a:t>
            </a:r>
            <a:r>
              <a:rPr lang="zh-CN" altLang="en-US" b="1" dirty="0"/>
              <a:t>（公元前</a:t>
            </a:r>
            <a:r>
              <a:rPr lang="en-US" altLang="zh-CN" b="1" dirty="0"/>
              <a:t>89</a:t>
            </a:r>
            <a:r>
              <a:rPr lang="zh-CN" altLang="en-US" b="1" dirty="0"/>
              <a:t>年）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00FF"/>
                </a:solidFill>
              </a:rPr>
              <a:t>小结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）把“私法”作为收入再分配（保护弱势群体）实现手段的想法是完全无法实现的，只会使得弱势群体失去通过交易获得财富的机会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）通过“公法”手段实施收入再分配政策的作用是有限的，可能伴随高昂的社会成本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）改革开放四十年见证了人类历史上前所未有的“共同富裕”成就，市场经济的发展既做大了蛋糕，同时也极大地提升了社会的平等程度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00FF"/>
                </a:solidFill>
              </a:rPr>
              <a:t>小结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）“分配”问题很大程度上是一个“幻想”；当法律与政策的重心放在“分蛋糕”问题时，蛋糕就会越来越小。（拉美、南非）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）消灭资本的暴利靠的是引导更多的资本展开竞争；提升劳工的收入靠的是更多的投资带来的就业机会；提升消费者的福利靠的是更多商品和服务的供给；消灭“高利贷”靠的是资金市场更多的放贷人</a:t>
            </a:r>
            <a:r>
              <a:rPr lang="en-US" altLang="zh-CN" dirty="0"/>
              <a:t>……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en-US" sz="3600" b="1" dirty="0">
                <a:solidFill>
                  <a:srgbClr val="0000FF"/>
                </a:solidFill>
              </a:rPr>
              <a:t>社会公平问题的讨论：就业歧视</a:t>
            </a:r>
            <a:endParaRPr lang="zh-CN" altLang="en-US" sz="3600" b="1" dirty="0">
              <a:solidFill>
                <a:srgbClr val="0000FF"/>
              </a:solidFill>
            </a:endParaRPr>
          </a:p>
        </p:txBody>
      </p:sp>
      <p:sp>
        <p:nvSpPr>
          <p:cNvPr id="22531" name="内容占位符 2"/>
          <p:cNvSpPr>
            <a:spLocks noGrp="1"/>
          </p:cNvSpPr>
          <p:nvPr>
            <p:ph idx="1"/>
          </p:nvPr>
        </p:nvSpPr>
        <p:spPr>
          <a:xfrm>
            <a:off x="251520" y="1268760"/>
            <a:ext cx="8640959" cy="5184576"/>
          </a:xfrm>
        </p:spPr>
        <p:txBody>
          <a:bodyPr>
            <a:normAutofit fontScale="92500"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招聘单位设定的何种条件构成了对应聘者的歧视？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性别</a:t>
            </a:r>
            <a:endParaRPr lang="en-US" altLang="zh-CN" dirty="0"/>
          </a:p>
          <a:p>
            <a:r>
              <a:rPr lang="zh-CN" altLang="en-US" dirty="0"/>
              <a:t>年龄</a:t>
            </a:r>
            <a:endParaRPr lang="en-US" altLang="zh-CN" dirty="0"/>
          </a:p>
          <a:p>
            <a:r>
              <a:rPr lang="zh-CN" altLang="en-US" dirty="0"/>
              <a:t>身高</a:t>
            </a:r>
            <a:endParaRPr lang="en-US" altLang="zh-CN" dirty="0"/>
          </a:p>
          <a:p>
            <a:r>
              <a:rPr lang="zh-CN" altLang="en-US" dirty="0"/>
              <a:t>肤色</a:t>
            </a:r>
            <a:endParaRPr lang="en-US" altLang="zh-CN" dirty="0"/>
          </a:p>
          <a:p>
            <a:r>
              <a:rPr lang="zh-CN" altLang="en-US" dirty="0"/>
              <a:t>毕业学校</a:t>
            </a:r>
            <a:endParaRPr lang="en-US" altLang="zh-CN" dirty="0"/>
          </a:p>
          <a:p>
            <a:r>
              <a:rPr lang="zh-CN" altLang="en-US" dirty="0"/>
              <a:t>户籍</a:t>
            </a:r>
            <a:endParaRPr lang="en-US" altLang="zh-CN" dirty="0"/>
          </a:p>
          <a:p>
            <a:r>
              <a:rPr lang="zh-CN" altLang="en-US" dirty="0"/>
              <a:t>是否戴眼镜</a:t>
            </a:r>
            <a:endParaRPr lang="en-US" altLang="zh-CN" dirty="0"/>
          </a:p>
          <a:p>
            <a:r>
              <a:rPr lang="zh-CN" altLang="en-US" dirty="0"/>
              <a:t>五官是否端正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476672"/>
            <a:ext cx="8229600" cy="77809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en-US" sz="3600" b="1" dirty="0">
                <a:solidFill>
                  <a:srgbClr val="0000FF"/>
                </a:solidFill>
              </a:rPr>
              <a:t>如何理解歧视行为？</a:t>
            </a:r>
            <a:endParaRPr lang="zh-CN" altLang="en-US" sz="3600" b="1" dirty="0">
              <a:solidFill>
                <a:srgbClr val="0000FF"/>
              </a:solidFill>
            </a:endParaRPr>
          </a:p>
        </p:txBody>
      </p:sp>
      <p:sp>
        <p:nvSpPr>
          <p:cNvPr id="23555" name="内容占位符 2"/>
          <p:cNvSpPr>
            <a:spLocks noGrp="1"/>
          </p:cNvSpPr>
          <p:nvPr>
            <p:ph idx="1"/>
          </p:nvPr>
        </p:nvSpPr>
        <p:spPr>
          <a:xfrm>
            <a:off x="228600" y="1700808"/>
            <a:ext cx="8610600" cy="4490442"/>
          </a:xfrm>
        </p:spPr>
        <p:txBody>
          <a:bodyPr/>
          <a:lstStyle/>
          <a:p>
            <a:r>
              <a:rPr lang="zh-CN" altLang="en-US" sz="3200" dirty="0">
                <a:solidFill>
                  <a:srgbClr val="FF0000"/>
                </a:solidFill>
              </a:rPr>
              <a:t>歧视：一个贬义词？</a:t>
            </a:r>
            <a:endParaRPr lang="en-US" altLang="zh-CN" sz="3200" dirty="0">
              <a:solidFill>
                <a:srgbClr val="FF0000"/>
              </a:solidFill>
            </a:endParaRPr>
          </a:p>
          <a:p>
            <a:r>
              <a:rPr lang="zh-CN" altLang="en-US" sz="3200" dirty="0"/>
              <a:t>基于性别、外貌、身高、学历的招聘条件？</a:t>
            </a:r>
            <a:endParaRPr lang="en-US" altLang="zh-CN" sz="3200" dirty="0"/>
          </a:p>
          <a:p>
            <a:r>
              <a:rPr lang="en-US" altLang="zh-CN" sz="3200" dirty="0"/>
              <a:t>985/211</a:t>
            </a:r>
            <a:r>
              <a:rPr lang="zh-CN" altLang="en-US" sz="3200" dirty="0"/>
              <a:t>标准？</a:t>
            </a:r>
            <a:endParaRPr lang="en-US" altLang="zh-CN" sz="3200" dirty="0"/>
          </a:p>
          <a:p>
            <a:r>
              <a:rPr lang="zh-CN" altLang="en-US" sz="3200" dirty="0"/>
              <a:t>法律如何区分“歧视”和“选择”？</a:t>
            </a:r>
            <a:endParaRPr lang="en-US" altLang="zh-CN" sz="3200" dirty="0"/>
          </a:p>
          <a:p>
            <a:r>
              <a:rPr lang="zh-CN" altLang="en-US" sz="3200" dirty="0"/>
              <a:t>反歧视的法律对“弱者”有利吗？</a:t>
            </a:r>
            <a:endParaRPr lang="en-US" altLang="zh-CN" sz="3200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0000FF"/>
                </a:solidFill>
              </a:rPr>
              <a:t>如何理解歧视行为？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2457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经济学对歧视理解：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基于统计经验（大数据）的选择</a:t>
            </a:r>
            <a:endParaRPr lang="en-US" altLang="zh-CN" dirty="0"/>
          </a:p>
          <a:p>
            <a:r>
              <a:rPr lang="zh-CN" altLang="en-US" dirty="0"/>
              <a:t>歧视的功能</a:t>
            </a:r>
            <a:r>
              <a:rPr lang="zh-CN" altLang="en-US" dirty="0">
                <a:sym typeface="Wingdings" panose="05000000000000000000" pitchFamily="2" charset="2"/>
              </a:rPr>
              <a:t>：降低信息不对称条件下的筛选成本</a:t>
            </a:r>
            <a:endParaRPr lang="en-US" altLang="zh-CN" dirty="0"/>
          </a:p>
          <a:p>
            <a:r>
              <a:rPr lang="en-US" altLang="zh-CN" dirty="0"/>
              <a:t>——</a:t>
            </a:r>
            <a:r>
              <a:rPr lang="zh-CN" altLang="en-US" dirty="0"/>
              <a:t>公共场所警察的抽检</a:t>
            </a:r>
            <a:endParaRPr lang="en-US" altLang="zh-CN" dirty="0"/>
          </a:p>
          <a:p>
            <a:r>
              <a:rPr lang="en-US" altLang="zh-CN" dirty="0"/>
              <a:t>——</a:t>
            </a:r>
            <a:r>
              <a:rPr lang="zh-CN" altLang="en-US" dirty="0"/>
              <a:t>银行“歧视”福建人</a:t>
            </a:r>
            <a:endParaRPr lang="en-US" altLang="zh-CN" dirty="0"/>
          </a:p>
          <a:p>
            <a:r>
              <a:rPr lang="en-US" altLang="zh-CN" dirty="0"/>
              <a:t>——</a:t>
            </a:r>
            <a:r>
              <a:rPr lang="zh-CN" altLang="en-US" dirty="0"/>
              <a:t>疫情环境下，对来自高风险地区、境外人士的特别管制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0000FF"/>
                </a:solidFill>
              </a:rPr>
              <a:t>法律与歧视</a:t>
            </a:r>
            <a:endParaRPr lang="zh-CN" altLang="en-US" sz="4000" b="1" dirty="0">
              <a:solidFill>
                <a:srgbClr val="0000FF"/>
              </a:solidFill>
            </a:endParaRPr>
          </a:p>
        </p:txBody>
      </p:sp>
      <p:sp>
        <p:nvSpPr>
          <p:cNvPr id="2560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800" dirty="0"/>
              <a:t>“合理”的歧视与“不合理”的歧视</a:t>
            </a:r>
            <a:endParaRPr lang="en-US" altLang="zh-CN" sz="2800" dirty="0"/>
          </a:p>
          <a:p>
            <a:r>
              <a:rPr lang="zh-CN" altLang="en-US" sz="2800" dirty="0">
                <a:solidFill>
                  <a:srgbClr val="FF0000"/>
                </a:solidFill>
              </a:rPr>
              <a:t>如何限制“不合理”的歧视？</a:t>
            </a:r>
            <a:endParaRPr lang="en-US" altLang="zh-CN" sz="2800" dirty="0">
              <a:solidFill>
                <a:srgbClr val="FF0000"/>
              </a:solidFill>
            </a:endParaRPr>
          </a:p>
          <a:p>
            <a:r>
              <a:rPr lang="zh-CN" altLang="en-US" sz="2800" dirty="0"/>
              <a:t>法律能够解决问题吗？</a:t>
            </a:r>
            <a:endParaRPr lang="en-US" altLang="zh-CN" sz="2800" dirty="0"/>
          </a:p>
          <a:p>
            <a:r>
              <a:rPr lang="zh-CN" altLang="en-US" sz="2800" dirty="0"/>
              <a:t>“不合理”的歧视最频繁出现的领域是哪里？</a:t>
            </a:r>
            <a:endParaRPr lang="en-US" altLang="zh-CN" sz="2800" dirty="0"/>
          </a:p>
          <a:p>
            <a:r>
              <a:rPr lang="zh-CN" altLang="en-US" sz="2800" dirty="0"/>
              <a:t>为什么说“市场是色盲”？</a:t>
            </a:r>
            <a:endParaRPr lang="en-US" altLang="zh-CN" sz="2800" dirty="0"/>
          </a:p>
          <a:p>
            <a:r>
              <a:rPr lang="zh-CN" altLang="en-US" sz="2800" dirty="0"/>
              <a:t>（</a:t>
            </a:r>
            <a:r>
              <a:rPr lang="en-US" altLang="zh-CN" sz="2800" dirty="0"/>
              <a:t>The market is color-blinded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r>
              <a:rPr lang="zh-CN" altLang="en-US" sz="2800" dirty="0"/>
              <a:t>市场竞争环境对理性人行为选择的约束</a:t>
            </a:r>
            <a:endParaRPr lang="en-US" altLang="zh-CN" sz="2800" dirty="0"/>
          </a:p>
          <a:p>
            <a:r>
              <a:rPr lang="zh-CN" altLang="en-US" sz="2800" b="1" dirty="0">
                <a:solidFill>
                  <a:srgbClr val="0000FF"/>
                </a:solidFill>
              </a:rPr>
              <a:t>问题的核心：歧视的成本由谁来承担？</a:t>
            </a:r>
            <a:br>
              <a:rPr lang="en-US" altLang="zh-CN" dirty="0"/>
            </a:br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333375"/>
            <a:ext cx="5410200" cy="68897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0000FF"/>
                </a:solidFill>
              </a:rPr>
              <a:t>阿尔钦的观点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43200" y="4648200"/>
            <a:ext cx="8001000" cy="5410200"/>
          </a:xfrm>
        </p:spPr>
        <p:txBody>
          <a:bodyPr/>
          <a:lstStyle/>
          <a:p>
            <a:pPr marL="609600" indent="-609600">
              <a:lnSpc>
                <a:spcPct val="120000"/>
              </a:lnSpc>
              <a:buFontTx/>
              <a:buNone/>
            </a:pPr>
            <a:endParaRPr lang="zh-CN" altLang="en-US"/>
          </a:p>
          <a:p>
            <a:pPr marL="609600" indent="-609600">
              <a:lnSpc>
                <a:spcPct val="120000"/>
              </a:lnSpc>
              <a:buFontTx/>
              <a:buNone/>
            </a:pPr>
            <a:endParaRPr lang="zh-CN" altLang="en-US" sz="2800">
              <a:solidFill>
                <a:srgbClr val="91074F"/>
              </a:solidFill>
            </a:endParaRPr>
          </a:p>
        </p:txBody>
      </p:sp>
      <p:sp>
        <p:nvSpPr>
          <p:cNvPr id="482308" name="Text Box 4"/>
          <p:cNvSpPr txBox="1">
            <a:spLocks noChangeArrowheads="1"/>
          </p:cNvSpPr>
          <p:nvPr/>
        </p:nvSpPr>
        <p:spPr bwMode="auto">
          <a:xfrm>
            <a:off x="1403350" y="1412875"/>
            <a:ext cx="4038600" cy="779463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</a:rPr>
              <a:t>阿尔钦    </a:t>
            </a:r>
            <a:r>
              <a:rPr lang="en-US" altLang="zh-CN" b="1" dirty="0" err="1">
                <a:solidFill>
                  <a:schemeClr val="tx1"/>
                </a:solidFill>
              </a:rPr>
              <a:t>Armen</a:t>
            </a:r>
            <a:r>
              <a:rPr lang="en-US" altLang="zh-CN" b="1" dirty="0">
                <a:solidFill>
                  <a:schemeClr val="tx1"/>
                </a:solidFill>
              </a:rPr>
              <a:t> A. </a:t>
            </a:r>
            <a:r>
              <a:rPr lang="en-US" altLang="zh-CN" b="1" dirty="0" err="1">
                <a:solidFill>
                  <a:schemeClr val="tx1"/>
                </a:solidFill>
              </a:rPr>
              <a:t>Alchian</a:t>
            </a:r>
            <a:r>
              <a:rPr lang="zh-CN" altLang="en-US" b="1" dirty="0">
                <a:solidFill>
                  <a:schemeClr val="tx1"/>
                </a:solidFill>
              </a:rPr>
              <a:t>       </a:t>
            </a:r>
            <a:endParaRPr lang="zh-CN" altLang="en-US" b="1" dirty="0">
              <a:solidFill>
                <a:schemeClr val="tx1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</a:rPr>
              <a:t>（</a:t>
            </a:r>
            <a:r>
              <a:rPr lang="en-US" altLang="zh-CN" b="1" dirty="0">
                <a:solidFill>
                  <a:schemeClr val="tx1"/>
                </a:solidFill>
              </a:rPr>
              <a:t>1914-2013</a:t>
            </a:r>
            <a:r>
              <a:rPr lang="zh-CN" altLang="en-US" b="1" dirty="0">
                <a:solidFill>
                  <a:schemeClr val="tx1"/>
                </a:solidFill>
              </a:rPr>
              <a:t>）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82309" name="Text Box 5"/>
          <p:cNvSpPr txBox="1">
            <a:spLocks noChangeArrowheads="1"/>
          </p:cNvSpPr>
          <p:nvPr/>
        </p:nvSpPr>
        <p:spPr bwMode="auto">
          <a:xfrm>
            <a:off x="762000" y="2514600"/>
            <a:ext cx="4953000" cy="641350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chemeClr val="tx1"/>
                </a:solidFill>
              </a:rPr>
              <a:t>1965</a:t>
            </a:r>
            <a:r>
              <a:rPr lang="zh-CN" altLang="en-US" b="1">
                <a:solidFill>
                  <a:schemeClr val="tx1"/>
                </a:solidFill>
              </a:rPr>
              <a:t>：</a:t>
            </a:r>
            <a:r>
              <a:rPr lang="en-US" altLang="zh-CN" b="1">
                <a:solidFill>
                  <a:schemeClr val="tx1"/>
                </a:solidFill>
              </a:rPr>
              <a:t>Competition, Monopoly, and the Pursuit of Money</a:t>
            </a:r>
            <a:r>
              <a:rPr lang="zh-CN" altLang="en-US" b="1">
                <a:solidFill>
                  <a:schemeClr val="tx1"/>
                </a:solidFill>
              </a:rPr>
              <a:t>（</a:t>
            </a:r>
            <a:r>
              <a:rPr lang="en-US" altLang="zh-CN" b="1">
                <a:solidFill>
                  <a:schemeClr val="tx1"/>
                </a:solidFill>
              </a:rPr>
              <a:t>with Kessel</a:t>
            </a:r>
            <a:r>
              <a:rPr lang="zh-CN" altLang="en-US" b="1">
                <a:solidFill>
                  <a:schemeClr val="tx1"/>
                </a:solidFill>
              </a:rPr>
              <a:t>）</a:t>
            </a:r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82310" name="Text Box 6"/>
          <p:cNvSpPr txBox="1">
            <a:spLocks noChangeArrowheads="1"/>
          </p:cNvSpPr>
          <p:nvPr/>
        </p:nvSpPr>
        <p:spPr bwMode="auto">
          <a:xfrm>
            <a:off x="685800" y="4114800"/>
            <a:ext cx="8062913" cy="2249488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chemeClr val="tx1"/>
                </a:solidFill>
              </a:rPr>
              <a:t>选择意味着歧视，歧视意味着选择，选择和歧视是一枚硬币的两面；一个“认钱”的社会，会增加具有不同个性特征的人之间的平等；而一个“认人”的社会，基于个性特征（如肤色、性别、信仰、行政级别等）的歧视就势必更加严重。因此，恰恰是竞争激烈的市场经济，或鼓励追求金钱的资本主义，才使得那些不受欢迎的人</a:t>
            </a:r>
            <a:r>
              <a:rPr lang="en-US" altLang="zh-CN" sz="2000" b="1" dirty="0">
                <a:solidFill>
                  <a:schemeClr val="tx1"/>
                </a:solidFill>
              </a:rPr>
              <a:t>——</a:t>
            </a:r>
            <a:r>
              <a:rPr lang="zh-CN" altLang="en-US" sz="2000" b="1" dirty="0">
                <a:solidFill>
                  <a:schemeClr val="tx1"/>
                </a:solidFill>
              </a:rPr>
              <a:t>性格怪诞、笃信异教、坚持己见、或有各种污点和前科的人</a:t>
            </a:r>
            <a:r>
              <a:rPr lang="en-US" altLang="zh-CN" sz="2000" b="1" dirty="0">
                <a:solidFill>
                  <a:schemeClr val="tx1"/>
                </a:solidFill>
              </a:rPr>
              <a:t>——</a:t>
            </a:r>
            <a:r>
              <a:rPr lang="zh-CN" altLang="en-US" sz="2000" b="1" dirty="0">
                <a:solidFill>
                  <a:schemeClr val="tx1"/>
                </a:solidFill>
              </a:rPr>
              <a:t>更容易生存下来，而这才增进了自由。</a:t>
            </a:r>
            <a:r>
              <a:rPr lang="zh-CN" altLang="en-US" sz="2000" dirty="0"/>
              <a:t> </a:t>
            </a:r>
            <a:endParaRPr lang="en-US" altLang="zh-CN" sz="2000" dirty="0"/>
          </a:p>
        </p:txBody>
      </p:sp>
      <p:pic>
        <p:nvPicPr>
          <p:cNvPr id="482313" name="Picture 9" descr="阿尔钦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019800" y="914400"/>
            <a:ext cx="1954213" cy="280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2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2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48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48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48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2308" grpId="0"/>
      <p:bldP spid="482309" grpId="0"/>
      <p:bldP spid="4823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zh-CN" altLang="en-US" b="1" dirty="0">
                <a:solidFill>
                  <a:srgbClr val="0000FF"/>
                </a:solidFill>
              </a:rPr>
              <a:t>奔涌吧，后浪！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2765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思考：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r>
              <a:rPr lang="zh-CN" altLang="en-US" sz="2800" dirty="0"/>
              <a:t>“只认钱，不认人”是一个好的社会标志吗？（比较前市场经济年代）</a:t>
            </a:r>
            <a:endParaRPr lang="en-US" altLang="zh-CN" sz="2800" dirty="0"/>
          </a:p>
          <a:p>
            <a:r>
              <a:rPr lang="zh-CN" altLang="en-US" sz="2800" dirty="0"/>
              <a:t>为什么大学里教师的来源变得多元化了？</a:t>
            </a:r>
            <a:endParaRPr lang="en-US" altLang="zh-CN" sz="2800" dirty="0"/>
          </a:p>
          <a:p>
            <a:r>
              <a:rPr lang="zh-CN" altLang="en-US" sz="2800" dirty="0"/>
              <a:t>我们生活的这个时代，为什么女性地位大幅度提高了？</a:t>
            </a:r>
            <a:endParaRPr lang="en-US" altLang="zh-CN" sz="2800" dirty="0"/>
          </a:p>
          <a:p>
            <a:r>
              <a:rPr lang="zh-CN" altLang="en-US" sz="2800" dirty="0"/>
              <a:t>作为后浪，在社会生活中，在职场中，如何不被“歧视”？</a:t>
            </a:r>
            <a:endParaRPr lang="en-US" altLang="zh-CN" sz="2800" dirty="0"/>
          </a:p>
          <a:p>
            <a:r>
              <a:rPr lang="zh-CN" altLang="en-US" sz="2800" dirty="0"/>
              <a:t>答案：市场竞争、自由选择</a:t>
            </a:r>
            <a:endParaRPr lang="en-US" altLang="zh-CN" sz="2800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4699</Words>
  <Application>WPS 演示</Application>
  <PresentationFormat>全屏显示(4:3)</PresentationFormat>
  <Paragraphs>308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Arial</vt:lpstr>
      <vt:lpstr>宋体</vt:lpstr>
      <vt:lpstr>Wingdings</vt:lpstr>
      <vt:lpstr>Calibri</vt:lpstr>
      <vt:lpstr>微软雅黑</vt:lpstr>
      <vt:lpstr>Arial Unicode MS</vt:lpstr>
      <vt:lpstr>Times New Roman</vt:lpstr>
      <vt:lpstr>Office 主题</vt:lpstr>
      <vt:lpstr>第三讲  公平、效率与市场经济法律制度</vt:lpstr>
      <vt:lpstr>思考</vt:lpstr>
      <vt:lpstr>什么是“好的”法律？</vt:lpstr>
      <vt:lpstr>电车难题</vt:lpstr>
      <vt:lpstr>电车难题</vt:lpstr>
      <vt:lpstr>真实的案例</vt:lpstr>
      <vt:lpstr>真实的案例</vt:lpstr>
      <vt:lpstr>无处不在的“价值权衡”</vt:lpstr>
      <vt:lpstr>“公平、正义、人权”背后的经济学逻辑</vt:lpstr>
      <vt:lpstr>“公平、正义、人权”背后的经济学逻辑</vt:lpstr>
      <vt:lpstr>关于“效率”</vt:lpstr>
      <vt:lpstr>关于“效率”</vt:lpstr>
      <vt:lpstr>关于“效率”</vt:lpstr>
      <vt:lpstr>关于“效率”</vt:lpstr>
      <vt:lpstr>对法律经济学批评的回应</vt:lpstr>
      <vt:lpstr>如何实现“共同富裕”</vt:lpstr>
      <vt:lpstr>“分配”问题的可能法律因应</vt:lpstr>
      <vt:lpstr>广义的收入再分配政策</vt:lpstr>
      <vt:lpstr>Judge Hai Rui</vt:lpstr>
      <vt:lpstr>历史上的“共同富裕政策”</vt:lpstr>
      <vt:lpstr>小结</vt:lpstr>
      <vt:lpstr>小结</vt:lpstr>
      <vt:lpstr>社会公平问题的讨论：就业歧视</vt:lpstr>
      <vt:lpstr>如何理解歧视行为？</vt:lpstr>
      <vt:lpstr>如何理解歧视行为？</vt:lpstr>
      <vt:lpstr>法律与歧视</vt:lpstr>
      <vt:lpstr>阿尔钦的观点</vt:lpstr>
      <vt:lpstr>奔涌吧，后浪！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从法律视角看近期监管政策变化</dc:title>
  <dc:creator>Huang Tao</dc:creator>
  <cp:lastModifiedBy>王彦成</cp:lastModifiedBy>
  <cp:revision>50</cp:revision>
  <dcterms:created xsi:type="dcterms:W3CDTF">2021-08-14T17:20:00Z</dcterms:created>
  <dcterms:modified xsi:type="dcterms:W3CDTF">2026-05-26T05:17:41Z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0516B0ACE6524B198410E1A9674F1385_13</vt:lpwstr>
  </property>
  <property fmtid="{D5CDD505-2E9C-101B-9397-08002B2CF9AE}" pid="3" name="KSOProductBuildVer">
    <vt:lpwstr>2052-12.1.0.17147</vt:lpwstr>
  </property>
</Properties>
</file>