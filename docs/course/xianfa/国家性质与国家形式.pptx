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7" r:id="rId3"/>
    <p:sldId id="325" r:id="rId4"/>
    <p:sldId id="324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310" r:id="rId29"/>
    <p:sldId id="311" r:id="rId30"/>
    <p:sldId id="312" r:id="rId31"/>
    <p:sldId id="313" r:id="rId32"/>
    <p:sldId id="314" r:id="rId33"/>
    <p:sldId id="315" r:id="rId34"/>
    <p:sldId id="316" r:id="rId35"/>
  </p:sldIdLst>
  <p:sldSz cx="9144000" cy="6858000" type="screen4x3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3" d="100"/>
          <a:sy n="83" d="100"/>
        </p:scale>
        <p:origin x="-141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gs" Target="tags/tag1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notesMaster" Target="notesMasters/notesMaster1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B0C70A-B8C1-404E-BDB8-5790ED1CFB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FF399B-BABA-4DD2-B906-55F143DCA39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B1C2E-1577-462D-A31E-58EC6009AC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7E777-91C8-43AD-9F4D-45368DA454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B1C2E-1577-462D-A31E-58EC6009AC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7E777-91C8-43AD-9F4D-45368DA454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B1C2E-1577-462D-A31E-58EC6009AC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7E777-91C8-43AD-9F4D-45368DA454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B1C2E-1577-462D-A31E-58EC6009AC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7E777-91C8-43AD-9F4D-45368DA454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B1C2E-1577-462D-A31E-58EC6009AC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7E777-91C8-43AD-9F4D-45368DA454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B1C2E-1577-462D-A31E-58EC6009AC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7E777-91C8-43AD-9F4D-45368DA454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B1C2E-1577-462D-A31E-58EC6009AC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7E777-91C8-43AD-9F4D-45368DA454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B1C2E-1577-462D-A31E-58EC6009AC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7E777-91C8-43AD-9F4D-45368DA454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B1C2E-1577-462D-A31E-58EC6009AC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7E777-91C8-43AD-9F4D-45368DA454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B1C2E-1577-462D-A31E-58EC6009AC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7E777-91C8-43AD-9F4D-45368DA454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B1C2E-1577-462D-A31E-58EC6009AC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7E777-91C8-43AD-9F4D-45368DA454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B1C2E-1577-462D-A31E-58EC6009AC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7E777-91C8-43AD-9F4D-45368DA4542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   </a:t>
            </a:r>
            <a:r>
              <a:rPr lang="zh-CN" altLang="en-US" dirty="0" smtClean="0"/>
              <a:t>国家机构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endParaRPr lang="zh-CN" altLang="en-US" sz="2400" dirty="0" smtClean="0"/>
          </a:p>
          <a:p>
            <a:pPr>
              <a:spcBef>
                <a:spcPct val="0"/>
              </a:spcBef>
              <a:buNone/>
            </a:pPr>
            <a:endParaRPr lang="zh-CN" altLang="en-US" sz="2800" dirty="0" smtClean="0"/>
          </a:p>
          <a:p>
            <a:pPr>
              <a:spcBef>
                <a:spcPct val="0"/>
              </a:spcBef>
              <a:buNone/>
            </a:pPr>
            <a:r>
              <a:rPr lang="en-US" altLang="zh-CN" sz="2800" dirty="0" smtClean="0"/>
              <a:t>                                   </a:t>
            </a:r>
            <a:r>
              <a:rPr lang="zh-CN" altLang="en-US" sz="2800" dirty="0" smtClean="0"/>
              <a:t>目</a:t>
            </a:r>
            <a:r>
              <a:rPr lang="en-US" altLang="zh-CN" sz="2800" dirty="0" smtClean="0"/>
              <a:t>     </a:t>
            </a:r>
            <a:r>
              <a:rPr lang="zh-CN" altLang="en-US" sz="2800" dirty="0" smtClean="0"/>
              <a:t>录</a:t>
            </a:r>
            <a:endParaRPr lang="zh-CN" altLang="en-US" sz="2800" dirty="0" smtClean="0"/>
          </a:p>
          <a:p>
            <a:pPr>
              <a:spcBef>
                <a:spcPct val="0"/>
              </a:spcBef>
              <a:buNone/>
            </a:pPr>
            <a:endParaRPr lang="zh-CN" altLang="en-US" sz="2800" dirty="0" smtClean="0"/>
          </a:p>
          <a:p>
            <a:pPr>
              <a:spcBef>
                <a:spcPct val="0"/>
              </a:spcBef>
              <a:buNone/>
            </a:pPr>
            <a:r>
              <a:rPr lang="zh-CN" altLang="en-US" sz="2800" dirty="0" smtClean="0"/>
              <a:t>一、国家机构的一般原理</a:t>
            </a:r>
            <a:endParaRPr lang="zh-CN" altLang="en-US" sz="2800" dirty="0" smtClean="0"/>
          </a:p>
          <a:p>
            <a:pPr>
              <a:spcBef>
                <a:spcPct val="0"/>
              </a:spcBef>
              <a:buNone/>
            </a:pPr>
            <a:endParaRPr lang="zh-CN" altLang="en-US" sz="2800" dirty="0" smtClean="0"/>
          </a:p>
          <a:p>
            <a:pPr>
              <a:spcBef>
                <a:spcPct val="0"/>
              </a:spcBef>
              <a:buNone/>
            </a:pPr>
            <a:r>
              <a:rPr lang="zh-CN" altLang="en-US" sz="2800" dirty="0" smtClean="0"/>
              <a:t>二、我国的国家机构</a:t>
            </a:r>
            <a:endParaRPr lang="zh-CN" altLang="en-US" sz="2800" dirty="0" smtClean="0"/>
          </a:p>
          <a:p>
            <a:pPr>
              <a:spcBef>
                <a:spcPct val="0"/>
              </a:spcBef>
              <a:buNone/>
            </a:pPr>
            <a:endParaRPr lang="en-US" altLang="zh-CN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一、国家机构的一般原理</a:t>
            </a:r>
            <a:endParaRPr lang="zh-CN" altLang="en-US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国家性质与国家形式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>
              <a:spcBef>
                <a:spcPct val="0"/>
              </a:spcBef>
              <a:buNone/>
            </a:pPr>
            <a:r>
              <a:rPr lang="zh-CN" altLang="en-US" dirty="0" smtClean="0">
                <a:sym typeface="+mn-ea"/>
              </a:rPr>
              <a:t>一、概述</a:t>
            </a:r>
            <a:endParaRPr lang="en-US" altLang="zh-CN" dirty="0" smtClean="0"/>
          </a:p>
          <a:p>
            <a:pPr>
              <a:spcBef>
                <a:spcPct val="0"/>
              </a:spcBef>
              <a:buNone/>
            </a:pPr>
            <a:endParaRPr lang="en-US" altLang="zh-CN" dirty="0" smtClean="0"/>
          </a:p>
          <a:p>
            <a:pPr>
              <a:spcBef>
                <a:spcPct val="0"/>
              </a:spcBef>
              <a:buNone/>
            </a:pPr>
            <a:r>
              <a:rPr lang="zh-CN" altLang="en-US" dirty="0" smtClean="0">
                <a:sym typeface="+mn-ea"/>
              </a:rPr>
              <a:t>国家性质</a:t>
            </a:r>
            <a:r>
              <a:rPr lang="en-US" altLang="zh-CN" dirty="0" smtClean="0">
                <a:sym typeface="+mn-ea"/>
              </a:rPr>
              <a:t>——</a:t>
            </a:r>
            <a:r>
              <a:rPr lang="zh-CN" altLang="en-US" dirty="0" smtClean="0">
                <a:sym typeface="+mn-ea"/>
              </a:rPr>
              <a:t>国体      国家的实质</a:t>
            </a:r>
            <a:endParaRPr lang="en-US" altLang="zh-CN" dirty="0" smtClean="0"/>
          </a:p>
          <a:p>
            <a:pPr>
              <a:spcBef>
                <a:spcPct val="0"/>
              </a:spcBef>
              <a:buNone/>
            </a:pPr>
            <a:endParaRPr lang="en-US" altLang="zh-CN" dirty="0" smtClean="0"/>
          </a:p>
          <a:p>
            <a:pPr>
              <a:spcBef>
                <a:spcPct val="0"/>
              </a:spcBef>
              <a:buNone/>
            </a:pPr>
            <a:r>
              <a:rPr lang="zh-CN" altLang="en-US" dirty="0" smtClean="0">
                <a:sym typeface="+mn-ea"/>
              </a:rPr>
              <a:t>马克思主义国家学说</a:t>
            </a:r>
            <a:r>
              <a:rPr lang="en-US" altLang="zh-CN" dirty="0" smtClean="0">
                <a:sym typeface="+mn-ea"/>
              </a:rPr>
              <a:t>——</a:t>
            </a:r>
            <a:r>
              <a:rPr lang="zh-CN" altLang="en-US" dirty="0" smtClean="0">
                <a:sym typeface="+mn-ea"/>
              </a:rPr>
              <a:t>国家的阶级性质，</a:t>
            </a:r>
            <a:endParaRPr lang="en-US" altLang="zh-CN" dirty="0" smtClean="0"/>
          </a:p>
          <a:p>
            <a:pPr>
              <a:spcBef>
                <a:spcPct val="0"/>
              </a:spcBef>
              <a:buNone/>
            </a:pPr>
            <a:endParaRPr lang="en-US" altLang="zh-CN" dirty="0" smtClean="0"/>
          </a:p>
          <a:p>
            <a:pPr>
              <a:spcBef>
                <a:spcPct val="0"/>
              </a:spcBef>
              <a:buNone/>
            </a:pPr>
            <a:r>
              <a:rPr lang="zh-CN" altLang="en-US" dirty="0" smtClean="0">
                <a:sym typeface="+mn-ea"/>
              </a:rPr>
              <a:t>国家是阶级斗争的产物、阶级统治的工具</a:t>
            </a:r>
            <a:endParaRPr lang="en-US" altLang="zh-CN" dirty="0" smtClean="0"/>
          </a:p>
          <a:p>
            <a:pPr>
              <a:spcBef>
                <a:spcPct val="0"/>
              </a:spcBef>
              <a:buNone/>
            </a:pPr>
            <a:endParaRPr lang="en-US" altLang="zh-CN" dirty="0" smtClean="0"/>
          </a:p>
          <a:p>
            <a:pPr>
              <a:spcBef>
                <a:spcPct val="0"/>
              </a:spcBef>
              <a:buNone/>
            </a:pPr>
            <a:r>
              <a:rPr lang="zh-CN" altLang="en-US" dirty="0" smtClean="0">
                <a:sym typeface="+mn-ea"/>
              </a:rPr>
              <a:t>本原学说</a:t>
            </a:r>
            <a:r>
              <a:rPr lang="en-US" altLang="zh-CN" dirty="0" smtClean="0">
                <a:sym typeface="+mn-ea"/>
              </a:rPr>
              <a:t>——</a:t>
            </a:r>
            <a:r>
              <a:rPr lang="zh-CN" altLang="en-US" dirty="0" smtClean="0">
                <a:sym typeface="+mn-ea"/>
              </a:rPr>
              <a:t>国家的形态， </a:t>
            </a:r>
            <a:r>
              <a:rPr lang="zh-CN" altLang="en-US" b="1" dirty="0" smtClean="0">
                <a:sym typeface="+mn-ea"/>
              </a:rPr>
              <a:t>“主权之所在”</a:t>
            </a:r>
            <a:r>
              <a:rPr lang="zh-CN" altLang="en-US" dirty="0" smtClean="0">
                <a:sym typeface="+mn-ea"/>
              </a:rPr>
              <a:t>（博丹）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国家形式：中国宪法学特有概念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政权组织形式      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政体（本原：统治权行使之形式，专制政体与立宪政体）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国家结构形式：联邦制、单一制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国家的标志：国旗  国徽 国歌 首都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二、国家性质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国体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 smtClean="0"/>
              <a:t>（一）国体概念的起源与发展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         国家类型学       国家学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1.</a:t>
            </a:r>
            <a:r>
              <a:rPr lang="zh-CN" altLang="en-US" dirty="0" smtClean="0"/>
              <a:t>亚里士多德：统治者是谁？为谁服务？</a:t>
            </a:r>
            <a:endParaRPr lang="en-US" altLang="zh-CN" dirty="0" smtClean="0"/>
          </a:p>
          <a:p>
            <a:pPr>
              <a:buNone/>
            </a:pPr>
            <a:r>
              <a:rPr lang="en-US" altLang="zh-CN" sz="2800" dirty="0" smtClean="0"/>
              <a:t>                        </a:t>
            </a:r>
            <a:endParaRPr lang="en-US" altLang="zh-CN" sz="2800" dirty="0" smtClean="0"/>
          </a:p>
          <a:p>
            <a:pPr>
              <a:buNone/>
            </a:pPr>
            <a:r>
              <a:rPr lang="zh-CN" altLang="en-US" sz="2800" dirty="0" smtClean="0"/>
              <a:t>                        一人           少数人           多数人</a:t>
            </a:r>
            <a:endParaRPr lang="en-US" altLang="zh-CN" sz="2800" dirty="0" smtClean="0"/>
          </a:p>
          <a:p>
            <a:pPr>
              <a:buNone/>
            </a:pPr>
            <a:r>
              <a:rPr lang="zh-CN" altLang="en-US" sz="2800" dirty="0" smtClean="0"/>
              <a:t>为多数人  君主政体    贵族政体    共和政体</a:t>
            </a:r>
            <a:endParaRPr lang="en-US" altLang="zh-CN" sz="2800" dirty="0" smtClean="0"/>
          </a:p>
          <a:p>
            <a:pPr>
              <a:buNone/>
            </a:pPr>
            <a:endParaRPr lang="en-US" altLang="zh-CN" sz="2800" dirty="0" smtClean="0"/>
          </a:p>
          <a:p>
            <a:pPr>
              <a:buNone/>
            </a:pPr>
            <a:r>
              <a:rPr lang="zh-CN" altLang="en-US" sz="2800" dirty="0" smtClean="0"/>
              <a:t>为统治者    僭主政体    寡头政体     暴民政治        </a:t>
            </a:r>
            <a:endParaRPr lang="en-US" altLang="zh-CN" sz="2800" dirty="0" smtClean="0"/>
          </a:p>
          <a:p>
            <a:pPr>
              <a:buNone/>
            </a:pPr>
            <a:endParaRPr lang="en-US" altLang="zh-CN" sz="2800" dirty="0" smtClean="0"/>
          </a:p>
          <a:p>
            <a:pPr>
              <a:buNone/>
            </a:pPr>
            <a:r>
              <a:rPr lang="en-US" altLang="zh-CN" sz="2800" dirty="0" smtClean="0"/>
              <a:t>                                                              </a:t>
            </a:r>
            <a:r>
              <a:rPr lang="zh-CN" altLang="en-US" sz="2800" dirty="0" smtClean="0"/>
              <a:t>（</a:t>
            </a:r>
            <a:r>
              <a:rPr lang="en-US" altLang="zh-CN" sz="2800" dirty="0" smtClean="0"/>
              <a:t>democracy</a:t>
            </a:r>
            <a:r>
              <a:rPr lang="zh-CN" altLang="en-US" sz="2800" dirty="0" smtClean="0"/>
              <a:t>）</a:t>
            </a:r>
            <a:endParaRPr lang="en-US" altLang="zh-CN" sz="2800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一般国家学：国家形态理论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 </a:t>
            </a:r>
            <a:r>
              <a:rPr lang="zh-CN" altLang="en-US" sz="2400" dirty="0" smtClean="0"/>
              <a:t>国家的形态：主权的归属</a:t>
            </a:r>
            <a:r>
              <a:rPr lang="en-US" altLang="zh-CN" sz="2400" dirty="0" smtClean="0"/>
              <a:t>—</a:t>
            </a:r>
            <a:r>
              <a:rPr lang="zh-CN" altLang="en-US" sz="2400" dirty="0" smtClean="0"/>
              <a:t>共和制、君主制</a:t>
            </a:r>
            <a:endParaRPr lang="en-US" altLang="zh-CN" sz="2400" dirty="0" smtClean="0"/>
          </a:p>
          <a:p>
            <a:pPr>
              <a:buNone/>
            </a:pPr>
            <a:r>
              <a:rPr lang="zh-CN" altLang="en-US" sz="2400" dirty="0" smtClean="0"/>
              <a:t>和政体概念区别不大</a:t>
            </a:r>
            <a:endParaRPr lang="en-US" altLang="zh-CN" sz="2400" dirty="0" smtClean="0"/>
          </a:p>
          <a:p>
            <a:pPr>
              <a:buNone/>
            </a:pPr>
            <a:r>
              <a:rPr lang="zh-CN" altLang="en-US" sz="2400" dirty="0" smtClean="0"/>
              <a:t>欧洲的国家学理论并无国体概念</a:t>
            </a:r>
            <a:endParaRPr lang="en-US" altLang="zh-CN" sz="2400" dirty="0" smtClean="0"/>
          </a:p>
          <a:p>
            <a:pPr>
              <a:buNone/>
            </a:pPr>
            <a:r>
              <a:rPr lang="zh-CN" altLang="en-US" sz="2400" dirty="0" smtClean="0"/>
              <a:t>日本学者穗积八束创造的概念   遭到美浓部达吉的反对</a:t>
            </a:r>
            <a:endParaRPr lang="en-US" altLang="zh-CN" sz="2400" dirty="0" smtClean="0"/>
          </a:p>
          <a:p>
            <a:pPr>
              <a:buNone/>
            </a:pPr>
            <a:r>
              <a:rPr lang="zh-CN" altLang="en-US" sz="2400" dirty="0" smtClean="0"/>
              <a:t>为日本的君主立宪制辩护；国体宪法学</a:t>
            </a:r>
            <a:endParaRPr lang="en-US" altLang="zh-CN" sz="2400" dirty="0" smtClean="0"/>
          </a:p>
          <a:p>
            <a:pPr>
              <a:buNone/>
            </a:pPr>
            <a:r>
              <a:rPr lang="zh-CN" altLang="en-US" sz="2400" dirty="0" smtClean="0"/>
              <a:t>和德国的“国家法人说”异曲同工</a:t>
            </a:r>
            <a:endParaRPr lang="en-US" altLang="zh-CN" sz="2400" dirty="0" smtClean="0"/>
          </a:p>
          <a:p>
            <a:pPr>
              <a:buNone/>
            </a:pPr>
            <a:endParaRPr lang="en-US" altLang="zh-CN" sz="2400" dirty="0" smtClean="0"/>
          </a:p>
          <a:p>
            <a:pPr>
              <a:buNone/>
            </a:pPr>
            <a:r>
              <a:rPr lang="zh-CN" altLang="en-US" sz="2400" dirty="0" smtClean="0"/>
              <a:t>战时被军国主义所利用   战后被彻底否弃</a:t>
            </a:r>
            <a:endParaRPr lang="en-US" altLang="zh-CN" sz="2400" dirty="0" smtClean="0"/>
          </a:p>
          <a:p>
            <a:pPr>
              <a:buNone/>
            </a:pPr>
            <a:endParaRPr lang="en-US" altLang="zh-CN" sz="2400" dirty="0" smtClean="0"/>
          </a:p>
          <a:p>
            <a:pPr>
              <a:buNone/>
            </a:pPr>
            <a:endParaRPr lang="en-US" altLang="zh-CN" sz="2400" dirty="0" smtClean="0"/>
          </a:p>
          <a:p>
            <a:pPr>
              <a:buNone/>
            </a:pPr>
            <a:endParaRPr lang="en-US" altLang="zh-CN" sz="2400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dirty="0" smtClean="0"/>
              <a:t>3.</a:t>
            </a:r>
            <a:r>
              <a:rPr lang="zh-CN" altLang="en-US" dirty="0" smtClean="0"/>
              <a:t>中国宪法上的国体概念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晚清和民国时期从日本引进，概念混乱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国体和政体不分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毛泽东：马克思主义国家学说中的国体概念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社会各阶级在国家中的地位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国家形态得以实质化     国家的阶级性质</a:t>
            </a:r>
            <a:endParaRPr lang="en-US" altLang="zh-CN" dirty="0" smtClean="0"/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 smtClean="0"/>
              <a:t>（二）我国</a:t>
            </a:r>
            <a:r>
              <a:rPr lang="en-US" altLang="zh-CN" sz="3200" dirty="0" smtClean="0"/>
              <a:t>《</a:t>
            </a:r>
            <a:r>
              <a:rPr lang="zh-CN" altLang="en-US" sz="3200" dirty="0" smtClean="0"/>
              <a:t>宪法</a:t>
            </a:r>
            <a:r>
              <a:rPr lang="en-US" altLang="zh-CN" sz="3200" dirty="0" smtClean="0"/>
              <a:t>》</a:t>
            </a:r>
            <a:r>
              <a:rPr lang="zh-CN" altLang="en-US" sz="3200" dirty="0" smtClean="0"/>
              <a:t>“国体”概念解读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dirty="0" smtClean="0"/>
              <a:t>《</a:t>
            </a:r>
            <a:r>
              <a:rPr lang="zh-CN" altLang="en-US" dirty="0" smtClean="0"/>
              <a:t>宪法</a:t>
            </a:r>
            <a:r>
              <a:rPr lang="en-US" altLang="zh-CN" dirty="0" smtClean="0"/>
              <a:t>》</a:t>
            </a:r>
            <a:r>
              <a:rPr lang="zh-CN" altLang="en-US" dirty="0" smtClean="0"/>
              <a:t>第一条“国体”条款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中华人民共和国是工人阶级领导的、以工农联盟为基础的人民民主专政的社会主义国家。</a:t>
            </a:r>
            <a:endParaRPr lang="zh-CN" altLang="en-US" dirty="0" smtClean="0"/>
          </a:p>
          <a:p>
            <a:r>
              <a:rPr lang="zh-CN" altLang="en-US" dirty="0" smtClean="0"/>
              <a:t>社会主义制度是中华人民共和国的根本制度。中国共产党领导是中国特色社会主义最本质的特征</a:t>
            </a:r>
            <a:endParaRPr lang="zh-CN" altLang="en-US" dirty="0" smtClean="0"/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有关宪法的实质意涵，国家和法秩序的核心纲领或本质特征。对这一条款要作体系解释，如和法治国家、人权保障条款联系。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例如，美国宪法：我们美利坚合众国的人民，为了组织一个更完善的</a:t>
            </a:r>
            <a:r>
              <a:rPr lang="zh-CN" altLang="en-US" b="1" dirty="0" smtClean="0"/>
              <a:t>联邦</a:t>
            </a:r>
            <a:r>
              <a:rPr lang="zh-CN" altLang="en-US" dirty="0" smtClean="0"/>
              <a:t>，树立</a:t>
            </a:r>
            <a:r>
              <a:rPr lang="zh-CN" altLang="en-US" b="1" dirty="0" smtClean="0"/>
              <a:t>正义</a:t>
            </a:r>
            <a:r>
              <a:rPr lang="zh-CN" altLang="en-US" dirty="0" smtClean="0"/>
              <a:t>，保障国内的</a:t>
            </a:r>
            <a:r>
              <a:rPr lang="zh-CN" altLang="en-US" b="1" dirty="0" smtClean="0"/>
              <a:t>安宁</a:t>
            </a:r>
            <a:r>
              <a:rPr lang="zh-CN" altLang="en-US" dirty="0" smtClean="0"/>
              <a:t>，建立共同的</a:t>
            </a:r>
            <a:r>
              <a:rPr lang="zh-CN" altLang="en-US" b="1" dirty="0" smtClean="0"/>
              <a:t>国防</a:t>
            </a:r>
            <a:r>
              <a:rPr lang="zh-CN" altLang="en-US" dirty="0" smtClean="0"/>
              <a:t>，增进</a:t>
            </a:r>
            <a:r>
              <a:rPr lang="zh-CN" altLang="en-US" b="1" dirty="0" smtClean="0"/>
              <a:t>全民福利</a:t>
            </a:r>
            <a:r>
              <a:rPr lang="zh-CN" altLang="en-US" dirty="0" smtClean="0"/>
              <a:t>和确保我们自己及我们後代能</a:t>
            </a:r>
            <a:r>
              <a:rPr lang="zh-CN" altLang="en-US" b="1" dirty="0" smtClean="0"/>
              <a:t>安享自由带来的幸福</a:t>
            </a:r>
            <a:r>
              <a:rPr lang="zh-CN" altLang="en-US" dirty="0" smtClean="0"/>
              <a:t>，乃为美利坚合众国制定和确立这一部宪法。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人民民主专政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专政之原意：采用暴力手段来获得和维持政权，</a:t>
            </a:r>
            <a:r>
              <a:rPr lang="zh-CN" altLang="en-US" dirty="0" smtClean="0"/>
              <a:t>不受任何</a:t>
            </a:r>
            <a:r>
              <a:rPr lang="zh-CN" altLang="en-US" dirty="0" smtClean="0"/>
              <a:t>法律约束的政权（列宁）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客观解释：人民对国家政权的“排他性占有”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Dictatorship  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zh-CN" dirty="0" smtClean="0"/>
              <a:t>3.</a:t>
            </a:r>
            <a:r>
              <a:rPr lang="zh-CN" altLang="en-US" dirty="0" smtClean="0"/>
              <a:t>社会主义制度与党的领导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zh-CN" altLang="en-US" sz="2800" dirty="0" smtClean="0"/>
              <a:t>社会主义是根本制度</a:t>
            </a:r>
            <a:r>
              <a:rPr lang="zh-CN" altLang="en-US" sz="2800" dirty="0" smtClean="0"/>
              <a:t>：通过经济制度</a:t>
            </a:r>
            <a:r>
              <a:rPr lang="zh-CN" altLang="en-US" sz="2800" dirty="0" smtClean="0"/>
              <a:t>、政党制度体现出来。</a:t>
            </a:r>
            <a:endParaRPr lang="en-US" altLang="zh-CN" sz="2800" dirty="0" smtClean="0"/>
          </a:p>
          <a:p>
            <a:pPr>
              <a:buNone/>
            </a:pPr>
            <a:endParaRPr lang="en-US" altLang="zh-CN" sz="2800" dirty="0" smtClean="0"/>
          </a:p>
          <a:p>
            <a:pPr>
              <a:buNone/>
            </a:pPr>
            <a:r>
              <a:rPr lang="zh-CN" altLang="en-US" sz="2800" dirty="0" smtClean="0"/>
              <a:t>党的领导：先锋队组织领导和人民主权的结合</a:t>
            </a:r>
            <a:endParaRPr lang="en-US" altLang="zh-CN" sz="2800" dirty="0" smtClean="0"/>
          </a:p>
          <a:p>
            <a:pPr>
              <a:buNone/>
            </a:pPr>
            <a:endParaRPr lang="en-US" altLang="zh-CN" sz="2800" dirty="0" smtClean="0"/>
          </a:p>
          <a:p>
            <a:pPr>
              <a:buNone/>
            </a:pPr>
            <a:r>
              <a:rPr lang="zh-CN" altLang="en-US" sz="2800" dirty="0" smtClean="0"/>
              <a:t>党的领导的合法性：宪法</a:t>
            </a:r>
            <a:r>
              <a:rPr lang="en-US" altLang="zh-CN" sz="2800" dirty="0" smtClean="0"/>
              <a:t>《</a:t>
            </a:r>
            <a:r>
              <a:rPr lang="zh-CN" altLang="en-US" sz="2800" dirty="0" smtClean="0"/>
              <a:t>序言</a:t>
            </a:r>
            <a:r>
              <a:rPr lang="en-US" altLang="zh-CN" sz="2800" dirty="0" smtClean="0"/>
              <a:t>》</a:t>
            </a:r>
            <a:r>
              <a:rPr lang="zh-CN" altLang="en-US" sz="2800" dirty="0" smtClean="0"/>
              <a:t>，历史合法性、绩效合法性、法理合法性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4.</a:t>
            </a:r>
            <a:r>
              <a:rPr lang="zh-CN" altLang="en-US" dirty="0" smtClean="0"/>
              <a:t>法治国家、人权保障</a:t>
            </a:r>
            <a:endParaRPr lang="en-US" altLang="zh-CN" dirty="0" smtClean="0"/>
          </a:p>
          <a:p>
            <a:r>
              <a:rPr lang="en-US" altLang="zh-CN" dirty="0" smtClean="0"/>
              <a:t>1999</a:t>
            </a:r>
            <a:r>
              <a:rPr lang="zh-CN" altLang="en-US" dirty="0" smtClean="0"/>
              <a:t>年、</a:t>
            </a:r>
            <a:r>
              <a:rPr lang="en-US" altLang="zh-CN" dirty="0" smtClean="0"/>
              <a:t>2004</a:t>
            </a:r>
            <a:r>
              <a:rPr lang="zh-CN" altLang="en-US" dirty="0" smtClean="0"/>
              <a:t>年修宪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依法治国，建设社会主义法治国家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国家尊重和保障人权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成为国家的实质意涵。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党执政的合法性基础。法理合法性</a:t>
            </a:r>
            <a:endParaRPr lang="en-US" altLang="zh-CN" dirty="0" smtClean="0"/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二、国家的形式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政体、国家结构形式和国家的标志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（一）政体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国家政权组织形式（狭义）中国通说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广义的政体概念包括国家结构形式（国家是如何组成的）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国家权力的横向设置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现代学说：君主立宪制与共和制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君主立宪制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）二元君主制：君主是行政机关首脑，又是立法机关的一部分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普鲁士宪法，日本明治宪法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）议会君主权：君主是国家元首，国家的象征；实权在于议会；日本、英国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共和制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）总统制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总统作为国家元首，行政首脑；由选民直接选举当选，独立于国会。美国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）议会内阁制</a:t>
            </a:r>
            <a:endParaRPr lang="en-US" altLang="zh-CN" dirty="0" smtClean="0"/>
          </a:p>
          <a:p>
            <a:pPr>
              <a:lnSpc>
                <a:spcPct val="90000"/>
              </a:lnSpc>
              <a:buNone/>
            </a:pPr>
            <a:r>
              <a:rPr lang="zh-CN" altLang="en-US" dirty="0" smtClean="0"/>
              <a:t>最为普遍的政府组成形式</a:t>
            </a:r>
            <a:endParaRPr lang="zh-CN" altLang="en-US" dirty="0" smtClean="0"/>
          </a:p>
          <a:p>
            <a:pPr>
              <a:lnSpc>
                <a:spcPct val="90000"/>
              </a:lnSpc>
              <a:buNone/>
            </a:pPr>
            <a:r>
              <a:rPr lang="zh-CN" altLang="en-US" dirty="0" smtClean="0">
                <a:solidFill>
                  <a:srgbClr val="FF0000"/>
                </a:solidFill>
              </a:rPr>
              <a:t>★构成：</a:t>
            </a:r>
            <a:r>
              <a:rPr lang="zh-CN" altLang="en-US" dirty="0" smtClean="0"/>
              <a:t>政府由国会中得票最多的多数党组成</a:t>
            </a:r>
            <a:endParaRPr lang="zh-CN" altLang="en-US" dirty="0" smtClean="0"/>
          </a:p>
          <a:p>
            <a:pPr>
              <a:lnSpc>
                <a:spcPct val="90000"/>
              </a:lnSpc>
              <a:buNone/>
            </a:pPr>
            <a:r>
              <a:rPr lang="zh-CN" altLang="en-US" dirty="0" smtClean="0"/>
              <a:t>            政府首脑为该党领袖</a:t>
            </a:r>
            <a:endParaRPr lang="zh-CN" altLang="en-US" dirty="0" smtClean="0"/>
          </a:p>
          <a:p>
            <a:pPr>
              <a:lnSpc>
                <a:spcPct val="90000"/>
              </a:lnSpc>
              <a:buNone/>
            </a:pPr>
            <a:r>
              <a:rPr lang="zh-CN" altLang="en-US" dirty="0" smtClean="0"/>
              <a:t>            国家元首虚位制</a:t>
            </a:r>
            <a:endParaRPr lang="zh-CN" altLang="en-US" dirty="0" smtClean="0"/>
          </a:p>
          <a:p>
            <a:pPr>
              <a:lnSpc>
                <a:spcPct val="90000"/>
              </a:lnSpc>
              <a:buNone/>
            </a:pPr>
            <a:r>
              <a:rPr lang="zh-CN" altLang="en-US" dirty="0" smtClean="0">
                <a:solidFill>
                  <a:srgbClr val="FF0000"/>
                </a:solidFill>
              </a:rPr>
              <a:t>★特征：</a:t>
            </a:r>
            <a:r>
              <a:rPr lang="zh-CN" altLang="en-US" dirty="0" smtClean="0"/>
              <a:t>政府首脑具有最终决策权</a:t>
            </a:r>
            <a:endParaRPr lang="zh-CN" altLang="en-US" dirty="0" smtClean="0"/>
          </a:p>
          <a:p>
            <a:pPr>
              <a:lnSpc>
                <a:spcPct val="90000"/>
              </a:lnSpc>
              <a:buNone/>
            </a:pPr>
            <a:r>
              <a:rPr lang="zh-CN" altLang="en-US" dirty="0" smtClean="0"/>
              <a:t>             但议会对政府的制约强大</a:t>
            </a:r>
            <a:endParaRPr lang="zh-CN" altLang="en-US" dirty="0" smtClean="0"/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）半总统制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介于总统制与内阁制之间；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总统由选民选举产生，权力小于美国总统，但又大于内阁制中的总理。法国、韩国、俄罗斯。我国台湾地区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）委员会制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>
                <a:solidFill>
                  <a:srgbClr val="FF0000"/>
                </a:solidFill>
              </a:rPr>
              <a:t>★</a:t>
            </a:r>
            <a:r>
              <a:rPr lang="zh-CN" altLang="en-US" dirty="0" smtClean="0"/>
              <a:t>构成：无最高决策者（领导）</a:t>
            </a:r>
            <a:endParaRPr lang="zh-CN" altLang="en-US" dirty="0" smtClean="0"/>
          </a:p>
          <a:p>
            <a:pPr>
              <a:buNone/>
            </a:pPr>
            <a:r>
              <a:rPr lang="zh-CN" altLang="en-US" dirty="0" smtClean="0"/>
              <a:t>       成员地位平等    多数决主义</a:t>
            </a:r>
            <a:endParaRPr lang="zh-CN" altLang="en-US" dirty="0" smtClean="0"/>
          </a:p>
          <a:p>
            <a:pPr>
              <a:buNone/>
            </a:pPr>
            <a:endParaRPr lang="zh-CN" altLang="en-US" dirty="0" smtClean="0"/>
          </a:p>
          <a:p>
            <a:pPr>
              <a:buNone/>
            </a:pPr>
            <a:r>
              <a:rPr lang="zh-CN" altLang="en-US" dirty="0" smtClean="0">
                <a:solidFill>
                  <a:srgbClr val="FF0000"/>
                </a:solidFill>
              </a:rPr>
              <a:t>★</a:t>
            </a:r>
            <a:r>
              <a:rPr lang="zh-CN" altLang="en-US" dirty="0" smtClean="0"/>
              <a:t>特征：典型的民主制  可以杜绝政府的专横</a:t>
            </a:r>
            <a:endParaRPr lang="zh-CN" altLang="en-US" dirty="0" smtClean="0"/>
          </a:p>
          <a:p>
            <a:pPr>
              <a:buNone/>
            </a:pPr>
            <a:r>
              <a:rPr lang="zh-CN" altLang="en-US" dirty="0" smtClean="0"/>
              <a:t>             缺乏灵敏性、效率不高、责任不明显</a:t>
            </a:r>
            <a:endParaRPr lang="zh-CN" altLang="en-US" dirty="0" smtClean="0"/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（</a:t>
            </a:r>
            <a:r>
              <a:rPr lang="en-US" altLang="zh-CN" dirty="0" smtClean="0"/>
              <a:t>5</a:t>
            </a:r>
            <a:r>
              <a:rPr lang="zh-CN" altLang="en-US" dirty="0" smtClean="0"/>
              <a:t>）人民代表大会制（大会制）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最高权力机关：由选民选举产生，最高立法机关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其他国家机关的权力渊源，由其产生、向其负责；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兼职代表为主：代表与选民的“同质性”；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象征着人民直接行使权力。</a:t>
            </a:r>
            <a:endParaRPr lang="en-US" altLang="zh-CN" dirty="0" smtClean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中国：党领导的人民代表大会制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二元复合型政体：执政党的集体领导与人民代表大会紧密结合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中国的人民代表大会制度</a:t>
            </a:r>
            <a:br>
              <a:rPr lang="zh-CN" altLang="en-US" dirty="0" smtClean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）全国人大</a:t>
            </a:r>
            <a:endParaRPr lang="zh-CN" altLang="en-US" dirty="0" smtClean="0"/>
          </a:p>
          <a:p>
            <a:pPr>
              <a:buNone/>
            </a:pPr>
            <a:r>
              <a:rPr lang="en-US" altLang="zh-CN" dirty="0" smtClean="0"/>
              <a:t>A.</a:t>
            </a:r>
            <a:r>
              <a:rPr lang="zh-CN" altLang="en-US" dirty="0" smtClean="0"/>
              <a:t>性质：最高立法机关、最高权力机关</a:t>
            </a:r>
            <a:endParaRPr lang="zh-CN" altLang="en-US" dirty="0" smtClean="0"/>
          </a:p>
          <a:p>
            <a:pPr>
              <a:buNone/>
            </a:pPr>
            <a:r>
              <a:rPr lang="zh-CN" altLang="en-US" dirty="0" smtClean="0"/>
              <a:t>  代表非职业性（兼职代表）</a:t>
            </a:r>
            <a:endParaRPr lang="zh-CN" altLang="en-US" dirty="0" smtClean="0"/>
          </a:p>
          <a:p>
            <a:pPr>
              <a:buNone/>
            </a:pPr>
            <a:r>
              <a:rPr lang="en-US" altLang="zh-CN" dirty="0" smtClean="0"/>
              <a:t>B.</a:t>
            </a:r>
            <a:r>
              <a:rPr lang="zh-CN" altLang="en-US" dirty="0" smtClean="0"/>
              <a:t>任期：五年</a:t>
            </a:r>
            <a:endParaRPr lang="zh-CN" altLang="en-US" dirty="0" smtClean="0"/>
          </a:p>
          <a:p>
            <a:pPr>
              <a:buNone/>
            </a:pPr>
            <a:endParaRPr lang="zh-CN" altLang="en-US" dirty="0" smtClean="0"/>
          </a:p>
          <a:p>
            <a:pPr>
              <a:buNone/>
            </a:pPr>
            <a:r>
              <a:rPr lang="en-US" altLang="zh-CN" dirty="0" smtClean="0"/>
              <a:t>C.</a:t>
            </a:r>
            <a:r>
              <a:rPr lang="zh-CN" altLang="en-US" dirty="0" smtClean="0"/>
              <a:t>组成：由省</a:t>
            </a:r>
            <a:r>
              <a:rPr lang="en-US" altLang="zh-CN" dirty="0" smtClean="0"/>
              <a:t>/</a:t>
            </a:r>
            <a:r>
              <a:rPr lang="zh-CN" altLang="en-US" dirty="0" smtClean="0"/>
              <a:t>自治区</a:t>
            </a:r>
            <a:r>
              <a:rPr lang="en-US" altLang="zh-CN" dirty="0" smtClean="0"/>
              <a:t>/</a:t>
            </a:r>
            <a:r>
              <a:rPr lang="zh-CN" altLang="en-US" dirty="0" smtClean="0"/>
              <a:t>直辖市</a:t>
            </a:r>
            <a:r>
              <a:rPr lang="en-US" altLang="zh-CN" dirty="0" smtClean="0"/>
              <a:t>/</a:t>
            </a:r>
            <a:r>
              <a:rPr lang="zh-CN" altLang="en-US" dirty="0" smtClean="0"/>
              <a:t>特别行政区</a:t>
            </a:r>
            <a:r>
              <a:rPr lang="en-US" altLang="zh-CN" dirty="0" smtClean="0"/>
              <a:t>/</a:t>
            </a:r>
            <a:r>
              <a:rPr lang="zh-CN" altLang="en-US" dirty="0" smtClean="0"/>
              <a:t>解放军代表组成，不超过</a:t>
            </a:r>
            <a:r>
              <a:rPr lang="en-US" altLang="zh-CN" dirty="0" smtClean="0"/>
              <a:t>3000</a:t>
            </a:r>
            <a:r>
              <a:rPr lang="zh-CN" altLang="en-US" dirty="0" smtClean="0"/>
              <a:t>人</a:t>
            </a:r>
            <a:endParaRPr lang="zh-CN" altLang="en-US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 smtClean="0"/>
              <a:t>D.</a:t>
            </a:r>
            <a:r>
              <a:rPr lang="zh-CN" altLang="en-US" dirty="0" smtClean="0"/>
              <a:t>职权：</a:t>
            </a:r>
            <a:endParaRPr lang="en-US" altLang="zh-CN" dirty="0" smtClean="0"/>
          </a:p>
          <a:p>
            <a:r>
              <a:rPr lang="zh-CN" altLang="en-US" dirty="0" smtClean="0"/>
              <a:t>修宪权和宪法监督权</a:t>
            </a:r>
            <a:endParaRPr lang="en-US" altLang="zh-CN" dirty="0" smtClean="0"/>
          </a:p>
          <a:p>
            <a:r>
              <a:rPr lang="zh-CN" altLang="en-US" dirty="0" smtClean="0"/>
              <a:t>制定和修改基本法律的权力</a:t>
            </a:r>
            <a:endParaRPr lang="en-US" altLang="zh-CN" dirty="0" smtClean="0"/>
          </a:p>
          <a:p>
            <a:r>
              <a:rPr lang="zh-CN" altLang="en-US" dirty="0" smtClean="0"/>
              <a:t>中央国家机关组成人员的选举权</a:t>
            </a:r>
            <a:r>
              <a:rPr lang="en-US" altLang="zh-CN" dirty="0" smtClean="0"/>
              <a:t>/</a:t>
            </a:r>
            <a:r>
              <a:rPr lang="zh-CN" altLang="en-US" dirty="0" smtClean="0"/>
              <a:t>决定权和罢免权</a:t>
            </a:r>
            <a:endParaRPr lang="en-US" altLang="zh-CN" dirty="0" smtClean="0"/>
          </a:p>
          <a:p>
            <a:r>
              <a:rPr lang="zh-CN" altLang="en-US" sz="2400" dirty="0" smtClean="0"/>
              <a:t>选举：主席</a:t>
            </a:r>
            <a:r>
              <a:rPr lang="en-US" altLang="zh-CN" sz="2400" dirty="0" smtClean="0"/>
              <a:t>/</a:t>
            </a:r>
            <a:r>
              <a:rPr lang="zh-CN" altLang="en-US" sz="2400" dirty="0" smtClean="0"/>
              <a:t>副主席</a:t>
            </a:r>
            <a:r>
              <a:rPr lang="en-US" altLang="zh-CN" sz="2400" dirty="0" smtClean="0"/>
              <a:t>/</a:t>
            </a:r>
            <a:r>
              <a:rPr lang="zh-CN" altLang="en-US" sz="2400" dirty="0" smtClean="0"/>
              <a:t>中央军事委员会主席</a:t>
            </a:r>
            <a:r>
              <a:rPr lang="en-US" altLang="zh-CN" sz="2400" dirty="0" smtClean="0"/>
              <a:t>/</a:t>
            </a:r>
            <a:r>
              <a:rPr lang="zh-CN" altLang="en-US" sz="2400" dirty="0" smtClean="0"/>
              <a:t>最高人民法院院长</a:t>
            </a:r>
            <a:r>
              <a:rPr lang="en-US" altLang="zh-CN" sz="2400" dirty="0" smtClean="0"/>
              <a:t>/</a:t>
            </a:r>
            <a:r>
              <a:rPr lang="zh-CN" altLang="en-US" sz="2400" dirty="0" smtClean="0"/>
              <a:t>最高检检察长</a:t>
            </a:r>
            <a:r>
              <a:rPr lang="en-US" altLang="zh-CN" sz="2400" dirty="0" smtClean="0"/>
              <a:t>/</a:t>
            </a:r>
            <a:r>
              <a:rPr lang="zh-CN" altLang="en-US" sz="2400" dirty="0" smtClean="0"/>
              <a:t>国家监察委员会主任</a:t>
            </a:r>
            <a:endParaRPr lang="en-US" altLang="zh-CN" sz="2400" dirty="0" smtClean="0"/>
          </a:p>
          <a:p>
            <a:r>
              <a:rPr lang="zh-CN" altLang="en-US" dirty="0" smtClean="0"/>
              <a:t>重大事项决定权：财政权</a:t>
            </a:r>
            <a:r>
              <a:rPr lang="en-US" altLang="zh-CN" dirty="0" smtClean="0"/>
              <a:t>/</a:t>
            </a:r>
            <a:r>
              <a:rPr lang="zh-CN" altLang="en-US" dirty="0" smtClean="0"/>
              <a:t>国民经济和社会发展计划</a:t>
            </a:r>
            <a:r>
              <a:rPr lang="en-US" altLang="zh-CN" dirty="0" smtClean="0"/>
              <a:t>/</a:t>
            </a:r>
            <a:r>
              <a:rPr lang="zh-CN" altLang="en-US" dirty="0" smtClean="0"/>
              <a:t>省、自治区和直辖市的建制，特别行政区</a:t>
            </a:r>
            <a:r>
              <a:rPr lang="en-US" altLang="zh-CN" dirty="0" smtClean="0"/>
              <a:t>/</a:t>
            </a:r>
            <a:r>
              <a:rPr lang="zh-CN" altLang="en-US" dirty="0" smtClean="0"/>
              <a:t>决定战争与和平</a:t>
            </a:r>
            <a:endParaRPr lang="zh-CN" altLang="en-US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E/</a:t>
            </a:r>
            <a:r>
              <a:rPr lang="zh-CN" altLang="en-US" dirty="0" smtClean="0"/>
              <a:t>会议制度和工作程序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每年举行一次会议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工作程序：</a:t>
            </a:r>
            <a:endParaRPr lang="en-US" altLang="zh-CN" dirty="0" smtClean="0"/>
          </a:p>
          <a:p>
            <a:pPr>
              <a:buFontTx/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）议案提出：主席团、常委会、委员会等</a:t>
            </a:r>
            <a:endParaRPr lang="en-US" altLang="zh-CN" dirty="0" smtClean="0"/>
          </a:p>
          <a:p>
            <a:pPr>
              <a:buFontTx/>
              <a:buNone/>
            </a:pPr>
            <a:r>
              <a:rPr lang="en-US" altLang="zh-CN" dirty="0" smtClean="0"/>
              <a:t> </a:t>
            </a:r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）审议工作报告</a:t>
            </a:r>
            <a:endParaRPr lang="en-US" altLang="zh-CN" dirty="0" smtClean="0"/>
          </a:p>
          <a:p>
            <a:pPr>
              <a:buFontTx/>
              <a:buNone/>
            </a:pPr>
            <a:r>
              <a:rPr lang="en-US" altLang="zh-CN" dirty="0" smtClean="0"/>
              <a:t> </a:t>
            </a:r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）选举和决定人员</a:t>
            </a:r>
            <a:endParaRPr lang="en-US" altLang="zh-CN" dirty="0" smtClean="0"/>
          </a:p>
          <a:p>
            <a:pPr>
              <a:buFontTx/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）罢免、质询、询问</a:t>
            </a:r>
            <a:endParaRPr lang="zh-CN" altLang="en-US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F/</a:t>
            </a:r>
            <a:r>
              <a:rPr lang="zh-CN" altLang="en-US" dirty="0" smtClean="0"/>
              <a:t>全国人大专门委员会</a:t>
            </a:r>
            <a:endParaRPr lang="en-US" altLang="zh-CN" dirty="0" smtClean="0"/>
          </a:p>
          <a:p>
            <a:r>
              <a:rPr lang="zh-CN" altLang="en-US" dirty="0" smtClean="0"/>
              <a:t>民族委员会、宪法和法律委员会、内务司法委员会、财政经济委员会、教科文卫委员会、外事委员会、华侨委员会、环境与资源保护委员会、农业与农村委员会。</a:t>
            </a:r>
            <a:endParaRPr lang="zh-CN" altLang="en-US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）全国人大常委会</a:t>
            </a:r>
            <a:endParaRPr lang="zh-CN" altLang="en-US" dirty="0" smtClean="0"/>
          </a:p>
          <a:p>
            <a:pPr>
              <a:buNone/>
            </a:pPr>
            <a:r>
              <a:rPr lang="zh-CN" altLang="en-US" dirty="0" smtClean="0"/>
              <a:t> </a:t>
            </a:r>
            <a:r>
              <a:rPr lang="en-US" altLang="zh-CN" dirty="0" smtClean="0"/>
              <a:t>A.</a:t>
            </a:r>
            <a:r>
              <a:rPr lang="zh-CN" altLang="en-US" dirty="0" smtClean="0"/>
              <a:t>性质：常设机构、立法机关</a:t>
            </a:r>
            <a:endParaRPr lang="zh-CN" altLang="en-US" dirty="0" smtClean="0"/>
          </a:p>
          <a:p>
            <a:pPr>
              <a:buNone/>
            </a:pPr>
            <a:r>
              <a:rPr lang="zh-CN" altLang="en-US" dirty="0" smtClean="0"/>
              <a:t> </a:t>
            </a:r>
            <a:r>
              <a:rPr lang="en-US" altLang="zh-CN" dirty="0" smtClean="0"/>
              <a:t>B.</a:t>
            </a:r>
            <a:r>
              <a:rPr lang="zh-CN" altLang="en-US" dirty="0" smtClean="0"/>
              <a:t>组成、任期和机构设置：</a:t>
            </a:r>
            <a:endParaRPr lang="zh-CN" altLang="en-US" dirty="0" smtClean="0"/>
          </a:p>
          <a:p>
            <a:pPr>
              <a:buNone/>
            </a:pPr>
            <a:r>
              <a:rPr lang="en-US" altLang="zh-CN" dirty="0" smtClean="0"/>
              <a:t> </a:t>
            </a:r>
            <a:r>
              <a:rPr lang="zh-CN" altLang="en-US" dirty="0" smtClean="0"/>
              <a:t>委员长、副委员长、秘书长、委员。不得兼职其他国家机关职务。</a:t>
            </a: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 smtClean="0"/>
              <a:t>C/</a:t>
            </a:r>
            <a:r>
              <a:rPr lang="zh-CN" altLang="en-US" dirty="0" smtClean="0"/>
              <a:t>职权：</a:t>
            </a:r>
            <a:endParaRPr lang="en-US" altLang="zh-CN" dirty="0" smtClean="0"/>
          </a:p>
          <a:p>
            <a:pPr>
              <a:buFontTx/>
              <a:buNone/>
            </a:pPr>
            <a:r>
              <a:rPr lang="en-US" altLang="zh-CN" sz="3600" dirty="0" smtClean="0"/>
              <a:t>   </a:t>
            </a:r>
            <a:r>
              <a:rPr lang="zh-CN" altLang="en-US" dirty="0" smtClean="0"/>
              <a:t>解释宪法、监督宪法实施</a:t>
            </a:r>
            <a:endParaRPr lang="en-US" altLang="zh-CN" dirty="0" smtClean="0"/>
          </a:p>
          <a:p>
            <a:pPr>
              <a:buFontTx/>
              <a:buNone/>
            </a:pPr>
            <a:r>
              <a:rPr lang="en-US" altLang="zh-CN" dirty="0" smtClean="0"/>
              <a:t>   </a:t>
            </a:r>
            <a:r>
              <a:rPr lang="zh-CN" altLang="en-US" dirty="0" smtClean="0"/>
              <a:t>立法权（基本法律以外的去他法律；基本法律的补充、修改）</a:t>
            </a:r>
            <a:endParaRPr lang="en-US" altLang="zh-CN" dirty="0" smtClean="0"/>
          </a:p>
          <a:p>
            <a:pPr>
              <a:buFontTx/>
              <a:buNone/>
            </a:pPr>
            <a:r>
              <a:rPr lang="zh-CN" altLang="en-US" dirty="0" smtClean="0"/>
              <a:t>   法律解释权</a:t>
            </a:r>
            <a:endParaRPr lang="en-US" altLang="zh-CN" dirty="0" smtClean="0"/>
          </a:p>
          <a:p>
            <a:pPr>
              <a:buFontTx/>
              <a:buNone/>
            </a:pPr>
            <a:r>
              <a:rPr lang="zh-CN" altLang="en-US" dirty="0" smtClean="0"/>
              <a:t>   对其他国家机关工作的监督权</a:t>
            </a:r>
            <a:endParaRPr lang="en-US" altLang="zh-CN" dirty="0" smtClean="0"/>
          </a:p>
          <a:p>
            <a:pPr>
              <a:buFontTx/>
              <a:buNone/>
            </a:pPr>
            <a:r>
              <a:rPr lang="en-US" altLang="zh-CN" dirty="0" smtClean="0"/>
              <a:t>   </a:t>
            </a:r>
            <a:r>
              <a:rPr lang="zh-CN" altLang="en-US" dirty="0" smtClean="0"/>
              <a:t>重大事项决定权</a:t>
            </a:r>
            <a:endParaRPr lang="en-US" altLang="zh-CN" dirty="0" smtClean="0"/>
          </a:p>
          <a:p>
            <a:pPr>
              <a:buFontTx/>
              <a:buNone/>
            </a:pPr>
            <a:r>
              <a:rPr lang="en-US" altLang="zh-CN" dirty="0" smtClean="0"/>
              <a:t>   </a:t>
            </a:r>
            <a:r>
              <a:rPr lang="zh-CN" altLang="en-US" dirty="0" smtClean="0"/>
              <a:t>人事任免权</a:t>
            </a:r>
            <a:endParaRPr lang="en-US" altLang="zh-CN" dirty="0" smtClean="0"/>
          </a:p>
          <a:p>
            <a:pPr>
              <a:buFontTx/>
              <a:buNone/>
            </a:pPr>
            <a:r>
              <a:rPr lang="zh-CN" altLang="en-US" dirty="0" smtClean="0"/>
              <a:t>全国人大授予的其他职权</a:t>
            </a:r>
            <a:endParaRPr lang="zh-CN" altLang="en-US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dirty="0" smtClean="0"/>
              <a:t>D/</a:t>
            </a:r>
            <a:r>
              <a:rPr lang="zh-CN" altLang="en-US" dirty="0" smtClean="0"/>
              <a:t>会议制度与工作程序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2</a:t>
            </a:r>
            <a:r>
              <a:rPr lang="zh-CN" altLang="en-US" dirty="0" smtClean="0"/>
              <a:t>个月开一次会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议案提出、听取和审议工作报告、财政权、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法律实施情况的检查、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规范性文件备案审查</a:t>
            </a:r>
            <a:endParaRPr lang="en-US" altLang="zh-CN" dirty="0" smtClean="0"/>
          </a:p>
          <a:p>
            <a:pPr>
              <a:buNone/>
            </a:pPr>
            <a:r>
              <a:rPr lang="zh-CN" altLang="en-US" smtClean="0"/>
              <a:t>质询、询问、特定问题调查</a:t>
            </a:r>
            <a:endParaRPr lang="zh-CN" altLang="en-US" smtClean="0"/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（二）国家结构形式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 smtClean="0"/>
              <a:t>整体与部分、中央与地方的关系</a:t>
            </a:r>
            <a:endParaRPr lang="zh-CN" altLang="en-US" dirty="0" smtClean="0"/>
          </a:p>
          <a:p>
            <a:pPr>
              <a:buNone/>
            </a:pPr>
            <a:r>
              <a:rPr lang="zh-CN" altLang="en-US" dirty="0" smtClean="0"/>
              <a:t>可以划分为单一制和复合制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国家权力的纵向设置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A.</a:t>
            </a:r>
            <a:r>
              <a:rPr lang="zh-CN" altLang="en-US" dirty="0" smtClean="0"/>
              <a:t>单一制</a:t>
            </a:r>
            <a:endParaRPr lang="zh-CN" altLang="en-US" dirty="0" smtClean="0"/>
          </a:p>
          <a:p>
            <a:pPr>
              <a:buNone/>
            </a:pPr>
            <a:r>
              <a:rPr lang="en-US" altLang="zh-CN" dirty="0" smtClean="0"/>
              <a:t>1.</a:t>
            </a:r>
            <a:r>
              <a:rPr lang="zh-CN" altLang="en-US" dirty="0" smtClean="0"/>
              <a:t>  以中、法、英、日为典型</a:t>
            </a:r>
            <a:endParaRPr lang="zh-CN" altLang="en-US" dirty="0" smtClean="0"/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zh-CN" dirty="0" smtClean="0"/>
              <a:t>2.</a:t>
            </a:r>
            <a:r>
              <a:rPr lang="zh-CN" altLang="en-US" dirty="0" smtClean="0"/>
              <a:t>一个中央政府作为权力的核心</a:t>
            </a:r>
            <a:endParaRPr lang="zh-CN" altLang="en-US" dirty="0" smtClean="0"/>
          </a:p>
          <a:p>
            <a:pPr>
              <a:buNone/>
            </a:pPr>
            <a:endParaRPr lang="zh-CN" altLang="en-US" dirty="0" smtClean="0"/>
          </a:p>
          <a:p>
            <a:pPr>
              <a:buNone/>
            </a:pPr>
            <a:r>
              <a:rPr lang="en-US" altLang="zh-CN" dirty="0" smtClean="0"/>
              <a:t>3.</a:t>
            </a:r>
            <a:r>
              <a:rPr lang="zh-CN" altLang="en-US" dirty="0" smtClean="0"/>
              <a:t>中央和地方的关系是领导与被领导的关系</a:t>
            </a:r>
            <a:endParaRPr lang="zh-CN" altLang="en-US" dirty="0" smtClean="0"/>
          </a:p>
          <a:p>
            <a:pPr>
              <a:buNone/>
            </a:pPr>
            <a:r>
              <a:rPr lang="zh-CN" altLang="en-US" dirty="0" smtClean="0"/>
              <a:t>   趋势：实施地方自治</a:t>
            </a:r>
            <a:endParaRPr lang="zh-CN" altLang="en-US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4.</a:t>
            </a:r>
            <a:r>
              <a:rPr lang="zh-CN" altLang="en-US" dirty="0" smtClean="0"/>
              <a:t>地方权力的来源：中央授权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中国：非对称的单一制（给予特定地方特别的自治权）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B.</a:t>
            </a:r>
            <a:r>
              <a:rPr lang="zh-CN" altLang="en-US" dirty="0" smtClean="0"/>
              <a:t>复合制</a:t>
            </a:r>
            <a:endParaRPr lang="en-US" altLang="zh-CN" dirty="0" smtClean="0"/>
          </a:p>
          <a:p>
            <a:pPr>
              <a:lnSpc>
                <a:spcPct val="90000"/>
              </a:lnSpc>
            </a:pPr>
            <a:r>
              <a:rPr lang="en-US" altLang="zh-CN" dirty="0" smtClean="0"/>
              <a:t>1.</a:t>
            </a:r>
            <a:r>
              <a:rPr lang="zh-CN" altLang="en-US" dirty="0" smtClean="0"/>
              <a:t>联邦制</a:t>
            </a:r>
            <a:endParaRPr lang="zh-CN" altLang="en-US" dirty="0" smtClean="0"/>
          </a:p>
          <a:p>
            <a:pPr>
              <a:lnSpc>
                <a:spcPct val="90000"/>
              </a:lnSpc>
            </a:pPr>
            <a:r>
              <a:rPr lang="zh-CN" altLang="en-US" dirty="0" smtClean="0"/>
              <a:t>   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）由多个成员单位组成，在联邦成立以前，成员单位视为主权国家</a:t>
            </a:r>
            <a:endParaRPr lang="zh-CN" altLang="en-US" dirty="0" smtClean="0"/>
          </a:p>
          <a:p>
            <a:pPr>
              <a:lnSpc>
                <a:spcPct val="90000"/>
              </a:lnSpc>
              <a:buNone/>
            </a:pPr>
            <a:r>
              <a:rPr lang="zh-CN" altLang="en-US" dirty="0" smtClean="0"/>
              <a:t>   </a:t>
            </a:r>
            <a:endParaRPr lang="zh-CN" altLang="en-US" dirty="0" smtClean="0"/>
          </a:p>
          <a:p>
            <a:pPr>
              <a:lnSpc>
                <a:spcPct val="90000"/>
              </a:lnSpc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）各成员单位有自己的宪法、各自的法律体系</a:t>
            </a:r>
            <a:endParaRPr lang="zh-CN" altLang="en-US" dirty="0" smtClean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）联邦宪法在各成员单位与联邦之间进行分权</a:t>
            </a:r>
            <a:endParaRPr lang="zh-CN" altLang="en-US" dirty="0" smtClean="0"/>
          </a:p>
          <a:p>
            <a:pPr>
              <a:buNone/>
            </a:pPr>
            <a:r>
              <a:rPr lang="zh-CN" altLang="en-US" dirty="0" smtClean="0"/>
              <a:t>    </a:t>
            </a:r>
            <a:endParaRPr lang="zh-CN" altLang="en-US" dirty="0" smtClean="0"/>
          </a:p>
          <a:p>
            <a:pPr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）联邦政府的权力来自于各成员单位的让渡</a:t>
            </a:r>
            <a:endParaRPr lang="zh-CN" altLang="en-US" dirty="0" smtClean="0"/>
          </a:p>
          <a:p>
            <a:pPr>
              <a:buNone/>
            </a:pPr>
            <a:r>
              <a:rPr lang="zh-CN" altLang="en-US" dirty="0" smtClean="0"/>
              <a:t>  联邦宪法明文列举的权力为联邦权力</a:t>
            </a:r>
            <a:endParaRPr lang="zh-CN" altLang="en-US" dirty="0" smtClean="0"/>
          </a:p>
          <a:p>
            <a:pPr>
              <a:buNone/>
            </a:pPr>
            <a:r>
              <a:rPr lang="zh-CN" altLang="en-US" dirty="0" smtClean="0"/>
              <a:t>未让渡的</a:t>
            </a:r>
            <a:r>
              <a:rPr lang="zh-CN" altLang="en-US" dirty="0" smtClean="0">
                <a:latin typeface="Arial" panose="020B0604020202020204" pitchFamily="34" charset="0"/>
              </a:rPr>
              <a:t>“</a:t>
            </a:r>
            <a:r>
              <a:rPr lang="zh-CN" altLang="en-US" dirty="0" smtClean="0"/>
              <a:t>剩余</a:t>
            </a:r>
            <a:r>
              <a:rPr lang="zh-CN" altLang="en-US" dirty="0" smtClean="0">
                <a:latin typeface="Arial" panose="020B0604020202020204" pitchFamily="34" charset="0"/>
              </a:rPr>
              <a:t>”</a:t>
            </a:r>
            <a:r>
              <a:rPr lang="zh-CN" altLang="en-US" dirty="0" smtClean="0"/>
              <a:t>权力为成员单位的保留权力</a:t>
            </a:r>
            <a:endParaRPr lang="zh-CN" altLang="en-US" dirty="0" smtClean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5</a:t>
            </a:r>
            <a:r>
              <a:rPr lang="zh-CN" altLang="en-US" dirty="0" smtClean="0"/>
              <a:t>）联邦政府具有国际法上的主体地位，代表各成员单位行使外交权</a:t>
            </a:r>
            <a:endParaRPr lang="zh-CN" altLang="en-US" dirty="0" smtClean="0"/>
          </a:p>
          <a:p>
            <a:pPr>
              <a:buNone/>
            </a:pPr>
            <a:endParaRPr lang="zh-CN" altLang="en-US" dirty="0" smtClean="0"/>
          </a:p>
          <a:p>
            <a:pPr>
              <a:buNone/>
            </a:pPr>
            <a:r>
              <a:rPr lang="en-US" altLang="zh-CN" dirty="0" smtClean="0"/>
              <a:t>2.</a:t>
            </a:r>
            <a:r>
              <a:rPr lang="zh-CN" altLang="en-US" dirty="0" smtClean="0"/>
              <a:t>邦联</a:t>
            </a:r>
            <a:endParaRPr lang="zh-CN" altLang="en-US" dirty="0" smtClean="0"/>
          </a:p>
          <a:p>
            <a:pPr>
              <a:buNone/>
            </a:pPr>
            <a:r>
              <a:rPr lang="zh-CN" altLang="en-US" dirty="0" smtClean="0"/>
              <a:t>  严格意义上不能算作国家的形式</a:t>
            </a:r>
            <a:endParaRPr lang="zh-CN" altLang="en-US" dirty="0" smtClean="0"/>
          </a:p>
          <a:p>
            <a:pPr>
              <a:buNone/>
            </a:pPr>
            <a:r>
              <a:rPr lang="zh-CN" altLang="en-US" dirty="0" smtClean="0"/>
              <a:t>  无宪法、无统一的法制、仅仅是一种国家间的联盟</a:t>
            </a:r>
            <a:endParaRPr lang="zh-CN" altLang="en-US" dirty="0" smtClean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（三）国家的标志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国旗、国徽、国歌、首都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象征物 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把国家的形态表达出来，通过</a:t>
            </a:r>
            <a:r>
              <a:rPr lang="en-US" altLang="zh-CN" dirty="0" smtClean="0"/>
              <a:t>《</a:t>
            </a:r>
            <a:r>
              <a:rPr lang="zh-CN" altLang="en-US" dirty="0" smtClean="0"/>
              <a:t>宪法</a:t>
            </a:r>
            <a:r>
              <a:rPr lang="en-US" altLang="zh-CN" dirty="0" smtClean="0"/>
              <a:t>》</a:t>
            </a:r>
            <a:r>
              <a:rPr lang="zh-CN" altLang="en-US" dirty="0" smtClean="0"/>
              <a:t>或法律专门规定的象征国家主权、代表国家尊严的标志物。宪法</a:t>
            </a:r>
            <a:r>
              <a:rPr lang="en-US" altLang="zh-CN" dirty="0" smtClean="0"/>
              <a:t>141</a:t>
            </a:r>
            <a:r>
              <a:rPr lang="zh-CN" altLang="en-US" dirty="0" smtClean="0"/>
              <a:t>条、</a:t>
            </a:r>
            <a:r>
              <a:rPr lang="en-US" altLang="zh-CN" dirty="0" smtClean="0"/>
              <a:t>142</a:t>
            </a:r>
            <a:r>
              <a:rPr lang="zh-CN" altLang="en-US" dirty="0" smtClean="0"/>
              <a:t>条、</a:t>
            </a:r>
            <a:r>
              <a:rPr lang="en-US" altLang="zh-CN" dirty="0" smtClean="0"/>
              <a:t>143</a:t>
            </a:r>
            <a:r>
              <a:rPr lang="zh-CN" altLang="en-US" dirty="0" smtClean="0"/>
              <a:t>条。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体现国家的实质意涵与内在精神，通过特定方式（庆典、仪式等）让国民产生情感共鸣、心灵感应，从而强化国家认同。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GMxYWQ2Mzg3NzAwMzQyOTA3YTIxNmU5NmM2ZTQ2MTA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3055</Words>
  <Application>WPS 演示</Application>
  <PresentationFormat>全屏显示(4:3)</PresentationFormat>
  <Paragraphs>262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0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   国家机构</vt:lpstr>
      <vt:lpstr>一、国家机构的一般原理</vt:lpstr>
      <vt:lpstr>国家性质与国家形式</vt:lpstr>
      <vt:lpstr>PowerPoint 演示文稿</vt:lpstr>
      <vt:lpstr>二、国家性质——国体</vt:lpstr>
      <vt:lpstr>PowerPoint 演示文稿</vt:lpstr>
      <vt:lpstr>PowerPoint 演示文稿</vt:lpstr>
      <vt:lpstr>（二）我国《宪法》“国体”概念解读</vt:lpstr>
      <vt:lpstr>PowerPoint 演示文稿</vt:lpstr>
      <vt:lpstr>PowerPoint 演示文稿</vt:lpstr>
      <vt:lpstr>PowerPoint 演示文稿</vt:lpstr>
      <vt:lpstr>PowerPoint 演示文稿</vt:lpstr>
      <vt:lpstr>二、国家的形式</vt:lpstr>
      <vt:lpstr>现代学说：君主立宪制与共和制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中国的人民代表大会制度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（二）国家结构形式</vt:lpstr>
      <vt:lpstr>PowerPoint 演示文稿</vt:lpstr>
      <vt:lpstr>PowerPoint 演示文稿</vt:lpstr>
      <vt:lpstr>PowerPoint 演示文稿</vt:lpstr>
      <vt:lpstr>PowerPoint 演示文稿</vt:lpstr>
      <vt:lpstr>（三）国家的标志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未列举宪法权利的论证方法</dc:title>
  <dc:creator>junyu912</dc:creator>
  <cp:lastModifiedBy>王彦成</cp:lastModifiedBy>
  <cp:revision>600</cp:revision>
  <dcterms:created xsi:type="dcterms:W3CDTF">2016-03-01T15:40:00Z</dcterms:created>
  <dcterms:modified xsi:type="dcterms:W3CDTF">2025-05-14T09:50:14Z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AC43DF5CA5AD438A832793E235E6F8B7_13</vt:lpwstr>
  </property>
  <property fmtid="{D5CDD505-2E9C-101B-9397-08002B2CF9AE}" pid="3" name="KSOProductBuildVer">
    <vt:lpwstr>2052-12.1.0.18608</vt:lpwstr>
  </property>
</Properties>
</file>